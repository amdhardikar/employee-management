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8" r:id="rId2"/>
    <p:sldId id="259" r:id="rId3"/>
    <p:sldId id="260" r:id="rId4"/>
    <p:sldId id="261" r:id="rId5"/>
    <p:sldId id="262" r:id="rId6"/>
    <p:sldId id="263" r:id="rId7"/>
    <p:sldId id="266" r:id="rId8"/>
    <p:sldId id="264" r:id="rId9"/>
    <p:sldId id="265" r:id="rId10"/>
    <p:sldId id="267" r:id="rId11"/>
    <p:sldId id="268" r:id="rId12"/>
    <p:sldId id="269" r:id="rId13"/>
    <p:sldId id="270" r:id="rId14"/>
    <p:sldId id="271" r:id="rId15"/>
    <p:sldId id="272" r:id="rId16"/>
    <p:sldId id="273" r:id="rId17"/>
    <p:sldId id="274" r:id="rId18"/>
    <p:sldId id="275" r:id="rId19"/>
    <p:sldId id="276"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9965" autoAdjust="0"/>
  </p:normalViewPr>
  <p:slideViewPr>
    <p:cSldViewPr snapToGrid="0">
      <p:cViewPr varScale="1">
        <p:scale>
          <a:sx n="102" d="100"/>
          <a:sy n="102" d="100"/>
        </p:scale>
        <p:origin x="89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956AA9-47DB-4EF8-B7B8-5B0A6F575812}" type="datetimeFigureOut">
              <a:rPr lang="en-IN" smtClean="0"/>
              <a:t>22-07-2026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7E4F37-7821-48E6-91AC-01ECF9D61796}" type="slidenum">
              <a:rPr lang="en-IN" smtClean="0"/>
              <a:t>‹#›</a:t>
            </a:fld>
            <a:endParaRPr lang="en-IN"/>
          </a:p>
        </p:txBody>
      </p:sp>
    </p:spTree>
    <p:extLst>
      <p:ext uri="{BB962C8B-B14F-4D97-AF65-F5344CB8AC3E}">
        <p14:creationId xmlns:p14="http://schemas.microsoft.com/office/powerpoint/2010/main" val="3104212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2: Project Overview</a:t>
            </a:r>
          </a:p>
          <a:p>
            <a:r>
              <a:rPr lang="en-US" b="1" dirty="0"/>
              <a:t>Title</a:t>
            </a:r>
          </a:p>
          <a:p>
            <a:r>
              <a:rPr lang="en-US" b="1" dirty="0"/>
              <a:t>Project Overview</a:t>
            </a:r>
            <a:endParaRPr lang="en-US" dirty="0"/>
          </a:p>
          <a:p>
            <a:r>
              <a:rPr lang="en-US" b="1" dirty="0"/>
              <a:t>Layout</a:t>
            </a:r>
          </a:p>
          <a:p>
            <a:r>
              <a:rPr lang="en-US" dirty="0"/>
              <a:t>Use a 2-column layout.</a:t>
            </a:r>
          </a:p>
          <a:p>
            <a:r>
              <a:rPr lang="en-US" b="1" dirty="0"/>
              <a:t>Left Side: Problem Statement</a:t>
            </a:r>
          </a:p>
          <a:p>
            <a:r>
              <a:rPr lang="en-US" b="1" dirty="0"/>
              <a:t>Challenges</a:t>
            </a:r>
            <a:endParaRPr lang="en-US" dirty="0"/>
          </a:p>
          <a:p>
            <a:r>
              <a:rPr lang="en-US" dirty="0"/>
              <a:t>Managing employee information manually is time-consuming.</a:t>
            </a:r>
          </a:p>
          <a:p>
            <a:r>
              <a:rPr lang="en-US" dirty="0"/>
              <a:t>Difficulty tracking attendance and payroll data.</a:t>
            </a:r>
          </a:p>
          <a:p>
            <a:r>
              <a:rPr lang="en-US" dirty="0"/>
              <a:t>Lack of centralized employee records.</a:t>
            </a:r>
          </a:p>
          <a:p>
            <a:r>
              <a:rPr lang="en-US" dirty="0"/>
              <a:t>Limited visibility into department-wise employee statistics.</a:t>
            </a:r>
          </a:p>
          <a:p>
            <a:r>
              <a:rPr lang="en-US" b="1" dirty="0"/>
              <a:t>Right Side: Solution</a:t>
            </a:r>
          </a:p>
          <a:p>
            <a:r>
              <a:rPr lang="en-US" b="1" dirty="0"/>
              <a:t>Employee Management System (EMS)</a:t>
            </a:r>
            <a:endParaRPr lang="en-US" dirty="0"/>
          </a:p>
          <a:p>
            <a:r>
              <a:rPr lang="en-US" dirty="0"/>
              <a:t>Centralized employee management platform.</a:t>
            </a:r>
          </a:p>
          <a:p>
            <a:r>
              <a:rPr lang="en-US" dirty="0"/>
              <a:t>Department-wise employee tracking.</a:t>
            </a:r>
          </a:p>
          <a:p>
            <a:r>
              <a:rPr lang="en-US" dirty="0"/>
              <a:t>Attendance monitoring and reporting.</a:t>
            </a:r>
          </a:p>
          <a:p>
            <a:r>
              <a:rPr lang="en-US" dirty="0"/>
              <a:t>Payroll management dashboard.</a:t>
            </a:r>
          </a:p>
          <a:p>
            <a:r>
              <a:rPr lang="en-US" dirty="0"/>
              <a:t>Secure access using authentication and protected routes.</a:t>
            </a:r>
          </a:p>
          <a:p>
            <a:br>
              <a:rPr lang="en-US" dirty="0"/>
            </a:br>
            <a:endParaRPr lang="en-US" dirty="0"/>
          </a:p>
          <a:p>
            <a:r>
              <a:rPr lang="en-US" b="1" dirty="0"/>
              <a:t>Bottom Section</a:t>
            </a:r>
          </a:p>
          <a:p>
            <a:r>
              <a:rPr lang="en-US" b="1" dirty="0"/>
              <a:t>Key Modules</a:t>
            </a:r>
            <a:endParaRPr lang="en-US" dirty="0"/>
          </a:p>
          <a:p>
            <a:r>
              <a:rPr lang="en-US" dirty="0" err="1"/>
              <a:t>ModulePurposeDashboardSummary</a:t>
            </a:r>
            <a:r>
              <a:rPr lang="en-US" dirty="0"/>
              <a:t> &amp; </a:t>
            </a:r>
            <a:r>
              <a:rPr lang="en-US" dirty="0" err="1"/>
              <a:t>analyticsEmployeesEmployee</a:t>
            </a:r>
            <a:r>
              <a:rPr lang="en-US" dirty="0"/>
              <a:t> </a:t>
            </a:r>
            <a:r>
              <a:rPr lang="en-US" dirty="0" err="1"/>
              <a:t>managementDepartmentsDepartment</a:t>
            </a:r>
            <a:r>
              <a:rPr lang="en-US" dirty="0"/>
              <a:t> </a:t>
            </a:r>
            <a:r>
              <a:rPr lang="en-US" dirty="0" err="1"/>
              <a:t>managementAttendanceAttendance</a:t>
            </a:r>
            <a:r>
              <a:rPr lang="en-US" dirty="0"/>
              <a:t> </a:t>
            </a:r>
            <a:r>
              <a:rPr lang="en-US" dirty="0" err="1"/>
              <a:t>trackingPayrollPayroll</a:t>
            </a:r>
            <a:r>
              <a:rPr lang="en-US" dirty="0"/>
              <a:t> information</a:t>
            </a:r>
          </a:p>
          <a:p>
            <a:br>
              <a:rPr lang="en-US" dirty="0"/>
            </a:br>
            <a:endParaRPr lang="en-US" dirty="0"/>
          </a:p>
          <a:p>
            <a:r>
              <a:rPr lang="en-US" b="1" dirty="0"/>
              <a:t>Speaker Notes</a:t>
            </a:r>
          </a:p>
          <a:p>
            <a:r>
              <a:rPr lang="en-US" dirty="0"/>
              <a:t>The Employee Management System was developed to provide a centralized platform for managing employee-related information. The application allows users to view employees, departments, attendance records, and payroll details through a responsive and secure interface.</a:t>
            </a:r>
          </a:p>
          <a:p>
            <a:br>
              <a:rPr lang="en-US" dirty="0"/>
            </a:br>
            <a:endParaRPr lang="en-US" dirty="0"/>
          </a:p>
          <a:p>
            <a:r>
              <a:rPr lang="en-US" b="1" dirty="0"/>
              <a:t>Visual Suggestion</a:t>
            </a:r>
          </a:p>
          <a:p>
            <a:r>
              <a:rPr lang="en-US" dirty="0"/>
              <a:t>On the right side add a simple flow diagram:</a:t>
            </a:r>
          </a:p>
          <a:p>
            <a:r>
              <a:rPr lang="en-US" sz="1200" kern="1200" dirty="0">
                <a:solidFill>
                  <a:schemeClr val="tx1"/>
                </a:solidFill>
                <a:latin typeface="+mn-lt"/>
                <a:ea typeface="+mn-ea"/>
                <a:cs typeface="+mn-cs"/>
              </a:rPr>
              <a:t>Login</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Dashboard</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Employees   Departments   Attendance</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Payroll</a:t>
            </a:r>
          </a:p>
          <a:p>
            <a:r>
              <a:rPr lang="en-US" dirty="0"/>
              <a:t>This slide tells reviewers </a:t>
            </a:r>
            <a:r>
              <a:rPr lang="en-US" b="1" dirty="0"/>
              <a:t>what the application does</a:t>
            </a:r>
            <a:r>
              <a:rPr lang="en-US" dirty="0"/>
              <a:t> before discussing technology.</a:t>
            </a:r>
          </a:p>
          <a:p>
            <a:r>
              <a:rPr lang="en-US" dirty="0"/>
              <a:t>Once Slide 2 is ready, we'll create </a:t>
            </a:r>
            <a:r>
              <a:rPr lang="en-US" b="1" dirty="0"/>
              <a:t>Slide 3: Business Requirements &amp; SMART Objective Mapping</a:t>
            </a:r>
            <a:r>
              <a:rPr lang="en-US" dirty="0"/>
              <a:t>, which directly aligns your project work with the SMART objective shown in your screenshot.</a:t>
            </a:r>
          </a:p>
          <a:p>
            <a:endParaRPr lang="en-IN" dirty="0"/>
          </a:p>
        </p:txBody>
      </p:sp>
      <p:sp>
        <p:nvSpPr>
          <p:cNvPr id="4" name="Slide Number Placeholder 3"/>
          <p:cNvSpPr>
            <a:spLocks noGrp="1"/>
          </p:cNvSpPr>
          <p:nvPr>
            <p:ph type="sldNum" sz="quarter" idx="5"/>
          </p:nvPr>
        </p:nvSpPr>
        <p:spPr/>
        <p:txBody>
          <a:bodyPr/>
          <a:lstStyle/>
          <a:p>
            <a:fld id="{F27E4F37-7821-48E6-91AC-01ECF9D61796}" type="slidenum">
              <a:rPr lang="en-IN" smtClean="0"/>
              <a:t>2</a:t>
            </a:fld>
            <a:endParaRPr lang="en-IN"/>
          </a:p>
        </p:txBody>
      </p:sp>
    </p:spTree>
    <p:extLst>
      <p:ext uri="{BB962C8B-B14F-4D97-AF65-F5344CB8AC3E}">
        <p14:creationId xmlns:p14="http://schemas.microsoft.com/office/powerpoint/2010/main" val="482267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3: SMART Objective Achievement</a:t>
            </a:r>
          </a:p>
          <a:p>
            <a:r>
              <a:rPr lang="en-US" b="1" dirty="0"/>
              <a:t>Title</a:t>
            </a:r>
          </a:p>
          <a:p>
            <a:r>
              <a:rPr lang="en-US" b="1" dirty="0"/>
              <a:t>SMART Objective Alignment</a:t>
            </a:r>
            <a:endParaRPr lang="en-US" dirty="0"/>
          </a:p>
          <a:p>
            <a:br>
              <a:rPr lang="en-US" dirty="0"/>
            </a:br>
            <a:endParaRPr lang="en-US" dirty="0"/>
          </a:p>
          <a:p>
            <a:r>
              <a:rPr lang="en-US" b="1" dirty="0"/>
              <a:t>Objective</a:t>
            </a:r>
          </a:p>
          <a:p>
            <a:r>
              <a:rPr lang="en-US" dirty="0"/>
              <a:t>Improve the quality and maintainability of the React application by developing reusable components and following coding standards.</a:t>
            </a:r>
          </a:p>
          <a:p>
            <a:br>
              <a:rPr lang="en-US" dirty="0"/>
            </a:br>
            <a:endParaRPr lang="en-US" dirty="0"/>
          </a:p>
          <a:p>
            <a:r>
              <a:rPr lang="en-US" b="1" dirty="0"/>
              <a:t>What Was Implemented</a:t>
            </a:r>
          </a:p>
          <a:p>
            <a:r>
              <a:rPr lang="en-US" b="1" dirty="0"/>
              <a:t>Reusable Components</a:t>
            </a:r>
          </a:p>
          <a:p>
            <a:r>
              <a:rPr lang="en-US" dirty="0"/>
              <a:t>✅ Developed reusable UI components in </a:t>
            </a:r>
            <a:r>
              <a:rPr lang="en-US" sz="1200" kern="1200" dirty="0">
                <a:solidFill>
                  <a:schemeClr val="tx1"/>
                </a:solidFill>
                <a:latin typeface="+mn-lt"/>
                <a:ea typeface="+mn-ea"/>
                <a:cs typeface="+mn-cs"/>
              </a:rPr>
              <a:t>components/common</a:t>
            </a:r>
            <a:endParaRPr lang="en-US" dirty="0"/>
          </a:p>
          <a:p>
            <a:r>
              <a:rPr lang="en-US" dirty="0" err="1"/>
              <a:t>DataTable</a:t>
            </a:r>
            <a:endParaRPr lang="en-US" dirty="0"/>
          </a:p>
          <a:p>
            <a:r>
              <a:rPr lang="en-US" dirty="0"/>
              <a:t>Header</a:t>
            </a:r>
          </a:p>
          <a:p>
            <a:r>
              <a:rPr lang="en-US" dirty="0"/>
              <a:t>Sidebar</a:t>
            </a:r>
          </a:p>
          <a:p>
            <a:r>
              <a:rPr lang="en-US" dirty="0"/>
              <a:t>Breadcrumb</a:t>
            </a:r>
          </a:p>
          <a:p>
            <a:r>
              <a:rPr lang="en-US" dirty="0"/>
              <a:t>Filters</a:t>
            </a:r>
          </a:p>
          <a:p>
            <a:r>
              <a:rPr lang="en-US" dirty="0" err="1"/>
              <a:t>InfoCard</a:t>
            </a:r>
            <a:endParaRPr lang="en-US" dirty="0"/>
          </a:p>
          <a:p>
            <a:r>
              <a:rPr lang="en-US" dirty="0" err="1"/>
              <a:t>EmptyState</a:t>
            </a:r>
            <a:endParaRPr lang="en-US" dirty="0"/>
          </a:p>
          <a:p>
            <a:r>
              <a:rPr lang="en-US" dirty="0" err="1"/>
              <a:t>PageLoader</a:t>
            </a:r>
            <a:endParaRPr lang="en-US" dirty="0"/>
          </a:p>
          <a:p>
            <a:br>
              <a:rPr lang="en-US" dirty="0"/>
            </a:br>
            <a:endParaRPr lang="en-US" dirty="0"/>
          </a:p>
          <a:p>
            <a:r>
              <a:rPr lang="en-US" b="1" dirty="0"/>
              <a:t>React Best Practices</a:t>
            </a:r>
          </a:p>
          <a:p>
            <a:r>
              <a:rPr lang="en-US" dirty="0"/>
              <a:t>✅ Followed modern React development standards</a:t>
            </a:r>
          </a:p>
          <a:p>
            <a:r>
              <a:rPr lang="en-US" dirty="0"/>
              <a:t>Functional Components</a:t>
            </a:r>
          </a:p>
          <a:p>
            <a:r>
              <a:rPr lang="en-US" dirty="0"/>
              <a:t>React Hooks</a:t>
            </a:r>
          </a:p>
          <a:p>
            <a:r>
              <a:rPr lang="en-US" dirty="0"/>
              <a:t>Custom Hooks</a:t>
            </a:r>
          </a:p>
          <a:p>
            <a:r>
              <a:rPr lang="en-US" dirty="0"/>
              <a:t>Context API</a:t>
            </a:r>
          </a:p>
          <a:p>
            <a:r>
              <a:rPr lang="en-US" dirty="0" err="1"/>
              <a:t>PropTypes</a:t>
            </a:r>
            <a:r>
              <a:rPr lang="en-US" dirty="0"/>
              <a:t> Validation</a:t>
            </a:r>
          </a:p>
          <a:p>
            <a:r>
              <a:rPr lang="en-US" dirty="0"/>
              <a:t>Separation of Concerns</a:t>
            </a:r>
          </a:p>
          <a:p>
            <a:br>
              <a:rPr lang="en-US" dirty="0"/>
            </a:br>
            <a:endParaRPr lang="en-US" dirty="0"/>
          </a:p>
          <a:p>
            <a:r>
              <a:rPr lang="en-US" b="1" dirty="0"/>
              <a:t>Code Quality Improvements</a:t>
            </a:r>
          </a:p>
          <a:p>
            <a:r>
              <a:rPr lang="en-US" dirty="0"/>
              <a:t>✅ Improved maintainability and scalability</a:t>
            </a:r>
          </a:p>
          <a:p>
            <a:r>
              <a:rPr lang="en-US" dirty="0"/>
              <a:t>Feature-based folder structure</a:t>
            </a:r>
          </a:p>
          <a:p>
            <a:r>
              <a:rPr lang="en-US" dirty="0"/>
              <a:t>Utility functions separated into </a:t>
            </a:r>
            <a:r>
              <a:rPr lang="en-US" sz="1200" kern="1200" dirty="0">
                <a:solidFill>
                  <a:schemeClr val="tx1"/>
                </a:solidFill>
                <a:latin typeface="+mn-lt"/>
                <a:ea typeface="+mn-ea"/>
                <a:cs typeface="+mn-cs"/>
              </a:rPr>
              <a:t>/utils</a:t>
            </a:r>
            <a:endParaRPr lang="en-US" dirty="0"/>
          </a:p>
          <a:p>
            <a:r>
              <a:rPr lang="en-US" dirty="0"/>
              <a:t>API layer separated into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api</a:t>
            </a:r>
            <a:endParaRPr lang="en-US" dirty="0"/>
          </a:p>
          <a:p>
            <a:r>
              <a:rPr lang="en-US" dirty="0"/>
              <a:t>Constants centralized</a:t>
            </a:r>
          </a:p>
          <a:p>
            <a:r>
              <a:rPr lang="en-US" dirty="0"/>
              <a:t>Layout components for shared page structure</a:t>
            </a:r>
          </a:p>
          <a:p>
            <a:br>
              <a:rPr lang="en-US" dirty="0"/>
            </a:br>
            <a:endParaRPr lang="en-US" dirty="0"/>
          </a:p>
          <a:p>
            <a:r>
              <a:rPr lang="en-US" b="1" dirty="0" err="1"/>
              <a:t>ESLint</a:t>
            </a:r>
            <a:r>
              <a:rPr lang="en-US" b="1" dirty="0"/>
              <a:t> &amp; Clean Code</a:t>
            </a:r>
          </a:p>
          <a:p>
            <a:r>
              <a:rPr lang="en-US" dirty="0"/>
              <a:t>✅ Reduced code duplication</a:t>
            </a:r>
          </a:p>
          <a:p>
            <a:r>
              <a:rPr lang="en-US" dirty="0"/>
              <a:t>Shared table components</a:t>
            </a:r>
          </a:p>
          <a:p>
            <a:r>
              <a:rPr lang="en-US" dirty="0"/>
              <a:t>Shared card components</a:t>
            </a:r>
          </a:p>
          <a:p>
            <a:r>
              <a:rPr lang="en-US" dirty="0"/>
              <a:t>Shared filtering logic through custom hooks</a:t>
            </a:r>
          </a:p>
          <a:p>
            <a:br>
              <a:rPr lang="en-US" dirty="0"/>
            </a:br>
            <a:endParaRPr lang="en-US" dirty="0"/>
          </a:p>
          <a:p>
            <a:r>
              <a:rPr lang="en-US" b="1" dirty="0"/>
              <a:t>Success Measures Achieved</a:t>
            </a:r>
          </a:p>
          <a:p>
            <a:r>
              <a:rPr lang="en-US" dirty="0" err="1"/>
              <a:t>RequirementStatusProtected</a:t>
            </a:r>
            <a:r>
              <a:rPr lang="en-US" dirty="0"/>
              <a:t> Routing✅ </a:t>
            </a:r>
            <a:r>
              <a:rPr lang="en-US" dirty="0" err="1"/>
              <a:t>CompletedReusable</a:t>
            </a:r>
            <a:r>
              <a:rPr lang="en-US" dirty="0"/>
              <a:t> Components✅ 6+ </a:t>
            </a:r>
            <a:r>
              <a:rPr lang="en-US" dirty="0" err="1"/>
              <a:t>ComponentsAPI</a:t>
            </a:r>
            <a:r>
              <a:rPr lang="en-US" dirty="0"/>
              <a:t> Integration✅ </a:t>
            </a:r>
            <a:r>
              <a:rPr lang="en-US" dirty="0" err="1"/>
              <a:t>CompletedLoading</a:t>
            </a:r>
            <a:r>
              <a:rPr lang="en-US" dirty="0"/>
              <a:t>/Error Handling✅ </a:t>
            </a:r>
            <a:r>
              <a:rPr lang="en-US" dirty="0" err="1"/>
              <a:t>ImplementedCode</a:t>
            </a:r>
            <a:r>
              <a:rPr lang="en-US" dirty="0"/>
              <a:t> Reusability✅ Achieved</a:t>
            </a:r>
          </a:p>
          <a:p>
            <a:br>
              <a:rPr lang="en-US" dirty="0"/>
            </a:br>
            <a:endParaRPr lang="en-US" dirty="0"/>
          </a:p>
          <a:p>
            <a:r>
              <a:rPr lang="en-US" b="1" dirty="0"/>
              <a:t>Visual (Recommended)</a:t>
            </a:r>
          </a:p>
          <a:p>
            <a:r>
              <a:rPr lang="en-US" dirty="0"/>
              <a:t>Create a simple achievement diagram:</a:t>
            </a:r>
          </a:p>
          <a:p>
            <a:r>
              <a:rPr lang="en-US" sz="1200" kern="1200" dirty="0">
                <a:solidFill>
                  <a:schemeClr val="tx1"/>
                </a:solidFill>
                <a:latin typeface="+mn-lt"/>
                <a:ea typeface="+mn-ea"/>
                <a:cs typeface="+mn-cs"/>
              </a:rPr>
              <a:t>SMART Objective</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Reusable Components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Custom Hooks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Protected Routes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Clean Architecture</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Maintainable Application</a:t>
            </a:r>
          </a:p>
          <a:p>
            <a:br>
              <a:rPr lang="en-US" dirty="0"/>
            </a:br>
            <a:endParaRPr lang="en-US" dirty="0"/>
          </a:p>
          <a:p>
            <a:r>
              <a:rPr lang="en-US" b="1" dirty="0"/>
              <a:t>Speaker Notes</a:t>
            </a:r>
          </a:p>
          <a:p>
            <a:r>
              <a:rPr lang="en-US" dirty="0"/>
              <a:t>This project was developed with a strong focus on maintainability and code quality. Reusable components were created to eliminate duplication, custom hooks were used for business logic reuse, and React best practices such as Context API, </a:t>
            </a:r>
            <a:r>
              <a:rPr lang="en-US" dirty="0" err="1"/>
              <a:t>PropTypes</a:t>
            </a:r>
            <a:r>
              <a:rPr lang="en-US" dirty="0"/>
              <a:t>, and protected routing were implemented to ensure scalability and clean architecture.</a:t>
            </a:r>
          </a:p>
          <a:p>
            <a:br>
              <a:rPr lang="en-US" dirty="0"/>
            </a:br>
            <a:endParaRPr lang="en-US" dirty="0"/>
          </a:p>
          <a:p>
            <a:r>
              <a:rPr lang="en-US" b="1" dirty="0"/>
              <a:t>Why this slide matters</a:t>
            </a:r>
          </a:p>
          <a:p>
            <a:r>
              <a:rPr lang="en-US" dirty="0"/>
              <a:t>Reviewers usually ask:</a:t>
            </a:r>
          </a:p>
          <a:p>
            <a:r>
              <a:rPr lang="en-US" b="1" dirty="0"/>
              <a:t>"How does your implementation satisfy the objective?"</a:t>
            </a:r>
            <a:endParaRPr lang="en-US" dirty="0"/>
          </a:p>
          <a:p>
            <a:r>
              <a:rPr lang="en-US" dirty="0"/>
              <a:t>This slide answers that question before they even ask.</a:t>
            </a:r>
          </a:p>
          <a:p>
            <a:br>
              <a:rPr lang="en-US" dirty="0"/>
            </a:br>
            <a:endParaRPr lang="en-US" dirty="0"/>
          </a:p>
          <a:p>
            <a:r>
              <a:rPr lang="en-US" b="1" dirty="0"/>
              <a:t>Next Slide (Slide 4)</a:t>
            </a:r>
          </a:p>
          <a:p>
            <a:r>
              <a:rPr lang="en-US" b="1" dirty="0"/>
              <a:t>Technology Stack &amp; Why Each Technology Was Chosen</a:t>
            </a:r>
            <a:endParaRPr lang="en-US" dirty="0"/>
          </a:p>
          <a:p>
            <a:r>
              <a:rPr lang="en-US" dirty="0"/>
              <a:t>This is where you'll explain:</a:t>
            </a:r>
          </a:p>
          <a:p>
            <a:r>
              <a:rPr lang="en-US" dirty="0"/>
              <a:t>Why Vite instead of CRA</a:t>
            </a:r>
          </a:p>
          <a:p>
            <a:r>
              <a:rPr lang="en-US" dirty="0"/>
              <a:t>Why React Router</a:t>
            </a:r>
          </a:p>
          <a:p>
            <a:r>
              <a:rPr lang="en-US" dirty="0"/>
              <a:t>Why Tailwind CSS</a:t>
            </a:r>
          </a:p>
          <a:p>
            <a:r>
              <a:rPr lang="en-US" dirty="0"/>
              <a:t>Why Context API</a:t>
            </a:r>
          </a:p>
          <a:p>
            <a:r>
              <a:rPr lang="en-US" dirty="0"/>
              <a:t>Why </a:t>
            </a:r>
            <a:r>
              <a:rPr lang="en-US" dirty="0" err="1"/>
              <a:t>PropTypes</a:t>
            </a:r>
            <a:endParaRPr lang="en-US" dirty="0"/>
          </a:p>
          <a:p>
            <a:r>
              <a:rPr lang="en-US" dirty="0"/>
              <a:t>Why Custom Hooks</a:t>
            </a:r>
          </a:p>
          <a:p>
            <a:r>
              <a:rPr lang="en-US" dirty="0"/>
              <a:t>That slide is usually one of the strongest technical discussion points during a walkthrough.</a:t>
            </a:r>
          </a:p>
          <a:p>
            <a:endParaRPr lang="en-IN" dirty="0"/>
          </a:p>
        </p:txBody>
      </p:sp>
      <p:sp>
        <p:nvSpPr>
          <p:cNvPr id="4" name="Slide Number Placeholder 3"/>
          <p:cNvSpPr>
            <a:spLocks noGrp="1"/>
          </p:cNvSpPr>
          <p:nvPr>
            <p:ph type="sldNum" sz="quarter" idx="5"/>
          </p:nvPr>
        </p:nvSpPr>
        <p:spPr/>
        <p:txBody>
          <a:bodyPr/>
          <a:lstStyle/>
          <a:p>
            <a:fld id="{F27E4F37-7821-48E6-91AC-01ECF9D61796}" type="slidenum">
              <a:rPr lang="en-IN" smtClean="0"/>
              <a:t>3</a:t>
            </a:fld>
            <a:endParaRPr lang="en-IN"/>
          </a:p>
        </p:txBody>
      </p:sp>
    </p:spTree>
    <p:extLst>
      <p:ext uri="{BB962C8B-B14F-4D97-AF65-F5344CB8AC3E}">
        <p14:creationId xmlns:p14="http://schemas.microsoft.com/office/powerpoint/2010/main" val="934821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4: Technology Stack</a:t>
            </a:r>
          </a:p>
          <a:p>
            <a:r>
              <a:rPr lang="en-IN" b="1" dirty="0"/>
              <a:t>Title</a:t>
            </a:r>
          </a:p>
          <a:p>
            <a:r>
              <a:rPr lang="en-IN" b="1" dirty="0"/>
              <a:t>Technology Stack &amp; Architecture Choices</a:t>
            </a:r>
            <a:endParaRPr lang="en-IN" dirty="0"/>
          </a:p>
          <a:p>
            <a:br>
              <a:rPr lang="en-IN" dirty="0"/>
            </a:br>
            <a:endParaRPr lang="en-IN" dirty="0"/>
          </a:p>
          <a:p>
            <a:r>
              <a:rPr lang="en-IN" b="1" dirty="0"/>
              <a:t>Frontend Framework</a:t>
            </a:r>
          </a:p>
          <a:p>
            <a:r>
              <a:rPr lang="en-IN" b="1" dirty="0"/>
              <a:t>React</a:t>
            </a:r>
          </a:p>
          <a:p>
            <a:r>
              <a:rPr lang="en-IN" b="1" dirty="0"/>
              <a:t>Why React?</a:t>
            </a:r>
            <a:endParaRPr lang="en-IN" dirty="0"/>
          </a:p>
          <a:p>
            <a:r>
              <a:rPr lang="en-IN" dirty="0"/>
              <a:t>Component-based architecture</a:t>
            </a:r>
          </a:p>
          <a:p>
            <a:r>
              <a:rPr lang="en-IN" dirty="0"/>
              <a:t>Reusable UI development</a:t>
            </a:r>
          </a:p>
          <a:p>
            <a:r>
              <a:rPr lang="en-IN" dirty="0"/>
              <a:t>Efficient rendering with Virtual DOM</a:t>
            </a:r>
          </a:p>
          <a:p>
            <a:r>
              <a:rPr lang="en-IN" dirty="0"/>
              <a:t>Large ecosystem and community support</a:t>
            </a:r>
          </a:p>
          <a:p>
            <a:br>
              <a:rPr lang="en-IN" dirty="0"/>
            </a:br>
            <a:endParaRPr lang="en-IN" dirty="0"/>
          </a:p>
          <a:p>
            <a:r>
              <a:rPr lang="en-IN" b="1" dirty="0"/>
              <a:t>Build Tool</a:t>
            </a:r>
          </a:p>
          <a:p>
            <a:r>
              <a:rPr lang="en-IN" b="1" dirty="0"/>
              <a:t>Vite</a:t>
            </a:r>
          </a:p>
          <a:p>
            <a:r>
              <a:rPr lang="en-IN" b="1" dirty="0"/>
              <a:t>Why Vite?</a:t>
            </a:r>
            <a:endParaRPr lang="en-IN" dirty="0"/>
          </a:p>
          <a:p>
            <a:r>
              <a:rPr lang="en-IN" dirty="0"/>
              <a:t>Faster startup time</a:t>
            </a:r>
          </a:p>
          <a:p>
            <a:r>
              <a:rPr lang="en-IN" dirty="0"/>
              <a:t>Instant Hot Module Replacement (HMR)</a:t>
            </a:r>
          </a:p>
          <a:p>
            <a:r>
              <a:rPr lang="en-IN" dirty="0"/>
              <a:t>Optimized production builds</a:t>
            </a:r>
          </a:p>
          <a:p>
            <a:r>
              <a:rPr lang="en-IN" dirty="0"/>
              <a:t>Better developer experience than Create React App</a:t>
            </a:r>
          </a:p>
          <a:p>
            <a:br>
              <a:rPr lang="en-IN" dirty="0"/>
            </a:br>
            <a:endParaRPr lang="en-IN" dirty="0"/>
          </a:p>
          <a:p>
            <a:r>
              <a:rPr lang="en-IN" b="1" dirty="0"/>
              <a:t>Styling</a:t>
            </a:r>
          </a:p>
          <a:p>
            <a:r>
              <a:rPr lang="en-IN" b="1" dirty="0"/>
              <a:t>Tailwind CSS</a:t>
            </a:r>
          </a:p>
          <a:p>
            <a:r>
              <a:rPr lang="en-IN" b="1" dirty="0"/>
              <a:t>Why Tailwind CSS?</a:t>
            </a:r>
            <a:endParaRPr lang="en-IN" dirty="0"/>
          </a:p>
          <a:p>
            <a:r>
              <a:rPr lang="en-IN" dirty="0"/>
              <a:t>Utility-first CSS framework</a:t>
            </a:r>
          </a:p>
          <a:p>
            <a:r>
              <a:rPr lang="en-IN" dirty="0"/>
              <a:t>Rapid UI development</a:t>
            </a:r>
          </a:p>
          <a:p>
            <a:r>
              <a:rPr lang="en-IN" dirty="0"/>
              <a:t>Consistent design system</a:t>
            </a:r>
          </a:p>
          <a:p>
            <a:r>
              <a:rPr lang="en-IN" dirty="0"/>
              <a:t>Reduced custom CSS maintenance</a:t>
            </a:r>
          </a:p>
          <a:p>
            <a:br>
              <a:rPr lang="en-IN" dirty="0"/>
            </a:br>
            <a:endParaRPr lang="en-IN" dirty="0"/>
          </a:p>
          <a:p>
            <a:r>
              <a:rPr lang="en-IN" b="1" dirty="0"/>
              <a:t>Routing</a:t>
            </a:r>
          </a:p>
          <a:p>
            <a:r>
              <a:rPr lang="en-IN" b="1" dirty="0"/>
              <a:t>React Router</a:t>
            </a:r>
          </a:p>
          <a:p>
            <a:r>
              <a:rPr lang="en-IN" b="1" dirty="0"/>
              <a:t>Purpose</a:t>
            </a:r>
            <a:endParaRPr lang="en-IN" dirty="0"/>
          </a:p>
          <a:p>
            <a:r>
              <a:rPr lang="en-IN" dirty="0"/>
              <a:t>Client-side navigation</a:t>
            </a:r>
          </a:p>
          <a:p>
            <a:r>
              <a:rPr lang="en-IN" dirty="0"/>
              <a:t>Route management</a:t>
            </a:r>
          </a:p>
          <a:p>
            <a:r>
              <a:rPr lang="en-IN" dirty="0"/>
              <a:t>Nested routes</a:t>
            </a:r>
          </a:p>
          <a:p>
            <a:r>
              <a:rPr lang="en-IN" dirty="0"/>
              <a:t>Protected routes implementation</a:t>
            </a:r>
          </a:p>
          <a:p>
            <a:br>
              <a:rPr lang="en-IN" dirty="0"/>
            </a:br>
            <a:endParaRPr lang="en-IN" dirty="0"/>
          </a:p>
          <a:p>
            <a:r>
              <a:rPr lang="en-IN" b="1" dirty="0"/>
              <a:t>State Management</a:t>
            </a:r>
          </a:p>
          <a:p>
            <a:r>
              <a:rPr lang="en-IN" b="1" dirty="0"/>
              <a:t>Context API</a:t>
            </a:r>
          </a:p>
          <a:p>
            <a:r>
              <a:rPr lang="en-IN" b="1" dirty="0"/>
              <a:t>Purpose</a:t>
            </a:r>
            <a:endParaRPr lang="en-IN" dirty="0"/>
          </a:p>
          <a:p>
            <a:r>
              <a:rPr lang="en-IN" dirty="0"/>
              <a:t>Authentication management</a:t>
            </a:r>
          </a:p>
          <a:p>
            <a:r>
              <a:rPr lang="en-IN" dirty="0"/>
              <a:t>Global state sharing</a:t>
            </a:r>
          </a:p>
          <a:p>
            <a:r>
              <a:rPr lang="en-IN" dirty="0"/>
              <a:t>Avoid prop drilling</a:t>
            </a:r>
          </a:p>
          <a:p>
            <a:r>
              <a:rPr lang="en-IN" dirty="0"/>
              <a:t>Lightweight alternative to Redux for this project</a:t>
            </a:r>
          </a:p>
          <a:p>
            <a:br>
              <a:rPr lang="en-IN" dirty="0"/>
            </a:br>
            <a:endParaRPr lang="en-IN" dirty="0"/>
          </a:p>
          <a:p>
            <a:r>
              <a:rPr lang="en-IN" b="1" dirty="0"/>
              <a:t>Type Validation</a:t>
            </a:r>
          </a:p>
          <a:p>
            <a:r>
              <a:rPr lang="en-IN" b="1" dirty="0" err="1"/>
              <a:t>PropTypes</a:t>
            </a:r>
            <a:endParaRPr lang="en-IN" b="1" dirty="0"/>
          </a:p>
          <a:p>
            <a:r>
              <a:rPr lang="en-IN" b="1" dirty="0"/>
              <a:t>Purpose</a:t>
            </a:r>
            <a:endParaRPr lang="en-IN" dirty="0"/>
          </a:p>
          <a:p>
            <a:r>
              <a:rPr lang="en-IN" dirty="0"/>
              <a:t>Runtime prop validation</a:t>
            </a:r>
          </a:p>
          <a:p>
            <a:r>
              <a:rPr lang="en-IN" dirty="0"/>
              <a:t>Better component reliability</a:t>
            </a:r>
          </a:p>
          <a:p>
            <a:r>
              <a:rPr lang="en-IN" dirty="0"/>
              <a:t>Easier debugging</a:t>
            </a:r>
          </a:p>
          <a:p>
            <a:r>
              <a:rPr lang="en-IN" dirty="0"/>
              <a:t>Improved maintainability</a:t>
            </a:r>
          </a:p>
          <a:p>
            <a:br>
              <a:rPr lang="en-IN" dirty="0"/>
            </a:br>
            <a:endParaRPr lang="en-IN" dirty="0"/>
          </a:p>
          <a:p>
            <a:r>
              <a:rPr lang="en-IN" b="1" dirty="0"/>
              <a:t>Custom Hooks</a:t>
            </a:r>
          </a:p>
          <a:p>
            <a:r>
              <a:rPr lang="en-IN" b="1" dirty="0"/>
              <a:t>Why Custom Hooks?</a:t>
            </a:r>
          </a:p>
          <a:p>
            <a:r>
              <a:rPr lang="en-IN" dirty="0"/>
              <a:t>Used to:</a:t>
            </a:r>
          </a:p>
          <a:p>
            <a:r>
              <a:rPr lang="en-IN" dirty="0"/>
              <a:t>Reuse business logic</a:t>
            </a:r>
          </a:p>
          <a:p>
            <a:r>
              <a:rPr lang="en-IN" dirty="0"/>
              <a:t>Keep components clean</a:t>
            </a:r>
          </a:p>
          <a:p>
            <a:r>
              <a:rPr lang="en-IN" dirty="0"/>
              <a:t>Separate UI from logic</a:t>
            </a:r>
          </a:p>
          <a:p>
            <a:r>
              <a:rPr lang="en-IN" dirty="0"/>
              <a:t>Examples from project:</a:t>
            </a:r>
          </a:p>
          <a:p>
            <a:r>
              <a:rPr lang="en-IN" sz="1200" kern="1200" dirty="0" err="1">
                <a:solidFill>
                  <a:schemeClr val="tx1"/>
                </a:solidFill>
                <a:latin typeface="+mn-lt"/>
                <a:ea typeface="+mn-ea"/>
                <a:cs typeface="+mn-cs"/>
              </a:rPr>
              <a:t>useDashboardSummary</a:t>
            </a:r>
            <a:r>
              <a:rPr lang="en-IN" sz="1200" kern="1200" dirty="0">
                <a:solidFill>
                  <a:schemeClr val="tx1"/>
                </a:solidFill>
                <a:latin typeface="+mn-lt"/>
                <a:ea typeface="+mn-ea"/>
                <a:cs typeface="+mn-cs"/>
              </a:rPr>
              <a:t>()</a:t>
            </a:r>
          </a:p>
          <a:p>
            <a:r>
              <a:rPr lang="en-IN" sz="1200" kern="1200" dirty="0" err="1">
                <a:solidFill>
                  <a:schemeClr val="tx1"/>
                </a:solidFill>
                <a:latin typeface="+mn-lt"/>
                <a:ea typeface="+mn-ea"/>
                <a:cs typeface="+mn-cs"/>
              </a:rPr>
              <a:t>useEmployeeFilters</a:t>
            </a:r>
            <a:r>
              <a:rPr lang="en-IN" sz="1200" kern="1200" dirty="0">
                <a:solidFill>
                  <a:schemeClr val="tx1"/>
                </a:solidFill>
                <a:latin typeface="+mn-lt"/>
                <a:ea typeface="+mn-ea"/>
                <a:cs typeface="+mn-cs"/>
              </a:rPr>
              <a:t>()</a:t>
            </a:r>
          </a:p>
          <a:p>
            <a:r>
              <a:rPr lang="en-IN" sz="1200" kern="1200" dirty="0" err="1">
                <a:solidFill>
                  <a:schemeClr val="tx1"/>
                </a:solidFill>
                <a:latin typeface="+mn-lt"/>
                <a:ea typeface="+mn-ea"/>
                <a:cs typeface="+mn-cs"/>
              </a:rPr>
              <a:t>useAttendanceFilter</a:t>
            </a:r>
            <a:r>
              <a:rPr lang="en-IN" sz="1200" kern="1200" dirty="0">
                <a:solidFill>
                  <a:schemeClr val="tx1"/>
                </a:solidFill>
                <a:latin typeface="+mn-lt"/>
                <a:ea typeface="+mn-ea"/>
                <a:cs typeface="+mn-cs"/>
              </a:rPr>
              <a:t>()</a:t>
            </a:r>
          </a:p>
          <a:p>
            <a:r>
              <a:rPr lang="en-IN" sz="1200" kern="1200" dirty="0" err="1">
                <a:solidFill>
                  <a:schemeClr val="tx1"/>
                </a:solidFill>
                <a:latin typeface="+mn-lt"/>
                <a:ea typeface="+mn-ea"/>
                <a:cs typeface="+mn-cs"/>
              </a:rPr>
              <a:t>useDepartmentSummary</a:t>
            </a:r>
            <a:r>
              <a:rPr lang="en-IN" sz="1200" kern="1200" dirty="0">
                <a:solidFill>
                  <a:schemeClr val="tx1"/>
                </a:solidFill>
                <a:latin typeface="+mn-lt"/>
                <a:ea typeface="+mn-ea"/>
                <a:cs typeface="+mn-cs"/>
              </a:rPr>
              <a:t>()</a:t>
            </a:r>
          </a:p>
          <a:p>
            <a:r>
              <a:rPr lang="en-IN" sz="1200" kern="1200" dirty="0" err="1">
                <a:solidFill>
                  <a:schemeClr val="tx1"/>
                </a:solidFill>
                <a:latin typeface="+mn-lt"/>
                <a:ea typeface="+mn-ea"/>
                <a:cs typeface="+mn-cs"/>
              </a:rPr>
              <a:t>usePayRollFilters</a:t>
            </a:r>
            <a:r>
              <a:rPr lang="en-IN" sz="1200" kern="1200" dirty="0">
                <a:solidFill>
                  <a:schemeClr val="tx1"/>
                </a:solidFill>
                <a:latin typeface="+mn-lt"/>
                <a:ea typeface="+mn-ea"/>
                <a:cs typeface="+mn-cs"/>
              </a:rPr>
              <a:t>()</a:t>
            </a:r>
          </a:p>
          <a:p>
            <a:br>
              <a:rPr lang="en-IN" dirty="0"/>
            </a:br>
            <a:endParaRPr lang="en-IN" dirty="0"/>
          </a:p>
          <a:p>
            <a:r>
              <a:rPr lang="en-IN" b="1" dirty="0"/>
              <a:t>Suggested Visual Layout</a:t>
            </a:r>
          </a:p>
          <a:p>
            <a:r>
              <a:rPr lang="en-IN" dirty="0"/>
              <a:t>Create a stack diagram:</a:t>
            </a:r>
          </a:p>
          <a:p>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React + Vite        │</a:t>
            </a:r>
          </a:p>
          <a:p>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React Router        │</a:t>
            </a:r>
          </a:p>
          <a:p>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Context API         │</a:t>
            </a:r>
          </a:p>
          <a:p>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Custom Hooks        │</a:t>
            </a:r>
          </a:p>
          <a:p>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Tailwind CSS        │</a:t>
            </a:r>
          </a:p>
          <a:p>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APIs Layer        │</a:t>
            </a:r>
          </a:p>
          <a:p>
            <a:r>
              <a:rPr lang="en-IN" sz="1200" kern="1200" dirty="0">
                <a:solidFill>
                  <a:schemeClr val="tx1"/>
                </a:solidFill>
                <a:latin typeface="+mn-lt"/>
                <a:ea typeface="+mn-ea"/>
                <a:cs typeface="+mn-cs"/>
              </a:rPr>
              <a:t>└──────────────────────────┘</a:t>
            </a:r>
          </a:p>
          <a:p>
            <a:br>
              <a:rPr lang="en-IN" dirty="0"/>
            </a:br>
            <a:endParaRPr lang="en-IN" dirty="0"/>
          </a:p>
          <a:p>
            <a:r>
              <a:rPr lang="en-IN" b="1" dirty="0"/>
              <a:t>Speaker Notes</a:t>
            </a:r>
          </a:p>
          <a:p>
            <a:r>
              <a:rPr lang="en-IN" dirty="0"/>
              <a:t>The application is built using a modern React stack. Vite provides fast development and optimized builds, React Router manages navigation, Context API handles authentication state, Tailwind CSS enables rapid styling, and custom hooks improve code reuse and maintainability.</a:t>
            </a:r>
          </a:p>
          <a:p>
            <a:br>
              <a:rPr lang="en-IN" dirty="0"/>
            </a:br>
            <a:endParaRPr lang="en-IN" dirty="0"/>
          </a:p>
          <a:p>
            <a:r>
              <a:rPr lang="en-IN" b="1" dirty="0"/>
              <a:t>Slide 5 (Very Important)</a:t>
            </a:r>
          </a:p>
          <a:p>
            <a:r>
              <a:rPr lang="en-IN" b="1" dirty="0"/>
              <a:t>Application Architecture</a:t>
            </a:r>
            <a:endParaRPr lang="en-IN" dirty="0"/>
          </a:p>
          <a:p>
            <a:r>
              <a:rPr lang="en-IN" dirty="0"/>
              <a:t>This is where we'll use your actual folder structure and show reviewers that the project follows a clean, scalable architecture. Since you already shared the complete project structure, Slide 5 can be tailored specifically to your project rather than being generic.</a:t>
            </a:r>
          </a:p>
          <a:p>
            <a:endParaRPr lang="en-IN" dirty="0"/>
          </a:p>
        </p:txBody>
      </p:sp>
      <p:sp>
        <p:nvSpPr>
          <p:cNvPr id="4" name="Slide Number Placeholder 3"/>
          <p:cNvSpPr>
            <a:spLocks noGrp="1"/>
          </p:cNvSpPr>
          <p:nvPr>
            <p:ph type="sldNum" sz="quarter" idx="5"/>
          </p:nvPr>
        </p:nvSpPr>
        <p:spPr/>
        <p:txBody>
          <a:bodyPr/>
          <a:lstStyle/>
          <a:p>
            <a:fld id="{F27E4F37-7821-48E6-91AC-01ECF9D61796}" type="slidenum">
              <a:rPr lang="en-IN" smtClean="0"/>
              <a:t>4</a:t>
            </a:fld>
            <a:endParaRPr lang="en-IN"/>
          </a:p>
        </p:txBody>
      </p:sp>
    </p:spTree>
    <p:extLst>
      <p:ext uri="{BB962C8B-B14F-4D97-AF65-F5344CB8AC3E}">
        <p14:creationId xmlns:p14="http://schemas.microsoft.com/office/powerpoint/2010/main" val="3218584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5: Application Architecture</a:t>
            </a:r>
          </a:p>
          <a:p>
            <a:r>
              <a:rPr lang="en-IN" b="1" dirty="0"/>
              <a:t>Title</a:t>
            </a:r>
          </a:p>
          <a:p>
            <a:r>
              <a:rPr lang="en-IN" b="1" dirty="0"/>
              <a:t>Project Architecture &amp; Folder Structure</a:t>
            </a:r>
            <a:endParaRPr lang="en-IN" dirty="0"/>
          </a:p>
          <a:p>
            <a:br>
              <a:rPr lang="en-IN" dirty="0"/>
            </a:br>
            <a:endParaRPr lang="en-IN" dirty="0"/>
          </a:p>
          <a:p>
            <a:r>
              <a:rPr lang="en-IN" b="1" dirty="0"/>
              <a:t>Architecture Overview</a:t>
            </a:r>
          </a:p>
          <a:p>
            <a:r>
              <a:rPr lang="en-IN" dirty="0"/>
              <a:t>The application follows a </a:t>
            </a:r>
            <a:r>
              <a:rPr lang="en-IN" b="1" dirty="0"/>
              <a:t>modular and scalable architecture</a:t>
            </a:r>
            <a:r>
              <a:rPr lang="en-IN" dirty="0"/>
              <a:t>, where responsibilities are separated into dedicated layers.</a:t>
            </a:r>
          </a:p>
          <a:p>
            <a:r>
              <a:rPr lang="en-IN" b="1" dirty="0"/>
              <a:t>Architecture Flow</a:t>
            </a:r>
          </a:p>
          <a:p>
            <a:r>
              <a:rPr lang="en-IN" sz="1200" kern="1200" dirty="0">
                <a:solidFill>
                  <a:schemeClr val="tx1"/>
                </a:solidFill>
                <a:latin typeface="+mn-lt"/>
                <a:ea typeface="+mn-ea"/>
                <a:cs typeface="+mn-cs"/>
              </a:rPr>
              <a:t>User Interface (Pages)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Reusable Components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Custom Hooks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API Layer</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Data Source</a:t>
            </a:r>
          </a:p>
          <a:p>
            <a:br>
              <a:rPr lang="en-IN" dirty="0"/>
            </a:br>
            <a:endParaRPr lang="en-IN" dirty="0"/>
          </a:p>
          <a:p>
            <a:r>
              <a:rPr lang="en-IN" b="1" dirty="0"/>
              <a:t>Project Structure</a:t>
            </a:r>
          </a:p>
          <a:p>
            <a:r>
              <a:rPr lang="en-IN" dirty="0"/>
              <a:t>Use a simplified version of your actual folder structure:</a:t>
            </a:r>
          </a:p>
          <a:p>
            <a:r>
              <a:rPr lang="en-IN" sz="1200" kern="1200" dirty="0" err="1">
                <a:solidFill>
                  <a:schemeClr val="tx1"/>
                </a:solidFill>
                <a:latin typeface="+mn-lt"/>
                <a:ea typeface="+mn-ea"/>
                <a:cs typeface="+mn-cs"/>
              </a:rPr>
              <a:t>src</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pages</a:t>
            </a:r>
          </a:p>
          <a:p>
            <a:r>
              <a:rPr lang="en-IN" sz="1200" kern="1200" dirty="0">
                <a:solidFill>
                  <a:schemeClr val="tx1"/>
                </a:solidFill>
                <a:latin typeface="+mn-lt"/>
                <a:ea typeface="+mn-ea"/>
                <a:cs typeface="+mn-cs"/>
              </a:rPr>
              <a:t>├── components</a:t>
            </a:r>
          </a:p>
          <a:p>
            <a:r>
              <a:rPr lang="en-IN" sz="1200" kern="1200" dirty="0">
                <a:solidFill>
                  <a:schemeClr val="tx1"/>
                </a:solidFill>
                <a:latin typeface="+mn-lt"/>
                <a:ea typeface="+mn-ea"/>
                <a:cs typeface="+mn-cs"/>
              </a:rPr>
              <a:t>│   └── common</a:t>
            </a:r>
          </a:p>
          <a:p>
            <a:r>
              <a:rPr lang="en-IN" sz="1200" kern="1200" dirty="0">
                <a:solidFill>
                  <a:schemeClr val="tx1"/>
                </a:solidFill>
                <a:latin typeface="+mn-lt"/>
                <a:ea typeface="+mn-ea"/>
                <a:cs typeface="+mn-cs"/>
              </a:rPr>
              <a:t>├── hooks</a:t>
            </a: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api</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context</a:t>
            </a:r>
          </a:p>
          <a:p>
            <a:r>
              <a:rPr lang="en-IN" sz="1200" kern="1200" dirty="0">
                <a:solidFill>
                  <a:schemeClr val="tx1"/>
                </a:solidFill>
                <a:latin typeface="+mn-lt"/>
                <a:ea typeface="+mn-ea"/>
                <a:cs typeface="+mn-cs"/>
              </a:rPr>
              <a:t>├── layout</a:t>
            </a:r>
          </a:p>
          <a:p>
            <a:r>
              <a:rPr lang="en-IN" sz="1200" kern="1200" dirty="0">
                <a:solidFill>
                  <a:schemeClr val="tx1"/>
                </a:solidFill>
                <a:latin typeface="+mn-lt"/>
                <a:ea typeface="+mn-ea"/>
                <a:cs typeface="+mn-cs"/>
              </a:rPr>
              <a:t>├── utils</a:t>
            </a:r>
          </a:p>
          <a:p>
            <a:r>
              <a:rPr lang="en-IN" sz="1200" kern="1200" dirty="0">
                <a:solidFill>
                  <a:schemeClr val="tx1"/>
                </a:solidFill>
                <a:latin typeface="+mn-lt"/>
                <a:ea typeface="+mn-ea"/>
                <a:cs typeface="+mn-cs"/>
              </a:rPr>
              <a:t>├── constants</a:t>
            </a:r>
          </a:p>
          <a:p>
            <a:r>
              <a:rPr lang="en-IN" sz="1200" kern="1200" dirty="0">
                <a:solidFill>
                  <a:schemeClr val="tx1"/>
                </a:solidFill>
                <a:latin typeface="+mn-lt"/>
                <a:ea typeface="+mn-ea"/>
                <a:cs typeface="+mn-cs"/>
              </a:rPr>
              <a:t>├── assets</a:t>
            </a:r>
          </a:p>
          <a:p>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router.js</a:t>
            </a: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App.jsx</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main.jsx</a:t>
            </a:r>
            <a:endParaRPr lang="en-IN" sz="1200" kern="1200" dirty="0">
              <a:solidFill>
                <a:schemeClr val="tx1"/>
              </a:solidFill>
              <a:latin typeface="+mn-lt"/>
              <a:ea typeface="+mn-ea"/>
              <a:cs typeface="+mn-cs"/>
            </a:endParaRPr>
          </a:p>
          <a:p>
            <a:br>
              <a:rPr lang="en-IN" dirty="0"/>
            </a:br>
            <a:endParaRPr lang="en-IN" dirty="0"/>
          </a:p>
          <a:p>
            <a:r>
              <a:rPr lang="en-IN" b="1" dirty="0"/>
              <a:t>Folder Responsibilities</a:t>
            </a:r>
          </a:p>
          <a:p>
            <a:r>
              <a:rPr lang="en-IN" dirty="0" err="1"/>
              <a:t>FolderResponsibilitypagesApplication</a:t>
            </a:r>
            <a:r>
              <a:rPr lang="en-IN" dirty="0"/>
              <a:t> </a:t>
            </a:r>
            <a:r>
              <a:rPr lang="en-IN" dirty="0" err="1"/>
              <a:t>screenscomponentsReusable</a:t>
            </a:r>
            <a:r>
              <a:rPr lang="en-IN" dirty="0"/>
              <a:t> UI </a:t>
            </a:r>
            <a:r>
              <a:rPr lang="en-IN" dirty="0" err="1"/>
              <a:t>componentscommonShared</a:t>
            </a:r>
            <a:r>
              <a:rPr lang="en-IN" dirty="0"/>
              <a:t> generic </a:t>
            </a:r>
            <a:r>
              <a:rPr lang="en-IN" dirty="0" err="1"/>
              <a:t>componentshooksReusable</a:t>
            </a:r>
            <a:r>
              <a:rPr lang="en-IN" dirty="0"/>
              <a:t> business </a:t>
            </a:r>
            <a:r>
              <a:rPr lang="en-IN" dirty="0" err="1"/>
              <a:t>logicapiAPI</a:t>
            </a:r>
            <a:r>
              <a:rPr lang="en-IN" dirty="0"/>
              <a:t> communication </a:t>
            </a:r>
            <a:r>
              <a:rPr lang="en-IN" dirty="0" err="1"/>
              <a:t>layercontextGlobal</a:t>
            </a:r>
            <a:r>
              <a:rPr lang="en-IN" dirty="0"/>
              <a:t> authentication </a:t>
            </a:r>
            <a:r>
              <a:rPr lang="en-IN" dirty="0" err="1"/>
              <a:t>statelayoutShared</a:t>
            </a:r>
            <a:r>
              <a:rPr lang="en-IN" dirty="0"/>
              <a:t> page </a:t>
            </a:r>
            <a:r>
              <a:rPr lang="en-IN" dirty="0" err="1"/>
              <a:t>layoutsutilsData</a:t>
            </a:r>
            <a:r>
              <a:rPr lang="en-IN" dirty="0"/>
              <a:t> transformation </a:t>
            </a:r>
            <a:r>
              <a:rPr lang="en-IN" dirty="0" err="1"/>
              <a:t>logicconstantsApplication</a:t>
            </a:r>
            <a:r>
              <a:rPr lang="en-IN" dirty="0"/>
              <a:t> constants</a:t>
            </a:r>
          </a:p>
          <a:p>
            <a:br>
              <a:rPr lang="en-IN" dirty="0"/>
            </a:br>
            <a:endParaRPr lang="en-IN" dirty="0"/>
          </a:p>
          <a:p>
            <a:r>
              <a:rPr lang="en-IN" b="1" dirty="0"/>
              <a:t>Example Flow</a:t>
            </a:r>
          </a:p>
          <a:p>
            <a:r>
              <a:rPr lang="en-IN" dirty="0"/>
              <a:t>Show one real example from your project:</a:t>
            </a:r>
          </a:p>
          <a:p>
            <a:r>
              <a:rPr lang="en-IN" sz="1200" kern="1200" dirty="0">
                <a:solidFill>
                  <a:schemeClr val="tx1"/>
                </a:solidFill>
                <a:latin typeface="+mn-lt"/>
                <a:ea typeface="+mn-ea"/>
                <a:cs typeface="+mn-cs"/>
              </a:rPr>
              <a:t>Employees Page</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EmployeeTable</a:t>
            </a:r>
            <a:r>
              <a:rPr lang="en-IN" sz="1200" kern="1200" dirty="0">
                <a:solidFill>
                  <a:schemeClr val="tx1"/>
                </a:solidFill>
                <a:latin typeface="+mn-lt"/>
                <a:ea typeface="+mn-ea"/>
                <a:cs typeface="+mn-cs"/>
              </a:rPr>
              <a:t> Component</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useEmployeeFilters</a:t>
            </a:r>
            <a:r>
              <a:rPr lang="en-IN" sz="1200" kern="1200" dirty="0">
                <a:solidFill>
                  <a:schemeClr val="tx1"/>
                </a:solidFill>
                <a:latin typeface="+mn-lt"/>
                <a:ea typeface="+mn-ea"/>
                <a:cs typeface="+mn-cs"/>
              </a:rPr>
              <a:t> Hook</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employeeApi.js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API Response</a:t>
            </a:r>
          </a:p>
          <a:p>
            <a:r>
              <a:rPr lang="en-IN" dirty="0"/>
              <a:t>This demonstrates separation of concerns.</a:t>
            </a:r>
          </a:p>
          <a:p>
            <a:br>
              <a:rPr lang="en-IN" dirty="0"/>
            </a:br>
            <a:endParaRPr lang="en-IN" dirty="0"/>
          </a:p>
          <a:p>
            <a:r>
              <a:rPr lang="en-IN" b="1" dirty="0"/>
              <a:t>Key Design Principles Followed</a:t>
            </a:r>
          </a:p>
          <a:p>
            <a:r>
              <a:rPr lang="en-IN" b="1" dirty="0"/>
              <a:t>Separation of Concerns</a:t>
            </a:r>
          </a:p>
          <a:p>
            <a:r>
              <a:rPr lang="en-IN" dirty="0"/>
              <a:t>UI in Components</a:t>
            </a:r>
          </a:p>
          <a:p>
            <a:r>
              <a:rPr lang="en-IN" dirty="0"/>
              <a:t>Business Logic in Hooks</a:t>
            </a:r>
          </a:p>
          <a:p>
            <a:r>
              <a:rPr lang="en-IN" dirty="0"/>
              <a:t>Data Access in API Layer</a:t>
            </a:r>
          </a:p>
          <a:p>
            <a:r>
              <a:rPr lang="en-IN" b="1" dirty="0"/>
              <a:t>Reusability</a:t>
            </a:r>
          </a:p>
          <a:p>
            <a:r>
              <a:rPr lang="en-IN" dirty="0"/>
              <a:t>Shared tables</a:t>
            </a:r>
          </a:p>
          <a:p>
            <a:r>
              <a:rPr lang="en-IN" dirty="0"/>
              <a:t>Shared cards</a:t>
            </a:r>
          </a:p>
          <a:p>
            <a:r>
              <a:rPr lang="en-IN" dirty="0"/>
              <a:t>Shared layouts</a:t>
            </a:r>
          </a:p>
          <a:p>
            <a:r>
              <a:rPr lang="en-IN" b="1" dirty="0"/>
              <a:t>Scalability</a:t>
            </a:r>
          </a:p>
          <a:p>
            <a:r>
              <a:rPr lang="en-IN" dirty="0"/>
              <a:t>Easy to add new modules</a:t>
            </a:r>
          </a:p>
          <a:p>
            <a:r>
              <a:rPr lang="en-IN" dirty="0"/>
              <a:t>Minimal impact on existing code</a:t>
            </a:r>
          </a:p>
          <a:p>
            <a:br>
              <a:rPr lang="en-IN" dirty="0"/>
            </a:br>
            <a:endParaRPr lang="en-IN" dirty="0"/>
          </a:p>
          <a:p>
            <a:r>
              <a:rPr lang="en-IN" b="1" dirty="0"/>
              <a:t>Speaker Notes</a:t>
            </a:r>
          </a:p>
          <a:p>
            <a:r>
              <a:rPr lang="en-IN" dirty="0"/>
              <a:t>The application is organized using a layered architecture. Pages focus on user interactions, components handle UI rendering, hooks contain reusable business logic, APIs manage data access, and utility files handle transformations. This structure improves maintainability and supports future scalability.</a:t>
            </a:r>
          </a:p>
          <a:p>
            <a:br>
              <a:rPr lang="en-IN" dirty="0"/>
            </a:br>
            <a:endParaRPr lang="en-IN" dirty="0"/>
          </a:p>
          <a:p>
            <a:r>
              <a:rPr lang="en-IN" b="1" dirty="0"/>
              <a:t>Visual Tip</a:t>
            </a:r>
          </a:p>
          <a:p>
            <a:r>
              <a:rPr lang="en-IN" dirty="0"/>
              <a:t>Instead of showing the entire folder tree, use </a:t>
            </a:r>
            <a:r>
              <a:rPr lang="en-IN" dirty="0" err="1"/>
              <a:t>colored</a:t>
            </a:r>
            <a:r>
              <a:rPr lang="en-IN" dirty="0"/>
              <a:t> boxes:</a:t>
            </a:r>
          </a:p>
          <a:p>
            <a:r>
              <a:rPr lang="en-IN" sz="1200" kern="1200" dirty="0">
                <a:solidFill>
                  <a:schemeClr val="tx1"/>
                </a:solidFill>
                <a:latin typeface="+mn-lt"/>
                <a:ea typeface="+mn-ea"/>
                <a:cs typeface="+mn-cs"/>
              </a:rPr>
              <a:t>Pages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Components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Hooks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API Layer</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Data</a:t>
            </a:r>
          </a:p>
          <a:p>
            <a:r>
              <a:rPr lang="en-IN" dirty="0"/>
              <a:t>It looks much cleaner in PowerPoint than a huge folder structure.</a:t>
            </a:r>
          </a:p>
          <a:p>
            <a:br>
              <a:rPr lang="en-IN" dirty="0"/>
            </a:br>
            <a:endParaRPr lang="en-IN" dirty="0"/>
          </a:p>
          <a:p>
            <a:r>
              <a:rPr lang="en-IN" b="1" dirty="0"/>
              <a:t>Slide 6 (One of the strongest slides)</a:t>
            </a:r>
          </a:p>
          <a:p>
            <a:r>
              <a:rPr lang="en-IN" b="1" dirty="0"/>
              <a:t>Routing &amp; Navigation Architecture</a:t>
            </a:r>
            <a:endParaRPr lang="en-IN" dirty="0"/>
          </a:p>
          <a:p>
            <a:r>
              <a:rPr lang="en-IN" dirty="0"/>
              <a:t>Using your:</a:t>
            </a:r>
          </a:p>
          <a:p>
            <a:r>
              <a:rPr lang="en-IN" sz="1200" kern="1200" dirty="0">
                <a:solidFill>
                  <a:schemeClr val="tx1"/>
                </a:solidFill>
                <a:latin typeface="+mn-lt"/>
                <a:ea typeface="+mn-ea"/>
                <a:cs typeface="+mn-cs"/>
              </a:rPr>
              <a:t>router.js</a:t>
            </a:r>
            <a:endParaRPr lang="en-IN" dirty="0"/>
          </a:p>
          <a:p>
            <a:r>
              <a:rPr lang="en-IN" sz="1200" kern="1200" dirty="0" err="1">
                <a:solidFill>
                  <a:schemeClr val="tx1"/>
                </a:solidFill>
                <a:latin typeface="+mn-lt"/>
                <a:ea typeface="+mn-ea"/>
                <a:cs typeface="+mn-cs"/>
              </a:rPr>
              <a:t>ProtectedRoute.jsx</a:t>
            </a:r>
            <a:endParaRPr lang="en-IN" dirty="0"/>
          </a:p>
          <a:p>
            <a:r>
              <a:rPr lang="en-IN" sz="1200" kern="1200" dirty="0" err="1">
                <a:solidFill>
                  <a:schemeClr val="tx1"/>
                </a:solidFill>
                <a:latin typeface="+mn-lt"/>
                <a:ea typeface="+mn-ea"/>
                <a:cs typeface="+mn-cs"/>
              </a:rPr>
              <a:t>Login.jsx</a:t>
            </a:r>
            <a:endParaRPr lang="en-IN" dirty="0"/>
          </a:p>
          <a:p>
            <a:r>
              <a:rPr lang="en-IN" dirty="0"/>
              <a:t>5 main pages</a:t>
            </a:r>
          </a:p>
          <a:p>
            <a:r>
              <a:rPr lang="en-IN" dirty="0"/>
              <a:t>We'll create a route flow diagram that directly satisfies the SMART objective requirement of </a:t>
            </a:r>
            <a:r>
              <a:rPr lang="en-IN" b="1" dirty="0"/>
              <a:t>"Application successfully demonstrates routing with all 5 pages and protected navigation."</a:t>
            </a:r>
            <a:endParaRPr lang="en-IN" dirty="0"/>
          </a:p>
          <a:p>
            <a:endParaRPr lang="en-IN" dirty="0"/>
          </a:p>
        </p:txBody>
      </p:sp>
      <p:sp>
        <p:nvSpPr>
          <p:cNvPr id="4" name="Slide Number Placeholder 3"/>
          <p:cNvSpPr>
            <a:spLocks noGrp="1"/>
          </p:cNvSpPr>
          <p:nvPr>
            <p:ph type="sldNum" sz="quarter" idx="5"/>
          </p:nvPr>
        </p:nvSpPr>
        <p:spPr/>
        <p:txBody>
          <a:bodyPr/>
          <a:lstStyle/>
          <a:p>
            <a:fld id="{F27E4F37-7821-48E6-91AC-01ECF9D61796}" type="slidenum">
              <a:rPr lang="en-IN" smtClean="0"/>
              <a:t>5</a:t>
            </a:fld>
            <a:endParaRPr lang="en-IN"/>
          </a:p>
        </p:txBody>
      </p:sp>
    </p:spTree>
    <p:extLst>
      <p:ext uri="{BB962C8B-B14F-4D97-AF65-F5344CB8AC3E}">
        <p14:creationId xmlns:p14="http://schemas.microsoft.com/office/powerpoint/2010/main" val="3134281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6: Routing &amp; Navigation Architecture</a:t>
            </a:r>
          </a:p>
          <a:p>
            <a:r>
              <a:rPr lang="en-US" b="1" dirty="0"/>
              <a:t>Title</a:t>
            </a:r>
          </a:p>
          <a:p>
            <a:r>
              <a:rPr lang="en-US" b="1" dirty="0"/>
              <a:t>Routing &amp; Protected Navigation</a:t>
            </a:r>
            <a:endParaRPr lang="en-US" dirty="0"/>
          </a:p>
          <a:p>
            <a:br>
              <a:rPr lang="en-US" dirty="0"/>
            </a:br>
            <a:endParaRPr lang="en-US" dirty="0"/>
          </a:p>
          <a:p>
            <a:r>
              <a:rPr lang="en-US" b="1" dirty="0"/>
              <a:t>Routing Strategy</a:t>
            </a:r>
          </a:p>
          <a:p>
            <a:r>
              <a:rPr lang="en-US" dirty="0"/>
              <a:t>The application uses </a:t>
            </a:r>
            <a:r>
              <a:rPr lang="en-US" b="1" dirty="0"/>
              <a:t>React Router</a:t>
            </a:r>
            <a:r>
              <a:rPr lang="en-US" dirty="0"/>
              <a:t> to manage navigation between pages while ensuring secure access through protected routes.</a:t>
            </a:r>
          </a:p>
          <a:p>
            <a:br>
              <a:rPr lang="en-US" dirty="0"/>
            </a:br>
            <a:endParaRPr lang="en-US" dirty="0"/>
          </a:p>
          <a:p>
            <a:r>
              <a:rPr lang="en-US" b="1" dirty="0"/>
              <a:t>Main Routes</a:t>
            </a:r>
          </a:p>
          <a:p>
            <a:r>
              <a:rPr lang="en-US" dirty="0" err="1"/>
              <a:t>RoutePage</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login</a:t>
            </a:r>
            <a:r>
              <a:rPr lang="en-US" dirty="0" err="1"/>
              <a:t>Login</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dashboard</a:t>
            </a:r>
            <a:r>
              <a:rPr lang="en-US" dirty="0" err="1"/>
              <a:t>Dashboard</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employees</a:t>
            </a:r>
            <a:r>
              <a:rPr lang="en-US" dirty="0" err="1"/>
              <a:t>Employees</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departments</a:t>
            </a:r>
            <a:r>
              <a:rPr lang="en-US" dirty="0" err="1"/>
              <a:t>Departments</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attendance</a:t>
            </a:r>
            <a:r>
              <a:rPr lang="en-US" dirty="0" err="1"/>
              <a:t>Attendance</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payroll</a:t>
            </a:r>
            <a:r>
              <a:rPr lang="en-US" dirty="0" err="1"/>
              <a:t>Payroll</a:t>
            </a:r>
            <a:endParaRPr lang="en-US" dirty="0"/>
          </a:p>
          <a:p>
            <a:br>
              <a:rPr lang="en-US" dirty="0"/>
            </a:br>
            <a:endParaRPr lang="en-US" dirty="0"/>
          </a:p>
          <a:p>
            <a:r>
              <a:rPr lang="en-US" b="1" dirty="0"/>
              <a:t>Route Flow Diagram</a:t>
            </a:r>
          </a:p>
          <a:p>
            <a:r>
              <a:rPr lang="en-US" sz="1200" kern="1200" dirty="0">
                <a:solidFill>
                  <a:schemeClr val="tx1"/>
                </a:solidFill>
                <a:latin typeface="+mn-lt"/>
                <a:ea typeface="+mn-ea"/>
                <a:cs typeface="+mn-cs"/>
              </a:rPr>
              <a:t>                     Login</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Authentication</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                   │</a:t>
            </a:r>
          </a:p>
          <a:p>
            <a:r>
              <a:rPr lang="en-US" sz="1200" kern="1200" dirty="0">
                <a:solidFill>
                  <a:schemeClr val="tx1"/>
                </a:solidFill>
                <a:latin typeface="+mn-lt"/>
                <a:ea typeface="+mn-ea"/>
                <a:cs typeface="+mn-cs"/>
              </a:rPr>
              <a:t>          Invalid             Valid</a:t>
            </a:r>
          </a:p>
          <a:p>
            <a:r>
              <a:rPr lang="en-US" sz="1200" kern="1200" dirty="0">
                <a:solidFill>
                  <a:schemeClr val="tx1"/>
                </a:solidFill>
                <a:latin typeface="+mn-lt"/>
                <a:ea typeface="+mn-ea"/>
                <a:cs typeface="+mn-cs"/>
              </a:rPr>
              <a:t>             │                   │</a:t>
            </a:r>
          </a:p>
          <a:p>
            <a:r>
              <a:rPr lang="en-US" sz="1200" kern="1200" dirty="0">
                <a:solidFill>
                  <a:schemeClr val="tx1"/>
                </a:solidFill>
                <a:latin typeface="+mn-lt"/>
                <a:ea typeface="+mn-ea"/>
                <a:cs typeface="+mn-cs"/>
              </a:rPr>
              <a:t>             ▼                   ▼</a:t>
            </a:r>
          </a:p>
          <a:p>
            <a:r>
              <a:rPr lang="en-US" sz="1200" kern="1200" dirty="0">
                <a:solidFill>
                  <a:schemeClr val="tx1"/>
                </a:solidFill>
                <a:latin typeface="+mn-lt"/>
                <a:ea typeface="+mn-ea"/>
                <a:cs typeface="+mn-cs"/>
              </a:rPr>
              <a:t>        Login Page         Dashboard</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              ▼              ▼              ▼</a:t>
            </a:r>
          </a:p>
          <a:p>
            <a:r>
              <a:rPr lang="en-US" sz="1200" kern="1200" dirty="0">
                <a:solidFill>
                  <a:schemeClr val="tx1"/>
                </a:solidFill>
                <a:latin typeface="+mn-lt"/>
                <a:ea typeface="+mn-ea"/>
                <a:cs typeface="+mn-cs"/>
              </a:rPr>
              <a:t>    Employees      Departments    Attendance      Payroll</a:t>
            </a:r>
          </a:p>
          <a:p>
            <a:br>
              <a:rPr lang="en-US" dirty="0"/>
            </a:br>
            <a:endParaRPr lang="en-US" dirty="0"/>
          </a:p>
          <a:p>
            <a:r>
              <a:rPr lang="en-US" b="1" dirty="0"/>
              <a:t>Protected Route Implementation</a:t>
            </a:r>
          </a:p>
          <a:p>
            <a:r>
              <a:rPr lang="en-US" b="1" dirty="0"/>
              <a:t>Purpose</a:t>
            </a:r>
          </a:p>
          <a:p>
            <a:r>
              <a:rPr lang="en-US" dirty="0"/>
              <a:t>Restrict access to authorized users</a:t>
            </a:r>
          </a:p>
          <a:p>
            <a:r>
              <a:rPr lang="en-US" dirty="0"/>
              <a:t>Prevent direct URL access without login</a:t>
            </a:r>
          </a:p>
          <a:p>
            <a:r>
              <a:rPr lang="en-US" dirty="0"/>
              <a:t>Redirect unauthenticated users to Login page</a:t>
            </a:r>
          </a:p>
          <a:p>
            <a:r>
              <a:rPr lang="en-US" b="1" dirty="0"/>
              <a:t>Component Used</a:t>
            </a:r>
          </a:p>
          <a:p>
            <a:r>
              <a:rPr lang="en-US" sz="1200" kern="1200" dirty="0" err="1">
                <a:solidFill>
                  <a:schemeClr val="tx1"/>
                </a:solidFill>
                <a:latin typeface="+mn-lt"/>
                <a:ea typeface="+mn-ea"/>
                <a:cs typeface="+mn-cs"/>
              </a:rPr>
              <a:t>ProtectedRoute.jsx</a:t>
            </a:r>
            <a:endParaRPr lang="en-US" sz="1200" kern="1200" dirty="0">
              <a:solidFill>
                <a:schemeClr val="tx1"/>
              </a:solidFill>
              <a:latin typeface="+mn-lt"/>
              <a:ea typeface="+mn-ea"/>
              <a:cs typeface="+mn-cs"/>
            </a:endParaRPr>
          </a:p>
          <a:p>
            <a:r>
              <a:rPr lang="en-US" b="1" dirty="0"/>
              <a:t>Workflow</a:t>
            </a:r>
          </a:p>
          <a:p>
            <a:r>
              <a:rPr lang="en-US" sz="1200" kern="1200" dirty="0">
                <a:solidFill>
                  <a:schemeClr val="tx1"/>
                </a:solidFill>
                <a:latin typeface="+mn-lt"/>
                <a:ea typeface="+mn-ea"/>
                <a:cs typeface="+mn-cs"/>
              </a:rPr>
              <a:t>User Requests Route</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err="1">
                <a:solidFill>
                  <a:schemeClr val="tx1"/>
                </a:solidFill>
                <a:latin typeface="+mn-lt"/>
                <a:ea typeface="+mn-ea"/>
                <a:cs typeface="+mn-cs"/>
              </a:rPr>
              <a:t>ProtectedRoute</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Is User Authenticated?</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         │</a:t>
            </a:r>
          </a:p>
          <a:p>
            <a:r>
              <a:rPr lang="en-US" sz="1200" kern="1200" dirty="0">
                <a:solidFill>
                  <a:schemeClr val="tx1"/>
                </a:solidFill>
                <a:latin typeface="+mn-lt"/>
                <a:ea typeface="+mn-ea"/>
                <a:cs typeface="+mn-cs"/>
              </a:rPr>
              <a:t>   Yes       No</a:t>
            </a:r>
          </a:p>
          <a:p>
            <a:r>
              <a:rPr lang="en-US" sz="1200" kern="1200" dirty="0">
                <a:solidFill>
                  <a:schemeClr val="tx1"/>
                </a:solidFill>
                <a:latin typeface="+mn-lt"/>
                <a:ea typeface="+mn-ea"/>
                <a:cs typeface="+mn-cs"/>
              </a:rPr>
              <a:t>    │         │</a:t>
            </a:r>
          </a:p>
          <a:p>
            <a:r>
              <a:rPr lang="en-US" sz="1200" kern="1200" dirty="0">
                <a:solidFill>
                  <a:schemeClr val="tx1"/>
                </a:solidFill>
                <a:latin typeface="+mn-lt"/>
                <a:ea typeface="+mn-ea"/>
                <a:cs typeface="+mn-cs"/>
              </a:rPr>
              <a:t>    ▼         ▼</a:t>
            </a:r>
          </a:p>
          <a:p>
            <a:r>
              <a:rPr lang="en-US" sz="1200" kern="1200" dirty="0">
                <a:solidFill>
                  <a:schemeClr val="tx1"/>
                </a:solidFill>
                <a:latin typeface="+mn-lt"/>
                <a:ea typeface="+mn-ea"/>
                <a:cs typeface="+mn-cs"/>
              </a:rPr>
              <a:t>Render      Redirect</a:t>
            </a:r>
          </a:p>
          <a:p>
            <a:r>
              <a:rPr lang="en-US" sz="1200" kern="1200" dirty="0">
                <a:solidFill>
                  <a:schemeClr val="tx1"/>
                </a:solidFill>
                <a:latin typeface="+mn-lt"/>
                <a:ea typeface="+mn-ea"/>
                <a:cs typeface="+mn-cs"/>
              </a:rPr>
              <a:t>Page        to Login</a:t>
            </a:r>
          </a:p>
          <a:p>
            <a:br>
              <a:rPr lang="en-US" dirty="0"/>
            </a:br>
            <a:endParaRPr lang="en-US" dirty="0"/>
          </a:p>
          <a:p>
            <a:r>
              <a:rPr lang="en-US" b="1" dirty="0"/>
              <a:t>Authentication Management</a:t>
            </a:r>
          </a:p>
          <a:p>
            <a:r>
              <a:rPr lang="en-US" b="1" dirty="0"/>
              <a:t>Context API</a:t>
            </a:r>
          </a:p>
          <a:p>
            <a:r>
              <a:rPr lang="en-US" dirty="0"/>
              <a:t>Files Used:</a:t>
            </a:r>
          </a:p>
          <a:p>
            <a:r>
              <a:rPr lang="en-US" sz="1200" kern="1200" dirty="0">
                <a:solidFill>
                  <a:schemeClr val="tx1"/>
                </a:solidFill>
                <a:latin typeface="+mn-lt"/>
                <a:ea typeface="+mn-ea"/>
                <a:cs typeface="+mn-cs"/>
              </a:rPr>
              <a:t>context/</a:t>
            </a:r>
          </a:p>
          <a:p>
            <a:r>
              <a:rPr lang="en-US" sz="1200" kern="1200" dirty="0">
                <a:solidFill>
                  <a:schemeClr val="tx1"/>
                </a:solidFill>
                <a:latin typeface="+mn-lt"/>
                <a:ea typeface="+mn-ea"/>
                <a:cs typeface="+mn-cs"/>
              </a:rPr>
              <a:t>├── AuthContext.js</a:t>
            </a: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AuthProvider.jsx</a:t>
            </a:r>
            <a:endParaRPr lang="en-US" sz="1200" kern="1200" dirty="0">
              <a:solidFill>
                <a:schemeClr val="tx1"/>
              </a:solidFill>
              <a:latin typeface="+mn-lt"/>
              <a:ea typeface="+mn-ea"/>
              <a:cs typeface="+mn-cs"/>
            </a:endParaRPr>
          </a:p>
          <a:p>
            <a:r>
              <a:rPr lang="en-US" dirty="0"/>
              <a:t>Responsibilities:</a:t>
            </a:r>
          </a:p>
          <a:p>
            <a:r>
              <a:rPr lang="en-US" dirty="0"/>
              <a:t>Store authentication state</a:t>
            </a:r>
          </a:p>
          <a:p>
            <a:r>
              <a:rPr lang="en-US" dirty="0"/>
              <a:t>Share user session globally</a:t>
            </a:r>
          </a:p>
          <a:p>
            <a:r>
              <a:rPr lang="en-US" dirty="0"/>
              <a:t>Handle login/logout functionality</a:t>
            </a:r>
          </a:p>
          <a:p>
            <a:r>
              <a:rPr lang="en-US" dirty="0"/>
              <a:t>Support protected navigation</a:t>
            </a:r>
          </a:p>
          <a:p>
            <a:br>
              <a:rPr lang="en-US" dirty="0"/>
            </a:br>
            <a:endParaRPr lang="en-US" dirty="0"/>
          </a:p>
          <a:p>
            <a:r>
              <a:rPr lang="en-US" b="1" dirty="0"/>
              <a:t>Benefits Achieved</a:t>
            </a:r>
          </a:p>
          <a:p>
            <a:r>
              <a:rPr lang="en-US" dirty="0"/>
              <a:t>✅ Secure Route Access</a:t>
            </a:r>
          </a:p>
          <a:p>
            <a:r>
              <a:rPr lang="en-US" dirty="0"/>
              <a:t>✅ Better User Experience</a:t>
            </a:r>
          </a:p>
          <a:p>
            <a:r>
              <a:rPr lang="en-US" dirty="0"/>
              <a:t>✅ Centralized Authentication Logic</a:t>
            </a:r>
          </a:p>
          <a:p>
            <a:r>
              <a:rPr lang="en-US" dirty="0"/>
              <a:t>✅ Scalable Navigation Structure</a:t>
            </a:r>
          </a:p>
          <a:p>
            <a:br>
              <a:rPr lang="en-US" dirty="0"/>
            </a:br>
            <a:endParaRPr lang="en-US" dirty="0"/>
          </a:p>
          <a:p>
            <a:r>
              <a:rPr lang="en-US" b="1" dirty="0"/>
              <a:t>Speaker Notes</a:t>
            </a:r>
          </a:p>
          <a:p>
            <a:r>
              <a:rPr lang="en-US" dirty="0"/>
              <a:t>React Router is used to manage navigation across the application. A </a:t>
            </a:r>
            <a:r>
              <a:rPr lang="en-US" dirty="0" err="1"/>
              <a:t>ProtectedRoute</a:t>
            </a:r>
            <a:r>
              <a:rPr lang="en-US" dirty="0"/>
              <a:t> component ensures that only authenticated users can access the Dashboard, Employees, Departments, Attendance, and Payroll pages. Authentication state is maintained globally using Context API, providing a secure and scalable routing solution.</a:t>
            </a:r>
          </a:p>
          <a:p>
            <a:br>
              <a:rPr lang="en-US" dirty="0"/>
            </a:br>
            <a:endParaRPr lang="en-US" dirty="0"/>
          </a:p>
          <a:p>
            <a:r>
              <a:rPr lang="en-US" b="1" dirty="0"/>
              <a:t>Visual Enhancement</a:t>
            </a:r>
          </a:p>
          <a:p>
            <a:r>
              <a:rPr lang="en-US" dirty="0"/>
              <a:t>If possible, insert a screenshot of:</a:t>
            </a:r>
          </a:p>
          <a:p>
            <a:r>
              <a:rPr lang="en-US" dirty="0"/>
              <a:t>Login page</a:t>
            </a:r>
          </a:p>
          <a:p>
            <a:r>
              <a:rPr lang="en-US" dirty="0"/>
              <a:t>Sidebar navigation</a:t>
            </a:r>
          </a:p>
          <a:p>
            <a:r>
              <a:rPr lang="en-US" dirty="0"/>
              <a:t>Dashboard after login</a:t>
            </a:r>
          </a:p>
          <a:p>
            <a:r>
              <a:rPr lang="en-US" dirty="0"/>
              <a:t>Then place arrows showing the navigation flow. Reviewers usually appreciate seeing the actual application rather than only diagrams.</a:t>
            </a:r>
          </a:p>
          <a:p>
            <a:br>
              <a:rPr lang="en-US" dirty="0"/>
            </a:br>
            <a:endParaRPr lang="en-US" dirty="0"/>
          </a:p>
          <a:p>
            <a:r>
              <a:rPr lang="en-US" b="1" dirty="0"/>
              <a:t>Slide 7 (Highly Important)</a:t>
            </a:r>
          </a:p>
          <a:p>
            <a:r>
              <a:rPr lang="en-US" b="1" dirty="0"/>
              <a:t>Reusable Components Strategy</a:t>
            </a:r>
            <a:endParaRPr lang="en-US" dirty="0"/>
          </a:p>
          <a:p>
            <a:r>
              <a:rPr lang="en-US" dirty="0"/>
              <a:t>This slide is where you prove you met the objective:</a:t>
            </a:r>
          </a:p>
          <a:p>
            <a:r>
              <a:rPr lang="en-US" dirty="0"/>
              <a:t>"Develop at least 3 existing components into reusable React components."</a:t>
            </a:r>
          </a:p>
          <a:p>
            <a:r>
              <a:rPr lang="en-US" dirty="0"/>
              <a:t>Your project actually has </a:t>
            </a:r>
            <a:r>
              <a:rPr lang="en-US" b="1" dirty="0"/>
              <a:t>8+ reusable components</a:t>
            </a:r>
            <a:r>
              <a:rPr lang="en-US" dirty="0"/>
              <a:t>, so this will be one of your strongest slides. We'll use your actual </a:t>
            </a:r>
            <a:r>
              <a:rPr lang="en-US" sz="1200" kern="1200" dirty="0">
                <a:solidFill>
                  <a:schemeClr val="tx1"/>
                </a:solidFill>
                <a:latin typeface="+mn-lt"/>
                <a:ea typeface="+mn-ea"/>
                <a:cs typeface="+mn-cs"/>
              </a:rPr>
              <a:t>components/common</a:t>
            </a:r>
            <a:r>
              <a:rPr lang="en-US" dirty="0"/>
              <a:t> folder and show before/after reusability.</a:t>
            </a:r>
          </a:p>
        </p:txBody>
      </p:sp>
      <p:sp>
        <p:nvSpPr>
          <p:cNvPr id="4" name="Slide Number Placeholder 3"/>
          <p:cNvSpPr>
            <a:spLocks noGrp="1"/>
          </p:cNvSpPr>
          <p:nvPr>
            <p:ph type="sldNum" sz="quarter" idx="5"/>
          </p:nvPr>
        </p:nvSpPr>
        <p:spPr/>
        <p:txBody>
          <a:bodyPr/>
          <a:lstStyle/>
          <a:p>
            <a:fld id="{F27E4F37-7821-48E6-91AC-01ECF9D61796}" type="slidenum">
              <a:rPr lang="en-IN" smtClean="0"/>
              <a:t>6</a:t>
            </a:fld>
            <a:endParaRPr lang="en-IN"/>
          </a:p>
        </p:txBody>
      </p:sp>
    </p:spTree>
    <p:extLst>
      <p:ext uri="{BB962C8B-B14F-4D97-AF65-F5344CB8AC3E}">
        <p14:creationId xmlns:p14="http://schemas.microsoft.com/office/powerpoint/2010/main" val="104336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F0B33-132F-CB61-07B6-646AEF923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28FA6-CB5E-E925-33C0-DC4A0416FE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24E72-B4B1-171B-41EC-7539E9E29D08}"/>
              </a:ext>
            </a:extLst>
          </p:cNvPr>
          <p:cNvSpPr>
            <a:spLocks noGrp="1"/>
          </p:cNvSpPr>
          <p:nvPr>
            <p:ph type="body" idx="1"/>
          </p:nvPr>
        </p:nvSpPr>
        <p:spPr/>
        <p:txBody>
          <a:bodyPr/>
          <a:lstStyle/>
          <a:p>
            <a:r>
              <a:rPr lang="en-IN" b="1" dirty="0"/>
              <a:t>Slide 7: Reusable Components Strategy</a:t>
            </a:r>
          </a:p>
          <a:p>
            <a:r>
              <a:rPr lang="en-IN" b="1" dirty="0"/>
              <a:t>Title</a:t>
            </a:r>
          </a:p>
          <a:p>
            <a:r>
              <a:rPr lang="en-IN" b="1" dirty="0"/>
              <a:t>Reusable Components Implementation</a:t>
            </a:r>
            <a:endParaRPr lang="en-IN" dirty="0"/>
          </a:p>
          <a:p>
            <a:br>
              <a:rPr lang="en-IN" dirty="0"/>
            </a:br>
            <a:endParaRPr lang="en-IN" dirty="0"/>
          </a:p>
          <a:p>
            <a:r>
              <a:rPr lang="en-IN" b="1" dirty="0"/>
              <a:t>Objective</a:t>
            </a:r>
          </a:p>
          <a:p>
            <a:r>
              <a:rPr lang="en-IN" dirty="0"/>
              <a:t>Develop reusable React components to improve maintainability, reduce duplication, and ensure consistency across the application.</a:t>
            </a:r>
          </a:p>
          <a:p>
            <a:br>
              <a:rPr lang="en-IN" dirty="0"/>
            </a:br>
            <a:endParaRPr lang="en-IN" dirty="0"/>
          </a:p>
          <a:p>
            <a:r>
              <a:rPr lang="en-IN" b="1" dirty="0"/>
              <a:t>Reusable Components Created</a:t>
            </a:r>
          </a:p>
          <a:p>
            <a:r>
              <a:rPr lang="en-IN" b="1" dirty="0"/>
              <a:t>Common Components</a:t>
            </a:r>
          </a:p>
          <a:p>
            <a:r>
              <a:rPr lang="en-IN" dirty="0"/>
              <a:t>Located in:</a:t>
            </a:r>
          </a:p>
          <a:p>
            <a:r>
              <a:rPr lang="en-IN" sz="1200" kern="1200" dirty="0">
                <a:solidFill>
                  <a:schemeClr val="tx1"/>
                </a:solidFill>
                <a:latin typeface="+mn-lt"/>
                <a:ea typeface="+mn-ea"/>
                <a:cs typeface="+mn-cs"/>
              </a:rPr>
              <a:t>components/common/</a:t>
            </a:r>
          </a:p>
          <a:p>
            <a:r>
              <a:rPr lang="en-IN" dirty="0" err="1"/>
              <a:t>ComponentPurposeHeaderCommon</a:t>
            </a:r>
            <a:r>
              <a:rPr lang="en-IN" dirty="0"/>
              <a:t> page </a:t>
            </a:r>
            <a:r>
              <a:rPr lang="en-IN" dirty="0" err="1"/>
              <a:t>headerSidebarNavigation</a:t>
            </a:r>
            <a:r>
              <a:rPr lang="en-IN" dirty="0"/>
              <a:t> </a:t>
            </a:r>
            <a:r>
              <a:rPr lang="en-IN" dirty="0" err="1"/>
              <a:t>menuBreadcrumbNavigation</a:t>
            </a:r>
            <a:r>
              <a:rPr lang="en-IN" dirty="0"/>
              <a:t> </a:t>
            </a:r>
            <a:r>
              <a:rPr lang="en-IN" dirty="0" err="1"/>
              <a:t>pathDataTableReusable</a:t>
            </a:r>
            <a:r>
              <a:rPr lang="en-IN" dirty="0"/>
              <a:t> table </a:t>
            </a:r>
            <a:r>
              <a:rPr lang="en-IN" dirty="0" err="1"/>
              <a:t>displayFiltersGeneric</a:t>
            </a:r>
            <a:r>
              <a:rPr lang="en-IN" dirty="0"/>
              <a:t> filtering </a:t>
            </a:r>
            <a:r>
              <a:rPr lang="en-IN" dirty="0" err="1"/>
              <a:t>UIInfoCardSummary</a:t>
            </a:r>
            <a:r>
              <a:rPr lang="en-IN" dirty="0"/>
              <a:t> information </a:t>
            </a:r>
            <a:r>
              <a:rPr lang="en-IN" dirty="0" err="1"/>
              <a:t>displayEmptyStateNo</a:t>
            </a:r>
            <a:r>
              <a:rPr lang="en-IN" dirty="0"/>
              <a:t> data </a:t>
            </a:r>
            <a:r>
              <a:rPr lang="en-IN" dirty="0" err="1"/>
              <a:t>statePageLoaderLoading</a:t>
            </a:r>
            <a:r>
              <a:rPr lang="en-IN" dirty="0"/>
              <a:t> indicator</a:t>
            </a:r>
          </a:p>
          <a:p>
            <a:br>
              <a:rPr lang="en-IN" dirty="0"/>
            </a:br>
            <a:endParaRPr lang="en-IN" dirty="0"/>
          </a:p>
          <a:p>
            <a:r>
              <a:rPr lang="en-IN" b="1" dirty="0"/>
              <a:t>Feature Reusable Components</a:t>
            </a:r>
          </a:p>
          <a:p>
            <a:r>
              <a:rPr lang="en-IN" dirty="0" err="1"/>
              <a:t>ComponentReused</a:t>
            </a:r>
            <a:r>
              <a:rPr lang="en-IN" dirty="0"/>
              <a:t> </a:t>
            </a:r>
            <a:r>
              <a:rPr lang="en-IN" dirty="0" err="1"/>
              <a:t>InEmployeeCardEmployee</a:t>
            </a:r>
            <a:r>
              <a:rPr lang="en-IN" dirty="0"/>
              <a:t> </a:t>
            </a:r>
            <a:r>
              <a:rPr lang="en-IN" dirty="0" err="1"/>
              <a:t>ModuleDepartmentCardDepartment</a:t>
            </a:r>
            <a:r>
              <a:rPr lang="en-IN" dirty="0"/>
              <a:t> </a:t>
            </a:r>
            <a:r>
              <a:rPr lang="en-IN" dirty="0" err="1"/>
              <a:t>ModuleAttendanceCardAttendance</a:t>
            </a:r>
            <a:r>
              <a:rPr lang="en-IN" dirty="0"/>
              <a:t> </a:t>
            </a:r>
            <a:r>
              <a:rPr lang="en-IN" dirty="0" err="1"/>
              <a:t>ModulePayrollCardPayroll</a:t>
            </a:r>
            <a:r>
              <a:rPr lang="en-IN" dirty="0"/>
              <a:t> </a:t>
            </a:r>
            <a:r>
              <a:rPr lang="en-IN" dirty="0" err="1"/>
              <a:t>ModuleStatCardDashboardPayrollStatCardPayroll</a:t>
            </a:r>
            <a:r>
              <a:rPr lang="en-IN" dirty="0"/>
              <a:t> Summary</a:t>
            </a:r>
          </a:p>
          <a:p>
            <a:br>
              <a:rPr lang="en-IN" dirty="0"/>
            </a:br>
            <a:endParaRPr lang="en-IN" dirty="0"/>
          </a:p>
          <a:p>
            <a:r>
              <a:rPr lang="en-IN" b="1" dirty="0"/>
              <a:t>Reusability Example</a:t>
            </a:r>
          </a:p>
          <a:p>
            <a:r>
              <a:rPr lang="en-IN" b="1" dirty="0"/>
              <a:t>Without Reusable Components</a:t>
            </a:r>
          </a:p>
          <a:p>
            <a:r>
              <a:rPr lang="en-IN" sz="1200" kern="1200" dirty="0">
                <a:solidFill>
                  <a:schemeClr val="tx1"/>
                </a:solidFill>
                <a:latin typeface="+mn-lt"/>
                <a:ea typeface="+mn-ea"/>
                <a:cs typeface="+mn-cs"/>
              </a:rPr>
              <a:t>Employee Page</a:t>
            </a:r>
          </a:p>
          <a:p>
            <a:r>
              <a:rPr lang="en-IN" sz="1200" kern="1200" dirty="0">
                <a:solidFill>
                  <a:schemeClr val="tx1"/>
                </a:solidFill>
                <a:latin typeface="+mn-lt"/>
                <a:ea typeface="+mn-ea"/>
                <a:cs typeface="+mn-cs"/>
              </a:rPr>
              <a:t> └─ Custom Table</a:t>
            </a:r>
          </a:p>
          <a:p>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Department Page</a:t>
            </a:r>
          </a:p>
          <a:p>
            <a:r>
              <a:rPr lang="en-IN" sz="1200" kern="1200" dirty="0">
                <a:solidFill>
                  <a:schemeClr val="tx1"/>
                </a:solidFill>
                <a:latin typeface="+mn-lt"/>
                <a:ea typeface="+mn-ea"/>
                <a:cs typeface="+mn-cs"/>
              </a:rPr>
              <a:t> └─ Custom Table</a:t>
            </a:r>
          </a:p>
          <a:p>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Attendance Page</a:t>
            </a:r>
          </a:p>
          <a:p>
            <a:r>
              <a:rPr lang="en-IN" sz="1200" kern="1200" dirty="0">
                <a:solidFill>
                  <a:schemeClr val="tx1"/>
                </a:solidFill>
                <a:latin typeface="+mn-lt"/>
                <a:ea typeface="+mn-ea"/>
                <a:cs typeface="+mn-cs"/>
              </a:rPr>
              <a:t> └─ Custom Table</a:t>
            </a:r>
          </a:p>
          <a:p>
            <a:r>
              <a:rPr lang="en-IN" dirty="0"/>
              <a:t>Problems:</a:t>
            </a:r>
          </a:p>
          <a:p>
            <a:r>
              <a:rPr lang="en-IN" dirty="0"/>
              <a:t>Duplicate code</a:t>
            </a:r>
          </a:p>
          <a:p>
            <a:r>
              <a:rPr lang="en-IN" dirty="0"/>
              <a:t>Difficult maintenance</a:t>
            </a:r>
          </a:p>
          <a:p>
            <a:r>
              <a:rPr lang="en-IN" dirty="0"/>
              <a:t>Inconsistent UI</a:t>
            </a:r>
          </a:p>
          <a:p>
            <a:br>
              <a:rPr lang="en-IN" dirty="0"/>
            </a:br>
            <a:endParaRPr lang="en-IN" dirty="0"/>
          </a:p>
          <a:p>
            <a:r>
              <a:rPr lang="en-IN" b="1" dirty="0"/>
              <a:t>With Reusable Components</a:t>
            </a:r>
          </a:p>
          <a:p>
            <a:r>
              <a:rPr lang="en-IN" sz="1200" kern="1200" dirty="0">
                <a:solidFill>
                  <a:schemeClr val="tx1"/>
                </a:solidFill>
                <a:latin typeface="+mn-lt"/>
                <a:ea typeface="+mn-ea"/>
                <a:cs typeface="+mn-cs"/>
              </a:rPr>
              <a:t>Employee Page</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Department Page</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Attendance Page</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Payroll Page</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DataTable</a:t>
            </a:r>
            <a:endParaRPr lang="en-IN" sz="1200" kern="1200" dirty="0">
              <a:solidFill>
                <a:schemeClr val="tx1"/>
              </a:solidFill>
              <a:latin typeface="+mn-lt"/>
              <a:ea typeface="+mn-ea"/>
              <a:cs typeface="+mn-cs"/>
            </a:endParaRPr>
          </a:p>
          <a:p>
            <a:r>
              <a:rPr lang="en-IN" dirty="0"/>
              <a:t>Benefits:</a:t>
            </a:r>
          </a:p>
          <a:p>
            <a:r>
              <a:rPr lang="en-IN" dirty="0"/>
              <a:t>Single source of truth</a:t>
            </a:r>
          </a:p>
          <a:p>
            <a:r>
              <a:rPr lang="en-IN" dirty="0"/>
              <a:t>Easier maintenance</a:t>
            </a:r>
          </a:p>
          <a:p>
            <a:r>
              <a:rPr lang="en-IN" dirty="0"/>
              <a:t>Consistent UI experience</a:t>
            </a:r>
          </a:p>
          <a:p>
            <a:br>
              <a:rPr lang="en-IN" dirty="0"/>
            </a:br>
            <a:endParaRPr lang="en-IN" dirty="0"/>
          </a:p>
          <a:p>
            <a:r>
              <a:rPr lang="en-IN" b="1" dirty="0"/>
              <a:t>Example: </a:t>
            </a:r>
            <a:r>
              <a:rPr lang="en-IN" b="1" dirty="0" err="1"/>
              <a:t>DataTable</a:t>
            </a:r>
            <a:r>
              <a:rPr lang="en-IN" b="1" dirty="0"/>
              <a:t> Component</a:t>
            </a:r>
          </a:p>
          <a:p>
            <a:r>
              <a:rPr lang="en-IN" dirty="0"/>
              <a:t>One generic table component can display:</a:t>
            </a:r>
          </a:p>
          <a:p>
            <a:r>
              <a:rPr lang="en-IN" dirty="0"/>
              <a:t>✅ Employees</a:t>
            </a:r>
          </a:p>
          <a:p>
            <a:r>
              <a:rPr lang="en-IN" dirty="0"/>
              <a:t>✅ Departments</a:t>
            </a:r>
          </a:p>
          <a:p>
            <a:r>
              <a:rPr lang="en-IN" dirty="0"/>
              <a:t>✅ Attendance Records</a:t>
            </a:r>
          </a:p>
          <a:p>
            <a:r>
              <a:rPr lang="en-IN" dirty="0"/>
              <a:t>✅ Payroll Records</a:t>
            </a:r>
          </a:p>
          <a:p>
            <a:r>
              <a:rPr lang="en-IN" dirty="0"/>
              <a:t>by passing different props.</a:t>
            </a:r>
          </a:p>
          <a:p>
            <a:br>
              <a:rPr lang="en-IN" dirty="0"/>
            </a:br>
            <a:endParaRPr lang="en-IN" dirty="0"/>
          </a:p>
          <a:p>
            <a:r>
              <a:rPr lang="en-IN" b="1" dirty="0"/>
              <a:t>Component Hierarchy</a:t>
            </a:r>
          </a:p>
          <a:p>
            <a:r>
              <a:rPr lang="en-IN" sz="1200" kern="1200" dirty="0" err="1">
                <a:solidFill>
                  <a:schemeClr val="tx1"/>
                </a:solidFill>
                <a:latin typeface="+mn-lt"/>
                <a:ea typeface="+mn-ea"/>
                <a:cs typeface="+mn-cs"/>
              </a:rPr>
              <a:t>MainLayout</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Header</a:t>
            </a:r>
          </a:p>
          <a:p>
            <a:r>
              <a:rPr lang="en-IN" sz="1200" kern="1200" dirty="0">
                <a:solidFill>
                  <a:schemeClr val="tx1"/>
                </a:solidFill>
                <a:latin typeface="+mn-lt"/>
                <a:ea typeface="+mn-ea"/>
                <a:cs typeface="+mn-cs"/>
              </a:rPr>
              <a:t>├── Sidebar</a:t>
            </a:r>
          </a:p>
          <a:p>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Pages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 Dashboard</a:t>
            </a:r>
          </a:p>
          <a:p>
            <a:r>
              <a:rPr lang="en-IN" sz="1200" kern="1200" dirty="0">
                <a:solidFill>
                  <a:schemeClr val="tx1"/>
                </a:solidFill>
                <a:latin typeface="+mn-lt"/>
                <a:ea typeface="+mn-ea"/>
                <a:cs typeface="+mn-cs"/>
              </a:rPr>
              <a:t>     │     └── </a:t>
            </a:r>
            <a:r>
              <a:rPr lang="en-IN" sz="1200" kern="1200" dirty="0" err="1">
                <a:solidFill>
                  <a:schemeClr val="tx1"/>
                </a:solidFill>
                <a:latin typeface="+mn-lt"/>
                <a:ea typeface="+mn-ea"/>
                <a:cs typeface="+mn-cs"/>
              </a:rPr>
              <a:t>StatCard</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 Employees</a:t>
            </a:r>
          </a:p>
          <a:p>
            <a:r>
              <a:rPr lang="en-IN" sz="1200" kern="1200" dirty="0">
                <a:solidFill>
                  <a:schemeClr val="tx1"/>
                </a:solidFill>
                <a:latin typeface="+mn-lt"/>
                <a:ea typeface="+mn-ea"/>
                <a:cs typeface="+mn-cs"/>
              </a:rPr>
              <a:t>     │     └── </a:t>
            </a:r>
            <a:r>
              <a:rPr lang="en-IN" sz="1200" kern="1200" dirty="0" err="1">
                <a:solidFill>
                  <a:schemeClr val="tx1"/>
                </a:solidFill>
                <a:latin typeface="+mn-lt"/>
                <a:ea typeface="+mn-ea"/>
                <a:cs typeface="+mn-cs"/>
              </a:rPr>
              <a:t>DataTable</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 Departments</a:t>
            </a:r>
          </a:p>
          <a:p>
            <a:r>
              <a:rPr lang="en-IN" sz="1200" kern="1200" dirty="0">
                <a:solidFill>
                  <a:schemeClr val="tx1"/>
                </a:solidFill>
                <a:latin typeface="+mn-lt"/>
                <a:ea typeface="+mn-ea"/>
                <a:cs typeface="+mn-cs"/>
              </a:rPr>
              <a:t>     │     └── </a:t>
            </a:r>
            <a:r>
              <a:rPr lang="en-IN" sz="1200" kern="1200" dirty="0" err="1">
                <a:solidFill>
                  <a:schemeClr val="tx1"/>
                </a:solidFill>
                <a:latin typeface="+mn-lt"/>
                <a:ea typeface="+mn-ea"/>
                <a:cs typeface="+mn-cs"/>
              </a:rPr>
              <a:t>DataTable</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 Attendance</a:t>
            </a:r>
          </a:p>
          <a:p>
            <a:r>
              <a:rPr lang="en-IN" sz="1200" kern="1200" dirty="0">
                <a:solidFill>
                  <a:schemeClr val="tx1"/>
                </a:solidFill>
                <a:latin typeface="+mn-lt"/>
                <a:ea typeface="+mn-ea"/>
                <a:cs typeface="+mn-cs"/>
              </a:rPr>
              <a:t>     │     └── </a:t>
            </a:r>
            <a:r>
              <a:rPr lang="en-IN" sz="1200" kern="1200" dirty="0" err="1">
                <a:solidFill>
                  <a:schemeClr val="tx1"/>
                </a:solidFill>
                <a:latin typeface="+mn-lt"/>
                <a:ea typeface="+mn-ea"/>
                <a:cs typeface="+mn-cs"/>
              </a:rPr>
              <a:t>DataTable</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 Payroll</a:t>
            </a:r>
          </a:p>
          <a:p>
            <a:r>
              <a:rPr lang="en-IN" sz="1200" kern="1200" dirty="0">
                <a:solidFill>
                  <a:schemeClr val="tx1"/>
                </a:solidFill>
                <a:latin typeface="+mn-lt"/>
                <a:ea typeface="+mn-ea"/>
                <a:cs typeface="+mn-cs"/>
              </a:rPr>
              <a:t>           └── </a:t>
            </a:r>
            <a:r>
              <a:rPr lang="en-IN" sz="1200" kern="1200" dirty="0" err="1">
                <a:solidFill>
                  <a:schemeClr val="tx1"/>
                </a:solidFill>
                <a:latin typeface="+mn-lt"/>
                <a:ea typeface="+mn-ea"/>
                <a:cs typeface="+mn-cs"/>
              </a:rPr>
              <a:t>DataTable</a:t>
            </a:r>
            <a:endParaRPr lang="en-IN" sz="1200" kern="1200" dirty="0">
              <a:solidFill>
                <a:schemeClr val="tx1"/>
              </a:solidFill>
              <a:latin typeface="+mn-lt"/>
              <a:ea typeface="+mn-ea"/>
              <a:cs typeface="+mn-cs"/>
            </a:endParaRPr>
          </a:p>
          <a:p>
            <a:br>
              <a:rPr lang="en-IN" dirty="0"/>
            </a:br>
            <a:endParaRPr lang="en-IN" dirty="0"/>
          </a:p>
          <a:p>
            <a:r>
              <a:rPr lang="en-IN" b="1" dirty="0"/>
              <a:t>Benefits Achieved</a:t>
            </a:r>
          </a:p>
          <a:p>
            <a:r>
              <a:rPr lang="en-IN" b="1" dirty="0"/>
              <a:t>Code Reusability</a:t>
            </a:r>
          </a:p>
          <a:p>
            <a:r>
              <a:rPr lang="en-IN" dirty="0"/>
              <a:t>Reduced duplication</a:t>
            </a:r>
          </a:p>
          <a:p>
            <a:r>
              <a:rPr lang="en-IN" b="1" dirty="0"/>
              <a:t>Consistency</a:t>
            </a:r>
          </a:p>
          <a:p>
            <a:r>
              <a:rPr lang="en-IN" dirty="0"/>
              <a:t>Uniform design across modules</a:t>
            </a:r>
          </a:p>
          <a:p>
            <a:r>
              <a:rPr lang="en-IN" b="1" dirty="0"/>
              <a:t>Maintainability</a:t>
            </a:r>
          </a:p>
          <a:p>
            <a:r>
              <a:rPr lang="en-IN" dirty="0"/>
              <a:t>Changes made in one component reflect everywhere</a:t>
            </a:r>
          </a:p>
          <a:p>
            <a:r>
              <a:rPr lang="en-IN" b="1" dirty="0"/>
              <a:t>Scalability</a:t>
            </a:r>
          </a:p>
          <a:p>
            <a:r>
              <a:rPr lang="en-IN" dirty="0"/>
              <a:t>New modules can reuse existing components</a:t>
            </a:r>
          </a:p>
          <a:p>
            <a:br>
              <a:rPr lang="en-IN" dirty="0"/>
            </a:br>
            <a:endParaRPr lang="en-IN" dirty="0"/>
          </a:p>
          <a:p>
            <a:r>
              <a:rPr lang="en-IN" b="1" dirty="0"/>
              <a:t>Speaker Notes</a:t>
            </a:r>
          </a:p>
          <a:p>
            <a:r>
              <a:rPr lang="en-IN" dirty="0"/>
              <a:t>To satisfy the SMART objective, reusable components were developed and organized into a dedicated common components folder. Components such as </a:t>
            </a:r>
            <a:r>
              <a:rPr lang="en-IN" dirty="0" err="1"/>
              <a:t>DataTable</a:t>
            </a:r>
            <a:r>
              <a:rPr lang="en-IN" dirty="0"/>
              <a:t>, Header, Sidebar, Filters, and </a:t>
            </a:r>
            <a:r>
              <a:rPr lang="en-IN" dirty="0" err="1"/>
              <a:t>InfoCard</a:t>
            </a:r>
            <a:r>
              <a:rPr lang="en-IN" dirty="0"/>
              <a:t> are shared across multiple modules, reducing code duplication and improving maintainability. This approach ensures a consistent user interface throughout the application.</a:t>
            </a:r>
          </a:p>
          <a:p>
            <a:br>
              <a:rPr lang="en-IN" dirty="0"/>
            </a:br>
            <a:endParaRPr lang="en-IN" dirty="0"/>
          </a:p>
          <a:p>
            <a:r>
              <a:rPr lang="en-IN" b="1" dirty="0"/>
              <a:t>Presentation Tip</a:t>
            </a:r>
          </a:p>
          <a:p>
            <a:r>
              <a:rPr lang="en-IN" dirty="0"/>
              <a:t>For maximum impact, add a screenshot showing:</a:t>
            </a:r>
          </a:p>
          <a:p>
            <a:r>
              <a:rPr lang="en-IN" dirty="0"/>
              <a:t>Employee Table</a:t>
            </a:r>
          </a:p>
          <a:p>
            <a:r>
              <a:rPr lang="en-IN" dirty="0"/>
              <a:t>Department Table</a:t>
            </a:r>
          </a:p>
          <a:p>
            <a:r>
              <a:rPr lang="en-IN" dirty="0"/>
              <a:t>Attendance Table</a:t>
            </a:r>
          </a:p>
          <a:p>
            <a:r>
              <a:rPr lang="en-IN" dirty="0"/>
              <a:t>Then add a note:</a:t>
            </a:r>
          </a:p>
          <a:p>
            <a:r>
              <a:rPr lang="en-IN" b="1" dirty="0"/>
              <a:t>"All tables are rendered using the same reusable </a:t>
            </a:r>
            <a:r>
              <a:rPr lang="en-IN" b="1" dirty="0" err="1"/>
              <a:t>DataTable</a:t>
            </a:r>
            <a:r>
              <a:rPr lang="en-IN" b="1" dirty="0"/>
              <a:t> component."</a:t>
            </a:r>
            <a:endParaRPr lang="en-IN" dirty="0"/>
          </a:p>
          <a:p>
            <a:r>
              <a:rPr lang="en-IN" dirty="0"/>
              <a:t>That visually proves reusability.</a:t>
            </a:r>
          </a:p>
          <a:p>
            <a:br>
              <a:rPr lang="en-IN" dirty="0"/>
            </a:br>
            <a:endParaRPr lang="en-IN" dirty="0"/>
          </a:p>
          <a:p>
            <a:r>
              <a:rPr lang="en-IN" b="1" dirty="0"/>
              <a:t>Slide 8</a:t>
            </a:r>
          </a:p>
          <a:p>
            <a:r>
              <a:rPr lang="en-IN" b="1" dirty="0"/>
              <a:t>Custom Hooks &amp; Business Logic Reusability</a:t>
            </a:r>
            <a:endParaRPr lang="en-IN" dirty="0"/>
          </a:p>
          <a:p>
            <a:r>
              <a:rPr lang="en-IN" dirty="0"/>
              <a:t>This is another strong technical slide because your project contains:</a:t>
            </a:r>
          </a:p>
          <a:p>
            <a:r>
              <a:rPr lang="en-IN" sz="1200" kern="1200" dirty="0" err="1">
                <a:solidFill>
                  <a:schemeClr val="tx1"/>
                </a:solidFill>
                <a:latin typeface="+mn-lt"/>
                <a:ea typeface="+mn-ea"/>
                <a:cs typeface="+mn-cs"/>
              </a:rPr>
              <a:t>useAttendanceFilter</a:t>
            </a:r>
            <a:endParaRPr lang="en-IN" sz="1200" kern="1200" dirty="0">
              <a:solidFill>
                <a:schemeClr val="tx1"/>
              </a:solidFill>
              <a:latin typeface="+mn-lt"/>
              <a:ea typeface="+mn-ea"/>
              <a:cs typeface="+mn-cs"/>
            </a:endParaRPr>
          </a:p>
          <a:p>
            <a:r>
              <a:rPr lang="en-IN" sz="1200" kern="1200" dirty="0" err="1">
                <a:solidFill>
                  <a:schemeClr val="tx1"/>
                </a:solidFill>
                <a:latin typeface="+mn-lt"/>
                <a:ea typeface="+mn-ea"/>
                <a:cs typeface="+mn-cs"/>
              </a:rPr>
              <a:t>useAttendanceDetailsFilter</a:t>
            </a:r>
            <a:endParaRPr lang="en-IN" sz="1200" kern="1200" dirty="0">
              <a:solidFill>
                <a:schemeClr val="tx1"/>
              </a:solidFill>
              <a:latin typeface="+mn-lt"/>
              <a:ea typeface="+mn-ea"/>
              <a:cs typeface="+mn-cs"/>
            </a:endParaRPr>
          </a:p>
          <a:p>
            <a:r>
              <a:rPr lang="en-IN" sz="1200" kern="1200" dirty="0" err="1">
                <a:solidFill>
                  <a:schemeClr val="tx1"/>
                </a:solidFill>
                <a:latin typeface="+mn-lt"/>
                <a:ea typeface="+mn-ea"/>
                <a:cs typeface="+mn-cs"/>
              </a:rPr>
              <a:t>useAttendanceSummary</a:t>
            </a:r>
            <a:endParaRPr lang="en-IN" sz="1200" kern="1200" dirty="0">
              <a:solidFill>
                <a:schemeClr val="tx1"/>
              </a:solidFill>
              <a:latin typeface="+mn-lt"/>
              <a:ea typeface="+mn-ea"/>
              <a:cs typeface="+mn-cs"/>
            </a:endParaRPr>
          </a:p>
          <a:p>
            <a:r>
              <a:rPr lang="en-IN" sz="1200" kern="1200" dirty="0" err="1">
                <a:solidFill>
                  <a:schemeClr val="tx1"/>
                </a:solidFill>
                <a:latin typeface="+mn-lt"/>
                <a:ea typeface="+mn-ea"/>
                <a:cs typeface="+mn-cs"/>
              </a:rPr>
              <a:t>useDashboardSummary</a:t>
            </a:r>
            <a:endParaRPr lang="en-IN" sz="1200" kern="1200" dirty="0">
              <a:solidFill>
                <a:schemeClr val="tx1"/>
              </a:solidFill>
              <a:latin typeface="+mn-lt"/>
              <a:ea typeface="+mn-ea"/>
              <a:cs typeface="+mn-cs"/>
            </a:endParaRPr>
          </a:p>
          <a:p>
            <a:r>
              <a:rPr lang="en-IN" sz="1200" kern="1200" dirty="0" err="1">
                <a:solidFill>
                  <a:schemeClr val="tx1"/>
                </a:solidFill>
                <a:latin typeface="+mn-lt"/>
                <a:ea typeface="+mn-ea"/>
                <a:cs typeface="+mn-cs"/>
              </a:rPr>
              <a:t>useDepartmentSummary</a:t>
            </a:r>
            <a:endParaRPr lang="en-IN" sz="1200" kern="1200" dirty="0">
              <a:solidFill>
                <a:schemeClr val="tx1"/>
              </a:solidFill>
              <a:latin typeface="+mn-lt"/>
              <a:ea typeface="+mn-ea"/>
              <a:cs typeface="+mn-cs"/>
            </a:endParaRPr>
          </a:p>
          <a:p>
            <a:r>
              <a:rPr lang="en-IN" sz="1200" kern="1200" dirty="0" err="1">
                <a:solidFill>
                  <a:schemeClr val="tx1"/>
                </a:solidFill>
                <a:latin typeface="+mn-lt"/>
                <a:ea typeface="+mn-ea"/>
                <a:cs typeface="+mn-cs"/>
              </a:rPr>
              <a:t>useEmployeeFilters</a:t>
            </a:r>
            <a:endParaRPr lang="en-IN" sz="1200" kern="1200" dirty="0">
              <a:solidFill>
                <a:schemeClr val="tx1"/>
              </a:solidFill>
              <a:latin typeface="+mn-lt"/>
              <a:ea typeface="+mn-ea"/>
              <a:cs typeface="+mn-cs"/>
            </a:endParaRPr>
          </a:p>
          <a:p>
            <a:r>
              <a:rPr lang="en-IN" sz="1200" kern="1200" dirty="0" err="1">
                <a:solidFill>
                  <a:schemeClr val="tx1"/>
                </a:solidFill>
                <a:latin typeface="+mn-lt"/>
                <a:ea typeface="+mn-ea"/>
                <a:cs typeface="+mn-cs"/>
              </a:rPr>
              <a:t>usePayRollFilters</a:t>
            </a:r>
            <a:endParaRPr lang="en-IN" sz="1200" kern="1200" dirty="0">
              <a:solidFill>
                <a:schemeClr val="tx1"/>
              </a:solidFill>
              <a:latin typeface="+mn-lt"/>
              <a:ea typeface="+mn-ea"/>
              <a:cs typeface="+mn-cs"/>
            </a:endParaRPr>
          </a:p>
          <a:p>
            <a:r>
              <a:rPr lang="en-IN" dirty="0"/>
              <a:t>and demonstrates advanced React practices beyond basic component development.</a:t>
            </a:r>
          </a:p>
          <a:p>
            <a:endParaRPr lang="en-IN" dirty="0"/>
          </a:p>
        </p:txBody>
      </p:sp>
      <p:sp>
        <p:nvSpPr>
          <p:cNvPr id="4" name="Slide Number Placeholder 3">
            <a:extLst>
              <a:ext uri="{FF2B5EF4-FFF2-40B4-BE49-F238E27FC236}">
                <a16:creationId xmlns:a16="http://schemas.microsoft.com/office/drawing/2014/main" id="{0530DE58-BC94-DC06-461B-4E669603407F}"/>
              </a:ext>
            </a:extLst>
          </p:cNvPr>
          <p:cNvSpPr>
            <a:spLocks noGrp="1"/>
          </p:cNvSpPr>
          <p:nvPr>
            <p:ph type="sldNum" sz="quarter" idx="5"/>
          </p:nvPr>
        </p:nvSpPr>
        <p:spPr/>
        <p:txBody>
          <a:bodyPr/>
          <a:lstStyle/>
          <a:p>
            <a:fld id="{F27E4F37-7821-48E6-91AC-01ECF9D61796}" type="slidenum">
              <a:rPr lang="en-IN" smtClean="0"/>
              <a:t>7</a:t>
            </a:fld>
            <a:endParaRPr lang="en-IN"/>
          </a:p>
        </p:txBody>
      </p:sp>
    </p:spTree>
    <p:extLst>
      <p:ext uri="{BB962C8B-B14F-4D97-AF65-F5344CB8AC3E}">
        <p14:creationId xmlns:p14="http://schemas.microsoft.com/office/powerpoint/2010/main" val="3863841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Slide 8: Custom Hooks &amp; Business Logic Reusability</a:t>
            </a:r>
          </a:p>
          <a:p>
            <a:r>
              <a:rPr lang="en-IN" b="1" dirty="0"/>
              <a:t>Title</a:t>
            </a:r>
          </a:p>
          <a:p>
            <a:r>
              <a:rPr lang="en-IN" b="1" dirty="0"/>
              <a:t>Custom Hooks for Reusable Business Logic</a:t>
            </a:r>
            <a:endParaRPr lang="en-IN" dirty="0"/>
          </a:p>
          <a:p>
            <a:br>
              <a:rPr lang="en-IN" dirty="0"/>
            </a:br>
            <a:endParaRPr lang="en-IN" dirty="0"/>
          </a:p>
          <a:p>
            <a:r>
              <a:rPr lang="en-IN" b="1" dirty="0"/>
              <a:t>Why Custom Hooks?</a:t>
            </a:r>
          </a:p>
          <a:p>
            <a:r>
              <a:rPr lang="en-IN" dirty="0"/>
              <a:t>Custom hooks were created to:</a:t>
            </a:r>
          </a:p>
          <a:p>
            <a:r>
              <a:rPr lang="en-IN" dirty="0"/>
              <a:t>Reuse business logic across components</a:t>
            </a:r>
          </a:p>
          <a:p>
            <a:r>
              <a:rPr lang="en-IN" dirty="0"/>
              <a:t>Keep UI components clean and focused</a:t>
            </a:r>
          </a:p>
          <a:p>
            <a:r>
              <a:rPr lang="en-IN" dirty="0"/>
              <a:t>Improve code readability</a:t>
            </a:r>
          </a:p>
          <a:p>
            <a:r>
              <a:rPr lang="en-IN" dirty="0"/>
              <a:t>Reduce code duplication</a:t>
            </a:r>
          </a:p>
          <a:p>
            <a:r>
              <a:rPr lang="en-IN" dirty="0"/>
              <a:t>Follow React best practices</a:t>
            </a:r>
          </a:p>
          <a:p>
            <a:br>
              <a:rPr lang="en-IN" dirty="0"/>
            </a:br>
            <a:endParaRPr lang="en-IN" dirty="0"/>
          </a:p>
          <a:p>
            <a:r>
              <a:rPr lang="en-IN" b="1" dirty="0"/>
              <a:t>Custom Hooks Implemented</a:t>
            </a:r>
          </a:p>
          <a:p>
            <a:r>
              <a:rPr lang="en-IN" dirty="0"/>
              <a:t>Located in:</a:t>
            </a:r>
          </a:p>
          <a:p>
            <a:r>
              <a:rPr lang="en-IN" sz="1200" kern="1200" dirty="0">
                <a:solidFill>
                  <a:schemeClr val="tx1"/>
                </a:solidFill>
                <a:latin typeface="+mn-lt"/>
                <a:ea typeface="+mn-ea"/>
                <a:cs typeface="+mn-cs"/>
              </a:rPr>
              <a:t>hooks/</a:t>
            </a:r>
          </a:p>
          <a:p>
            <a:r>
              <a:rPr lang="en-IN" dirty="0" err="1"/>
              <a:t>HookResponsibilityuseDashboardSummaryDashboard</a:t>
            </a:r>
            <a:r>
              <a:rPr lang="en-IN" dirty="0"/>
              <a:t> </a:t>
            </a:r>
            <a:r>
              <a:rPr lang="en-IN" dirty="0" err="1"/>
              <a:t>statisticsuseEmployeeFiltersEmployee</a:t>
            </a:r>
            <a:r>
              <a:rPr lang="en-IN" dirty="0"/>
              <a:t> </a:t>
            </a:r>
            <a:r>
              <a:rPr lang="en-IN" dirty="0" err="1"/>
              <a:t>filteringuseDepartmentSummaryDepartment</a:t>
            </a:r>
            <a:r>
              <a:rPr lang="en-IN" dirty="0"/>
              <a:t> </a:t>
            </a:r>
            <a:r>
              <a:rPr lang="en-IN" dirty="0" err="1"/>
              <a:t>analyticsuseAttendanceFilterAttendance</a:t>
            </a:r>
            <a:r>
              <a:rPr lang="en-IN" dirty="0"/>
              <a:t> </a:t>
            </a:r>
            <a:r>
              <a:rPr lang="en-IN" dirty="0" err="1"/>
              <a:t>filteringuseAttendanceDetailsFilterAttendance</a:t>
            </a:r>
            <a:r>
              <a:rPr lang="en-IN" dirty="0"/>
              <a:t> details </a:t>
            </a:r>
            <a:r>
              <a:rPr lang="en-IN" dirty="0" err="1"/>
              <a:t>filteringuseAttendanceSummaryAttendance</a:t>
            </a:r>
            <a:r>
              <a:rPr lang="en-IN" dirty="0"/>
              <a:t> </a:t>
            </a:r>
            <a:r>
              <a:rPr lang="en-IN" dirty="0" err="1"/>
              <a:t>statisticsusePayRollFiltersPayroll</a:t>
            </a:r>
            <a:r>
              <a:rPr lang="en-IN" dirty="0"/>
              <a:t> filtering</a:t>
            </a:r>
          </a:p>
          <a:p>
            <a:br>
              <a:rPr lang="en-IN" dirty="0"/>
            </a:br>
            <a:endParaRPr lang="en-IN" dirty="0"/>
          </a:p>
          <a:p>
            <a:r>
              <a:rPr lang="en-IN" b="1" dirty="0"/>
              <a:t>Architecture Flow</a:t>
            </a:r>
          </a:p>
          <a:p>
            <a:r>
              <a:rPr lang="en-IN" sz="1200" kern="1200" dirty="0">
                <a:solidFill>
                  <a:schemeClr val="tx1"/>
                </a:solidFill>
                <a:latin typeface="+mn-lt"/>
                <a:ea typeface="+mn-ea"/>
                <a:cs typeface="+mn-cs"/>
              </a:rPr>
              <a:t>UI Component</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Custom Hook</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Business Logic</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Processed Data</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Rendered UI</a:t>
            </a:r>
          </a:p>
          <a:p>
            <a:br>
              <a:rPr lang="en-IN" dirty="0"/>
            </a:br>
            <a:endParaRPr lang="en-IN" dirty="0"/>
          </a:p>
          <a:p>
            <a:r>
              <a:rPr lang="en-IN" b="1" dirty="0"/>
              <a:t>Example: Employee Filtering</a:t>
            </a:r>
          </a:p>
          <a:p>
            <a:r>
              <a:rPr lang="en-IN" b="1" dirty="0"/>
              <a:t>Before</a:t>
            </a:r>
          </a:p>
          <a:p>
            <a:r>
              <a:rPr lang="en-IN" sz="1200" kern="1200" dirty="0">
                <a:solidFill>
                  <a:schemeClr val="tx1"/>
                </a:solidFill>
                <a:latin typeface="+mn-lt"/>
                <a:ea typeface="+mn-ea"/>
                <a:cs typeface="+mn-cs"/>
              </a:rPr>
              <a:t>Employees Component</a:t>
            </a:r>
          </a:p>
          <a:p>
            <a:r>
              <a:rPr lang="en-IN" sz="1200" kern="1200" dirty="0">
                <a:solidFill>
                  <a:schemeClr val="tx1"/>
                </a:solidFill>
                <a:latin typeface="+mn-lt"/>
                <a:ea typeface="+mn-ea"/>
                <a:cs typeface="+mn-cs"/>
              </a:rPr>
              <a:t> ├─ UI Logic</a:t>
            </a:r>
          </a:p>
          <a:p>
            <a:r>
              <a:rPr lang="en-IN" sz="1200" kern="1200" dirty="0">
                <a:solidFill>
                  <a:schemeClr val="tx1"/>
                </a:solidFill>
                <a:latin typeface="+mn-lt"/>
                <a:ea typeface="+mn-ea"/>
                <a:cs typeface="+mn-cs"/>
              </a:rPr>
              <a:t> ├─ Filter Logic</a:t>
            </a:r>
          </a:p>
          <a:p>
            <a:r>
              <a:rPr lang="en-IN" sz="1200" kern="1200" dirty="0">
                <a:solidFill>
                  <a:schemeClr val="tx1"/>
                </a:solidFill>
                <a:latin typeface="+mn-lt"/>
                <a:ea typeface="+mn-ea"/>
                <a:cs typeface="+mn-cs"/>
              </a:rPr>
              <a:t> ├─ Search Logic</a:t>
            </a:r>
          </a:p>
          <a:p>
            <a:r>
              <a:rPr lang="en-IN" sz="1200" kern="1200" dirty="0">
                <a:solidFill>
                  <a:schemeClr val="tx1"/>
                </a:solidFill>
                <a:latin typeface="+mn-lt"/>
                <a:ea typeface="+mn-ea"/>
                <a:cs typeface="+mn-cs"/>
              </a:rPr>
              <a:t> ├─ Sorting Logic</a:t>
            </a:r>
          </a:p>
          <a:p>
            <a:r>
              <a:rPr lang="en-IN" sz="1200" kern="1200" dirty="0">
                <a:solidFill>
                  <a:schemeClr val="tx1"/>
                </a:solidFill>
                <a:latin typeface="+mn-lt"/>
                <a:ea typeface="+mn-ea"/>
                <a:cs typeface="+mn-cs"/>
              </a:rPr>
              <a:t> └─ Rendering Logic</a:t>
            </a:r>
          </a:p>
          <a:p>
            <a:r>
              <a:rPr lang="en-IN" dirty="0"/>
              <a:t>Result:</a:t>
            </a:r>
          </a:p>
          <a:p>
            <a:r>
              <a:rPr lang="en-IN" dirty="0"/>
              <a:t>Large component</a:t>
            </a:r>
          </a:p>
          <a:p>
            <a:r>
              <a:rPr lang="en-IN" dirty="0"/>
              <a:t>Hard to maintain</a:t>
            </a:r>
          </a:p>
          <a:p>
            <a:br>
              <a:rPr lang="en-IN" dirty="0"/>
            </a:br>
            <a:endParaRPr lang="en-IN" dirty="0"/>
          </a:p>
          <a:p>
            <a:r>
              <a:rPr lang="en-IN" b="1" dirty="0"/>
              <a:t>After</a:t>
            </a:r>
          </a:p>
          <a:p>
            <a:r>
              <a:rPr lang="en-IN" sz="1200" kern="1200" dirty="0">
                <a:solidFill>
                  <a:schemeClr val="tx1"/>
                </a:solidFill>
                <a:latin typeface="+mn-lt"/>
                <a:ea typeface="+mn-ea"/>
                <a:cs typeface="+mn-cs"/>
              </a:rPr>
              <a:t>Employees Component</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useEmployeeFilters</a:t>
            </a:r>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Filtered Employees</a:t>
            </a:r>
          </a:p>
          <a:p>
            <a:r>
              <a:rPr lang="en-IN" dirty="0"/>
              <a:t>Result:</a:t>
            </a:r>
          </a:p>
          <a:p>
            <a:r>
              <a:rPr lang="en-IN" dirty="0"/>
              <a:t>Cleaner component</a:t>
            </a:r>
          </a:p>
          <a:p>
            <a:r>
              <a:rPr lang="en-IN" dirty="0"/>
              <a:t>Better separation of concerns</a:t>
            </a:r>
          </a:p>
          <a:p>
            <a:r>
              <a:rPr lang="en-IN" dirty="0"/>
              <a:t>Reusable filtering logic</a:t>
            </a:r>
          </a:p>
          <a:p>
            <a:br>
              <a:rPr lang="en-IN" dirty="0"/>
            </a:br>
            <a:endParaRPr lang="en-IN" dirty="0"/>
          </a:p>
          <a:p>
            <a:r>
              <a:rPr lang="en-IN" b="1" dirty="0"/>
              <a:t>Real Project Example</a:t>
            </a:r>
          </a:p>
          <a:p>
            <a:r>
              <a:rPr lang="en-IN" sz="1200" kern="1200" dirty="0" err="1">
                <a:solidFill>
                  <a:schemeClr val="tx1"/>
                </a:solidFill>
                <a:latin typeface="+mn-lt"/>
                <a:ea typeface="+mn-ea"/>
                <a:cs typeface="+mn-cs"/>
              </a:rPr>
              <a:t>Employees.jsx</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useEmployeeFilters</a:t>
            </a:r>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Filtered Employee Data</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EmployeeTable.jsx</a:t>
            </a:r>
            <a:endParaRPr lang="en-IN" sz="1200" kern="1200" dirty="0">
              <a:solidFill>
                <a:schemeClr val="tx1"/>
              </a:solidFill>
              <a:latin typeface="+mn-lt"/>
              <a:ea typeface="+mn-ea"/>
              <a:cs typeface="+mn-cs"/>
            </a:endParaRPr>
          </a:p>
          <a:p>
            <a:br>
              <a:rPr lang="en-IN" dirty="0"/>
            </a:br>
            <a:endParaRPr lang="en-IN" dirty="0"/>
          </a:p>
          <a:p>
            <a:r>
              <a:rPr lang="en-IN" b="1" dirty="0"/>
              <a:t>Benefits Achieved</a:t>
            </a:r>
          </a:p>
          <a:p>
            <a:r>
              <a:rPr lang="en-IN" b="1" dirty="0"/>
              <a:t>Reusability</a:t>
            </a:r>
          </a:p>
          <a:p>
            <a:r>
              <a:rPr lang="en-IN" dirty="0"/>
              <a:t>Logic can be shared across components</a:t>
            </a:r>
          </a:p>
          <a:p>
            <a:r>
              <a:rPr lang="en-IN" b="1" dirty="0"/>
              <a:t>Maintainability</a:t>
            </a:r>
          </a:p>
          <a:p>
            <a:r>
              <a:rPr lang="en-IN" dirty="0"/>
              <a:t>Easier debugging and updates</a:t>
            </a:r>
          </a:p>
          <a:p>
            <a:r>
              <a:rPr lang="en-IN" b="1" dirty="0"/>
              <a:t>Clean Components</a:t>
            </a:r>
          </a:p>
          <a:p>
            <a:r>
              <a:rPr lang="en-IN" dirty="0"/>
              <a:t>UI code remains focused on presentation</a:t>
            </a:r>
          </a:p>
          <a:p>
            <a:r>
              <a:rPr lang="en-IN" b="1" dirty="0"/>
              <a:t>Scalability</a:t>
            </a:r>
          </a:p>
          <a:p>
            <a:r>
              <a:rPr lang="en-IN" dirty="0"/>
              <a:t>New filters can be added without modifying UI components</a:t>
            </a:r>
          </a:p>
          <a:p>
            <a:br>
              <a:rPr lang="en-IN" dirty="0"/>
            </a:br>
            <a:endParaRPr lang="en-IN" dirty="0"/>
          </a:p>
          <a:p>
            <a:r>
              <a:rPr lang="en-IN" b="1" dirty="0"/>
              <a:t>Key React Principle Followed</a:t>
            </a:r>
          </a:p>
          <a:p>
            <a:r>
              <a:rPr lang="en-IN" b="1" dirty="0"/>
              <a:t>Separation of Concerns</a:t>
            </a:r>
          </a:p>
          <a:p>
            <a:r>
              <a:rPr lang="en-IN" dirty="0" err="1"/>
              <a:t>LayerResponsibilityComponentsUI</a:t>
            </a:r>
            <a:r>
              <a:rPr lang="en-IN" dirty="0"/>
              <a:t> </a:t>
            </a:r>
            <a:r>
              <a:rPr lang="en-IN" dirty="0" err="1"/>
              <a:t>RenderingHooksBusiness</a:t>
            </a:r>
            <a:r>
              <a:rPr lang="en-IN" dirty="0"/>
              <a:t> </a:t>
            </a:r>
            <a:r>
              <a:rPr lang="en-IN" dirty="0" err="1"/>
              <a:t>LogicAPI</a:t>
            </a:r>
            <a:r>
              <a:rPr lang="en-IN" dirty="0"/>
              <a:t> </a:t>
            </a:r>
            <a:r>
              <a:rPr lang="en-IN" dirty="0" err="1"/>
              <a:t>LayerData</a:t>
            </a:r>
            <a:r>
              <a:rPr lang="en-IN" dirty="0"/>
              <a:t> </a:t>
            </a:r>
            <a:r>
              <a:rPr lang="en-IN" dirty="0" err="1"/>
              <a:t>RetrievalUtilsData</a:t>
            </a:r>
            <a:r>
              <a:rPr lang="en-IN" dirty="0"/>
              <a:t> Processing</a:t>
            </a:r>
          </a:p>
          <a:p>
            <a:br>
              <a:rPr lang="en-IN" dirty="0"/>
            </a:br>
            <a:endParaRPr lang="en-IN" dirty="0"/>
          </a:p>
          <a:p>
            <a:r>
              <a:rPr lang="en-IN" b="1" dirty="0"/>
              <a:t>Speaker Notes</a:t>
            </a:r>
          </a:p>
          <a:p>
            <a:r>
              <a:rPr lang="en-IN" dirty="0"/>
              <a:t>To improve maintainability and code reuse, business logic was extracted into custom hooks. Instead of embedding filtering and summary calculations directly inside components, hooks such as </a:t>
            </a:r>
            <a:r>
              <a:rPr lang="en-IN" dirty="0" err="1"/>
              <a:t>useEmployeeFilters</a:t>
            </a:r>
            <a:r>
              <a:rPr lang="en-IN" dirty="0"/>
              <a:t> and </a:t>
            </a:r>
            <a:r>
              <a:rPr lang="en-IN" dirty="0" err="1"/>
              <a:t>useDashboardSummary</a:t>
            </a:r>
            <a:r>
              <a:rPr lang="en-IN" dirty="0"/>
              <a:t> encapsulate the logic, making components simpler and easier to manage.</a:t>
            </a:r>
          </a:p>
          <a:p>
            <a:br>
              <a:rPr lang="en-IN" dirty="0"/>
            </a:br>
            <a:endParaRPr lang="en-IN" dirty="0"/>
          </a:p>
          <a:p>
            <a:r>
              <a:rPr lang="en-IN" b="1" dirty="0"/>
              <a:t>Visual Enhancement</a:t>
            </a:r>
          </a:p>
          <a:p>
            <a:r>
              <a:rPr lang="en-IN" dirty="0"/>
              <a:t>You can include a screenshot of:</a:t>
            </a:r>
          </a:p>
          <a:p>
            <a:r>
              <a:rPr lang="en-IN" dirty="0"/>
              <a:t>Employees page with filters</a:t>
            </a:r>
          </a:p>
          <a:p>
            <a:r>
              <a:rPr lang="en-IN" dirty="0"/>
              <a:t>Attendance page with filters</a:t>
            </a:r>
          </a:p>
          <a:p>
            <a:r>
              <a:rPr lang="en-IN" dirty="0"/>
              <a:t>Then add a caption:</a:t>
            </a:r>
          </a:p>
          <a:p>
            <a:r>
              <a:rPr lang="en-IN" b="1" dirty="0"/>
              <a:t>"Filtering functionality is powered by reusable custom hooks rather than component-level logic."</a:t>
            </a:r>
            <a:endParaRPr lang="en-IN" dirty="0"/>
          </a:p>
          <a:p>
            <a:r>
              <a:rPr lang="en-IN" dirty="0"/>
              <a:t>This demonstrates a professional React architecture.</a:t>
            </a:r>
          </a:p>
          <a:p>
            <a:endParaRPr lang="en-IN" dirty="0"/>
          </a:p>
        </p:txBody>
      </p:sp>
      <p:sp>
        <p:nvSpPr>
          <p:cNvPr id="4" name="Slide Number Placeholder 3"/>
          <p:cNvSpPr>
            <a:spLocks noGrp="1"/>
          </p:cNvSpPr>
          <p:nvPr>
            <p:ph type="sldNum" sz="quarter" idx="5"/>
          </p:nvPr>
        </p:nvSpPr>
        <p:spPr/>
        <p:txBody>
          <a:bodyPr/>
          <a:lstStyle/>
          <a:p>
            <a:fld id="{F27E4F37-7821-48E6-91AC-01ECF9D61796}" type="slidenum">
              <a:rPr lang="en-IN" smtClean="0"/>
              <a:t>8</a:t>
            </a:fld>
            <a:endParaRPr lang="en-IN"/>
          </a:p>
        </p:txBody>
      </p:sp>
    </p:spTree>
    <p:extLst>
      <p:ext uri="{BB962C8B-B14F-4D97-AF65-F5344CB8AC3E}">
        <p14:creationId xmlns:p14="http://schemas.microsoft.com/office/powerpoint/2010/main" val="40619132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E360F-4C0E-8FFC-0580-77237D883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920CB7-A70D-D162-8CC7-0087F823F4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13E1C7-9195-BF1F-FB9E-2E95F5FAB9BA}"/>
              </a:ext>
            </a:extLst>
          </p:cNvPr>
          <p:cNvSpPr>
            <a:spLocks noGrp="1"/>
          </p:cNvSpPr>
          <p:nvPr>
            <p:ph type="body" idx="1"/>
          </p:nvPr>
        </p:nvSpPr>
        <p:spPr/>
        <p:txBody>
          <a:bodyPr/>
          <a:lstStyle/>
          <a:p>
            <a:r>
              <a:rPr lang="en-US" b="1" dirty="0"/>
              <a:t>Slide 9: State Management &amp; Authentication</a:t>
            </a:r>
          </a:p>
          <a:p>
            <a:r>
              <a:rPr lang="en-US" b="1" dirty="0"/>
              <a:t>Title</a:t>
            </a:r>
          </a:p>
          <a:p>
            <a:r>
              <a:rPr lang="en-US" b="1" dirty="0"/>
              <a:t>State Management &amp; Authentication Flow</a:t>
            </a:r>
            <a:endParaRPr lang="en-US" dirty="0"/>
          </a:p>
          <a:p>
            <a:br>
              <a:rPr lang="en-US" dirty="0"/>
            </a:br>
            <a:endParaRPr lang="en-US" dirty="0"/>
          </a:p>
          <a:p>
            <a:r>
              <a:rPr lang="en-US" b="1" dirty="0"/>
              <a:t>Why Context API?</a:t>
            </a:r>
          </a:p>
          <a:p>
            <a:r>
              <a:rPr lang="en-US" dirty="0"/>
              <a:t>The application uses </a:t>
            </a:r>
            <a:r>
              <a:rPr lang="en-US" b="1" dirty="0"/>
              <a:t>React Context API</a:t>
            </a:r>
            <a:r>
              <a:rPr lang="en-US" dirty="0"/>
              <a:t> to manage authentication state globally.</a:t>
            </a:r>
          </a:p>
          <a:p>
            <a:r>
              <a:rPr lang="en-US" b="1" dirty="0"/>
              <a:t>Benefits</a:t>
            </a:r>
          </a:p>
          <a:p>
            <a:r>
              <a:rPr lang="en-US" dirty="0"/>
              <a:t>Avoids prop drilling</a:t>
            </a:r>
          </a:p>
          <a:p>
            <a:r>
              <a:rPr lang="en-US" dirty="0"/>
              <a:t>Centralized authentication management</a:t>
            </a:r>
          </a:p>
          <a:p>
            <a:r>
              <a:rPr lang="en-US" dirty="0"/>
              <a:t>Easy access across components</a:t>
            </a:r>
          </a:p>
          <a:p>
            <a:r>
              <a:rPr lang="en-US" dirty="0"/>
              <a:t>Lightweight solution for project requirements</a:t>
            </a:r>
          </a:p>
          <a:p>
            <a:br>
              <a:rPr lang="en-US" dirty="0"/>
            </a:br>
            <a:endParaRPr lang="en-US" dirty="0"/>
          </a:p>
          <a:p>
            <a:r>
              <a:rPr lang="en-US" b="1" dirty="0"/>
              <a:t>Authentication Files</a:t>
            </a:r>
          </a:p>
          <a:p>
            <a:r>
              <a:rPr lang="en-US" dirty="0"/>
              <a:t>Located in:</a:t>
            </a:r>
          </a:p>
          <a:p>
            <a:r>
              <a:rPr lang="en-US" sz="1200" kern="1200" dirty="0">
                <a:solidFill>
                  <a:schemeClr val="tx1"/>
                </a:solidFill>
                <a:latin typeface="+mn-lt"/>
                <a:ea typeface="+mn-ea"/>
                <a:cs typeface="+mn-cs"/>
              </a:rPr>
              <a:t>context/</a:t>
            </a:r>
          </a:p>
          <a:p>
            <a:r>
              <a:rPr lang="en-US" sz="1200" kern="1200" dirty="0">
                <a:solidFill>
                  <a:schemeClr val="tx1"/>
                </a:solidFill>
                <a:latin typeface="+mn-lt"/>
                <a:ea typeface="+mn-ea"/>
                <a:cs typeface="+mn-cs"/>
              </a:rPr>
              <a:t>├── AuthContext.js</a:t>
            </a: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AuthProvider.jsx</a:t>
            </a:r>
            <a:endParaRPr lang="en-US" sz="1200" kern="1200" dirty="0">
              <a:solidFill>
                <a:schemeClr val="tx1"/>
              </a:solidFill>
              <a:latin typeface="+mn-lt"/>
              <a:ea typeface="+mn-ea"/>
              <a:cs typeface="+mn-cs"/>
            </a:endParaRPr>
          </a:p>
          <a:p>
            <a:br>
              <a:rPr lang="en-US" dirty="0"/>
            </a:br>
            <a:endParaRPr lang="en-US" dirty="0"/>
          </a:p>
          <a:p>
            <a:r>
              <a:rPr lang="en-US" b="1" dirty="0"/>
              <a:t>Authentication Architecture</a:t>
            </a:r>
          </a:p>
          <a:p>
            <a:r>
              <a:rPr lang="en-US" sz="1200" kern="1200" dirty="0" err="1">
                <a:solidFill>
                  <a:schemeClr val="tx1"/>
                </a:solidFill>
                <a:latin typeface="+mn-lt"/>
                <a:ea typeface="+mn-ea"/>
                <a:cs typeface="+mn-cs"/>
              </a:rPr>
              <a:t>AuthProvider</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err="1">
                <a:solidFill>
                  <a:schemeClr val="tx1"/>
                </a:solidFill>
                <a:latin typeface="+mn-lt"/>
                <a:ea typeface="+mn-ea"/>
                <a:cs typeface="+mn-cs"/>
              </a:rPr>
              <a:t>AuthContext</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Application Components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Protected Routes</a:t>
            </a:r>
          </a:p>
          <a:p>
            <a:br>
              <a:rPr lang="en-US" dirty="0"/>
            </a:br>
            <a:endParaRPr lang="en-US" dirty="0"/>
          </a:p>
          <a:p>
            <a:r>
              <a:rPr lang="en-US" b="1" dirty="0"/>
              <a:t>Login Flow</a:t>
            </a:r>
          </a:p>
          <a:p>
            <a:r>
              <a:rPr lang="en-US" sz="1200" kern="1200" dirty="0">
                <a:solidFill>
                  <a:schemeClr val="tx1"/>
                </a:solidFill>
                <a:latin typeface="+mn-lt"/>
                <a:ea typeface="+mn-ea"/>
                <a:cs typeface="+mn-cs"/>
              </a:rPr>
              <a:t>User Login</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Validate Credentials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Update </a:t>
            </a:r>
            <a:r>
              <a:rPr lang="en-US" sz="1200" kern="1200" dirty="0" err="1">
                <a:solidFill>
                  <a:schemeClr val="tx1"/>
                </a:solidFill>
                <a:latin typeface="+mn-lt"/>
                <a:ea typeface="+mn-ea"/>
                <a:cs typeface="+mn-cs"/>
              </a:rPr>
              <a:t>AuthContext</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Authentication State = True</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Navigate to Dashboard</a:t>
            </a:r>
          </a:p>
          <a:p>
            <a:br>
              <a:rPr lang="en-US" dirty="0"/>
            </a:br>
            <a:endParaRPr lang="en-US" dirty="0"/>
          </a:p>
          <a:p>
            <a:r>
              <a:rPr lang="en-US" b="1" dirty="0"/>
              <a:t>Route Protection Flow</a:t>
            </a:r>
          </a:p>
          <a:p>
            <a:r>
              <a:rPr lang="en-US" sz="1200" kern="1200" dirty="0">
                <a:solidFill>
                  <a:schemeClr val="tx1"/>
                </a:solidFill>
                <a:latin typeface="+mn-lt"/>
                <a:ea typeface="+mn-ea"/>
                <a:cs typeface="+mn-cs"/>
              </a:rPr>
              <a:t>User Accesses Route</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ProtectedRoute</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Is User Logged In?</a:t>
            </a:r>
          </a:p>
          <a:p>
            <a:r>
              <a:rPr lang="en-US" sz="1200" kern="1200" dirty="0">
                <a:solidFill>
                  <a:schemeClr val="tx1"/>
                </a:solidFill>
                <a:latin typeface="+mn-lt"/>
                <a:ea typeface="+mn-ea"/>
                <a:cs typeface="+mn-cs"/>
              </a:rPr>
              <a:t>      │        │</a:t>
            </a:r>
          </a:p>
          <a:p>
            <a:r>
              <a:rPr lang="en-US" sz="1200" kern="1200" dirty="0">
                <a:solidFill>
                  <a:schemeClr val="tx1"/>
                </a:solidFill>
                <a:latin typeface="+mn-lt"/>
                <a:ea typeface="+mn-ea"/>
                <a:cs typeface="+mn-cs"/>
              </a:rPr>
              <a:t>     Yes       No</a:t>
            </a:r>
          </a:p>
          <a:p>
            <a:r>
              <a:rPr lang="en-US" sz="1200" kern="1200" dirty="0">
                <a:solidFill>
                  <a:schemeClr val="tx1"/>
                </a:solidFill>
                <a:latin typeface="+mn-lt"/>
                <a:ea typeface="+mn-ea"/>
                <a:cs typeface="+mn-cs"/>
              </a:rPr>
              <a:t>      │        │</a:t>
            </a:r>
          </a:p>
          <a:p>
            <a:r>
              <a:rPr lang="en-US" sz="1200" kern="1200" dirty="0">
                <a:solidFill>
                  <a:schemeClr val="tx1"/>
                </a:solidFill>
                <a:latin typeface="+mn-lt"/>
                <a:ea typeface="+mn-ea"/>
                <a:cs typeface="+mn-cs"/>
              </a:rPr>
              <a:t>      ▼        ▼</a:t>
            </a:r>
          </a:p>
          <a:p>
            <a:r>
              <a:rPr lang="en-US" sz="1200" kern="1200" dirty="0">
                <a:solidFill>
                  <a:schemeClr val="tx1"/>
                </a:solidFill>
                <a:latin typeface="+mn-lt"/>
                <a:ea typeface="+mn-ea"/>
                <a:cs typeface="+mn-cs"/>
              </a:rPr>
              <a:t> Render     Redirect</a:t>
            </a:r>
          </a:p>
          <a:p>
            <a:r>
              <a:rPr lang="en-US" sz="1200" kern="1200" dirty="0">
                <a:solidFill>
                  <a:schemeClr val="tx1"/>
                </a:solidFill>
                <a:latin typeface="+mn-lt"/>
                <a:ea typeface="+mn-ea"/>
                <a:cs typeface="+mn-cs"/>
              </a:rPr>
              <a:t>  Page      to Login</a:t>
            </a:r>
          </a:p>
          <a:p>
            <a:br>
              <a:rPr lang="en-US" dirty="0"/>
            </a:br>
            <a:endParaRPr lang="en-US" dirty="0"/>
          </a:p>
          <a:p>
            <a:r>
              <a:rPr lang="en-US" b="1" dirty="0"/>
              <a:t>Components Involved</a:t>
            </a:r>
          </a:p>
          <a:p>
            <a:r>
              <a:rPr lang="en-US" dirty="0" err="1"/>
              <a:t>ComponentResponsibilityLogin.jsxUser</a:t>
            </a:r>
            <a:r>
              <a:rPr lang="en-US" dirty="0"/>
              <a:t> </a:t>
            </a:r>
            <a:r>
              <a:rPr lang="en-US" dirty="0" err="1"/>
              <a:t>authenticationAuthProvider.jsxGlobal</a:t>
            </a:r>
            <a:r>
              <a:rPr lang="en-US" dirty="0"/>
              <a:t> auth </a:t>
            </a:r>
            <a:r>
              <a:rPr lang="en-US" dirty="0" err="1"/>
              <a:t>stateAuthContext.jsAuthentication</a:t>
            </a:r>
            <a:r>
              <a:rPr lang="en-US" dirty="0"/>
              <a:t> </a:t>
            </a:r>
            <a:r>
              <a:rPr lang="en-US" dirty="0" err="1"/>
              <a:t>contextProtectedRoute.jsxRoute</a:t>
            </a:r>
            <a:r>
              <a:rPr lang="en-US" dirty="0"/>
              <a:t> </a:t>
            </a:r>
            <a:r>
              <a:rPr lang="en-US" dirty="0" err="1"/>
              <a:t>protectionrouter.jsRoute</a:t>
            </a:r>
            <a:r>
              <a:rPr lang="en-US" dirty="0"/>
              <a:t> configuration</a:t>
            </a:r>
          </a:p>
          <a:p>
            <a:br>
              <a:rPr lang="en-US" dirty="0"/>
            </a:br>
            <a:endParaRPr lang="en-US" dirty="0"/>
          </a:p>
          <a:p>
            <a:r>
              <a:rPr lang="en-US" b="1" dirty="0"/>
              <a:t>Authentication Lifecycle</a:t>
            </a:r>
          </a:p>
          <a:p>
            <a:r>
              <a:rPr lang="en-US" sz="1200" kern="1200" dirty="0">
                <a:solidFill>
                  <a:schemeClr val="tx1"/>
                </a:solidFill>
                <a:latin typeface="+mn-lt"/>
                <a:ea typeface="+mn-ea"/>
                <a:cs typeface="+mn-cs"/>
              </a:rPr>
              <a:t>Login</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Auth Context Updated</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Protected Pages Accessible</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Logout</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Auth State Cleared</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Redirect to Login</a:t>
            </a:r>
          </a:p>
          <a:p>
            <a:br>
              <a:rPr lang="en-US" dirty="0"/>
            </a:br>
            <a:endParaRPr lang="en-US" dirty="0"/>
          </a:p>
          <a:p>
            <a:r>
              <a:rPr lang="en-US" b="1" dirty="0"/>
              <a:t>Benefits Achieved</a:t>
            </a:r>
          </a:p>
          <a:p>
            <a:r>
              <a:rPr lang="en-US" dirty="0"/>
              <a:t>✅ Centralized authentication logic</a:t>
            </a:r>
          </a:p>
          <a:p>
            <a:r>
              <a:rPr lang="en-US" dirty="0"/>
              <a:t>✅ Secure route access</a:t>
            </a:r>
          </a:p>
          <a:p>
            <a:r>
              <a:rPr lang="en-US" dirty="0"/>
              <a:t>✅ Improved user experience</a:t>
            </a:r>
          </a:p>
          <a:p>
            <a:r>
              <a:rPr lang="en-US" dirty="0"/>
              <a:t>✅ Reduced prop drilling</a:t>
            </a:r>
          </a:p>
          <a:p>
            <a:r>
              <a:rPr lang="en-US" dirty="0"/>
              <a:t>✅ Scalable architecture</a:t>
            </a:r>
          </a:p>
          <a:p>
            <a:br>
              <a:rPr lang="en-US" dirty="0"/>
            </a:br>
            <a:endParaRPr lang="en-US" dirty="0"/>
          </a:p>
          <a:p>
            <a:r>
              <a:rPr lang="en-US" b="1" dirty="0"/>
              <a:t>Speaker Notes</a:t>
            </a:r>
          </a:p>
          <a:p>
            <a:r>
              <a:rPr lang="en-US" dirty="0"/>
              <a:t>Authentication is managed using React Context API. The </a:t>
            </a:r>
            <a:r>
              <a:rPr lang="en-US" dirty="0" err="1"/>
              <a:t>AuthProvider</a:t>
            </a:r>
            <a:r>
              <a:rPr lang="en-US" dirty="0"/>
              <a:t> stores the user's authentication state and makes it available throughout the application. </a:t>
            </a:r>
            <a:r>
              <a:rPr lang="en-US" dirty="0" err="1"/>
              <a:t>ProtectedRoute</a:t>
            </a:r>
            <a:r>
              <a:rPr lang="en-US" dirty="0"/>
              <a:t> ensures that only authenticated users can access secured pages such as Dashboard, Employees, Departments, Attendance, and Payroll. This approach provides a clean and scalable authentication mechanism.</a:t>
            </a:r>
          </a:p>
          <a:p>
            <a:br>
              <a:rPr lang="en-US" dirty="0"/>
            </a:br>
            <a:endParaRPr lang="en-US" dirty="0"/>
          </a:p>
          <a:p>
            <a:r>
              <a:rPr lang="en-US" b="1" dirty="0"/>
              <a:t>Visual Suggestion</a:t>
            </a:r>
          </a:p>
          <a:p>
            <a:r>
              <a:rPr lang="en-US" dirty="0"/>
              <a:t>Include screenshots of:</a:t>
            </a:r>
          </a:p>
          <a:p>
            <a:r>
              <a:rPr lang="en-US" dirty="0"/>
              <a:t>Login Page</a:t>
            </a:r>
          </a:p>
          <a:p>
            <a:r>
              <a:rPr lang="en-US" dirty="0"/>
              <a:t>Dashboard after successful login</a:t>
            </a:r>
          </a:p>
          <a:p>
            <a:r>
              <a:rPr lang="en-US" dirty="0"/>
              <a:t>Connect them with an arrow labeled:</a:t>
            </a:r>
          </a:p>
          <a:p>
            <a:r>
              <a:rPr lang="en-US" b="1" dirty="0"/>
              <a:t>"Authentication via Context API"</a:t>
            </a:r>
            <a:endParaRPr lang="en-US" dirty="0"/>
          </a:p>
          <a:p>
            <a:r>
              <a:rPr lang="en-US" dirty="0"/>
              <a:t>This makes the flow easy for reviewers to understand at a glance.</a:t>
            </a:r>
          </a:p>
          <a:p>
            <a:br>
              <a:rPr lang="en-US" dirty="0"/>
            </a:br>
            <a:endParaRPr lang="en-US" dirty="0"/>
          </a:p>
          <a:p>
            <a:r>
              <a:rPr lang="en-US" b="1" dirty="0"/>
              <a:t>Slide 10: API Integration &amp; Data Flow</a:t>
            </a:r>
          </a:p>
          <a:p>
            <a:r>
              <a:rPr lang="en-US" dirty="0"/>
              <a:t>This is where we'll showcase your actual API layer:</a:t>
            </a:r>
          </a:p>
          <a:p>
            <a:r>
              <a:rPr lang="en-US" sz="1200" kern="1200" dirty="0" err="1">
                <a:solidFill>
                  <a:schemeClr val="tx1"/>
                </a:solidFill>
                <a:latin typeface="+mn-lt"/>
                <a:ea typeface="+mn-ea"/>
                <a:cs typeface="+mn-cs"/>
              </a:rPr>
              <a:t>api</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 employeeApi.js</a:t>
            </a:r>
          </a:p>
          <a:p>
            <a:r>
              <a:rPr lang="en-US" sz="1200" kern="1200" dirty="0">
                <a:solidFill>
                  <a:schemeClr val="tx1"/>
                </a:solidFill>
                <a:latin typeface="+mn-lt"/>
                <a:ea typeface="+mn-ea"/>
                <a:cs typeface="+mn-cs"/>
              </a:rPr>
              <a:t>├── departmentApi.js</a:t>
            </a:r>
          </a:p>
          <a:p>
            <a:r>
              <a:rPr lang="en-US" sz="1200" kern="1200" dirty="0">
                <a:solidFill>
                  <a:schemeClr val="tx1"/>
                </a:solidFill>
                <a:latin typeface="+mn-lt"/>
                <a:ea typeface="+mn-ea"/>
                <a:cs typeface="+mn-cs"/>
              </a:rPr>
              <a:t>└── attendanceApi.js</a:t>
            </a:r>
          </a:p>
          <a:p>
            <a:r>
              <a:rPr lang="en-US" dirty="0"/>
              <a:t>and explain how data moves from APIs → Hooks → Components → UI. This slide demonstrates separation of concerns and clean architecture.</a:t>
            </a:r>
          </a:p>
        </p:txBody>
      </p:sp>
      <p:sp>
        <p:nvSpPr>
          <p:cNvPr id="4" name="Slide Number Placeholder 3">
            <a:extLst>
              <a:ext uri="{FF2B5EF4-FFF2-40B4-BE49-F238E27FC236}">
                <a16:creationId xmlns:a16="http://schemas.microsoft.com/office/drawing/2014/main" id="{3C4BAF13-5746-2BF0-0BA5-CA0DE306C195}"/>
              </a:ext>
            </a:extLst>
          </p:cNvPr>
          <p:cNvSpPr>
            <a:spLocks noGrp="1"/>
          </p:cNvSpPr>
          <p:nvPr>
            <p:ph type="sldNum" sz="quarter" idx="5"/>
          </p:nvPr>
        </p:nvSpPr>
        <p:spPr/>
        <p:txBody>
          <a:bodyPr/>
          <a:lstStyle/>
          <a:p>
            <a:fld id="{F27E4F37-7821-48E6-91AC-01ECF9D61796}" type="slidenum">
              <a:rPr lang="en-IN" smtClean="0"/>
              <a:t>9</a:t>
            </a:fld>
            <a:endParaRPr lang="en-IN"/>
          </a:p>
        </p:txBody>
      </p:sp>
    </p:spTree>
    <p:extLst>
      <p:ext uri="{BB962C8B-B14F-4D97-AF65-F5344CB8AC3E}">
        <p14:creationId xmlns:p14="http://schemas.microsoft.com/office/powerpoint/2010/main" val="567704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F0C90-9AE5-35EC-1653-02A5F8BA4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F12D5-BE1C-49C2-23C5-6D1B6D36EC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7ADDBA-D327-1708-F763-F844B9CDBA9C}"/>
              </a:ext>
            </a:extLst>
          </p:cNvPr>
          <p:cNvSpPr>
            <a:spLocks noGrp="1"/>
          </p:cNvSpPr>
          <p:nvPr>
            <p:ph type="body" idx="1"/>
          </p:nvPr>
        </p:nvSpPr>
        <p:spPr/>
        <p:txBody>
          <a:bodyPr/>
          <a:lstStyle/>
          <a:p>
            <a:r>
              <a:rPr lang="en-IN" b="1" dirty="0"/>
              <a:t>Slide 10: API Integration &amp; Data Flow</a:t>
            </a:r>
          </a:p>
          <a:p>
            <a:r>
              <a:rPr lang="en-IN" b="1" dirty="0"/>
              <a:t>Title</a:t>
            </a:r>
          </a:p>
          <a:p>
            <a:r>
              <a:rPr lang="en-IN" b="1" dirty="0"/>
              <a:t>API Integration &amp; Data Flow Architecture</a:t>
            </a:r>
            <a:endParaRPr lang="en-IN" dirty="0"/>
          </a:p>
          <a:p>
            <a:br>
              <a:rPr lang="en-IN" dirty="0"/>
            </a:br>
            <a:endParaRPr lang="en-IN" dirty="0"/>
          </a:p>
          <a:p>
            <a:r>
              <a:rPr lang="en-IN" b="1" dirty="0"/>
              <a:t>API Layer</a:t>
            </a:r>
          </a:p>
          <a:p>
            <a:r>
              <a:rPr lang="en-IN" dirty="0"/>
              <a:t>The application follows a dedicated API layer approach to separate data access from UI components.</a:t>
            </a:r>
          </a:p>
          <a:p>
            <a:r>
              <a:rPr lang="en-IN" b="1" dirty="0"/>
              <a:t>API Files</a:t>
            </a:r>
          </a:p>
          <a:p>
            <a:r>
              <a:rPr lang="en-IN" sz="1200" kern="1200" dirty="0" err="1">
                <a:solidFill>
                  <a:schemeClr val="tx1"/>
                </a:solidFill>
                <a:latin typeface="+mn-lt"/>
                <a:ea typeface="+mn-ea"/>
                <a:cs typeface="+mn-cs"/>
              </a:rPr>
              <a:t>api</a:t>
            </a:r>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employeeApi.js</a:t>
            </a:r>
          </a:p>
          <a:p>
            <a:r>
              <a:rPr lang="en-IN" sz="1200" kern="1200" dirty="0">
                <a:solidFill>
                  <a:schemeClr val="tx1"/>
                </a:solidFill>
                <a:latin typeface="+mn-lt"/>
                <a:ea typeface="+mn-ea"/>
                <a:cs typeface="+mn-cs"/>
              </a:rPr>
              <a:t>├── departmentApi.js</a:t>
            </a:r>
          </a:p>
          <a:p>
            <a:r>
              <a:rPr lang="en-IN" sz="1200" kern="1200" dirty="0">
                <a:solidFill>
                  <a:schemeClr val="tx1"/>
                </a:solidFill>
                <a:latin typeface="+mn-lt"/>
                <a:ea typeface="+mn-ea"/>
                <a:cs typeface="+mn-cs"/>
              </a:rPr>
              <a:t>└── attendanceApi.js</a:t>
            </a:r>
          </a:p>
          <a:p>
            <a:br>
              <a:rPr lang="en-IN" dirty="0"/>
            </a:br>
            <a:endParaRPr lang="en-IN" dirty="0"/>
          </a:p>
          <a:p>
            <a:r>
              <a:rPr lang="en-IN" b="1" dirty="0"/>
              <a:t>Why Separate API Logic?</a:t>
            </a:r>
          </a:p>
          <a:p>
            <a:r>
              <a:rPr lang="en-IN" dirty="0"/>
              <a:t>Instead of calling APIs directly inside components:</a:t>
            </a:r>
          </a:p>
          <a:p>
            <a:r>
              <a:rPr lang="en-IN" dirty="0"/>
              <a:t>❌ Difficult to maintain</a:t>
            </a:r>
          </a:p>
          <a:p>
            <a:r>
              <a:rPr lang="en-IN" dirty="0"/>
              <a:t>❌ Repeated API calls</a:t>
            </a:r>
          </a:p>
          <a:p>
            <a:r>
              <a:rPr lang="en-IN" dirty="0"/>
              <a:t>❌ Tight coupling between UI and data layer</a:t>
            </a:r>
          </a:p>
          <a:p>
            <a:br>
              <a:rPr lang="en-IN" dirty="0"/>
            </a:br>
            <a:endParaRPr lang="en-IN" dirty="0"/>
          </a:p>
          <a:p>
            <a:r>
              <a:rPr lang="en-IN" dirty="0"/>
              <a:t>Using a dedicated API layer:</a:t>
            </a:r>
          </a:p>
          <a:p>
            <a:r>
              <a:rPr lang="en-IN" dirty="0"/>
              <a:t>✅ Cleaner code</a:t>
            </a:r>
          </a:p>
          <a:p>
            <a:r>
              <a:rPr lang="en-IN" dirty="0"/>
              <a:t>✅ Better maintainability</a:t>
            </a:r>
          </a:p>
          <a:p>
            <a:r>
              <a:rPr lang="en-IN" dirty="0"/>
              <a:t>✅ Easier debugging</a:t>
            </a:r>
          </a:p>
          <a:p>
            <a:r>
              <a:rPr lang="en-IN" dirty="0"/>
              <a:t>✅ Reusable API functions</a:t>
            </a:r>
          </a:p>
          <a:p>
            <a:br>
              <a:rPr lang="en-IN" dirty="0"/>
            </a:br>
            <a:endParaRPr lang="en-IN" dirty="0"/>
          </a:p>
          <a:p>
            <a:r>
              <a:rPr lang="en-IN" b="1" dirty="0"/>
              <a:t>Data Flow Architecture</a:t>
            </a:r>
          </a:p>
          <a:p>
            <a:r>
              <a:rPr lang="en-IN" sz="1200" kern="1200" dirty="0">
                <a:solidFill>
                  <a:schemeClr val="tx1"/>
                </a:solidFill>
                <a:latin typeface="+mn-lt"/>
                <a:ea typeface="+mn-ea"/>
                <a:cs typeface="+mn-cs"/>
              </a:rPr>
              <a:t>API Layer</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Custom Hooks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Components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Pages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User Interface</a:t>
            </a:r>
          </a:p>
          <a:p>
            <a:br>
              <a:rPr lang="en-IN" dirty="0"/>
            </a:br>
            <a:endParaRPr lang="en-IN" dirty="0"/>
          </a:p>
          <a:p>
            <a:r>
              <a:rPr lang="en-IN" b="1" dirty="0"/>
              <a:t>Real Project Example</a:t>
            </a:r>
          </a:p>
          <a:p>
            <a:r>
              <a:rPr lang="en-IN" b="1" dirty="0"/>
              <a:t>Employee Module</a:t>
            </a:r>
          </a:p>
          <a:p>
            <a:r>
              <a:rPr lang="en-IN" sz="1200" kern="1200" dirty="0">
                <a:solidFill>
                  <a:schemeClr val="tx1"/>
                </a:solidFill>
                <a:latin typeface="+mn-lt"/>
                <a:ea typeface="+mn-ea"/>
                <a:cs typeface="+mn-cs"/>
              </a:rPr>
              <a:t>employeeApi.js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useEmployeeFilters</a:t>
            </a:r>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EmployeeTable.jsx</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Employees.jsx</a:t>
            </a:r>
            <a:endParaRPr lang="en-IN" sz="1200" kern="1200" dirty="0">
              <a:solidFill>
                <a:schemeClr val="tx1"/>
              </a:solidFill>
              <a:latin typeface="+mn-lt"/>
              <a:ea typeface="+mn-ea"/>
              <a:cs typeface="+mn-cs"/>
            </a:endParaRPr>
          </a:p>
          <a:p>
            <a:br>
              <a:rPr lang="en-IN" dirty="0"/>
            </a:br>
            <a:endParaRPr lang="en-IN" dirty="0"/>
          </a:p>
          <a:p>
            <a:r>
              <a:rPr lang="en-IN" b="1" dirty="0"/>
              <a:t>Attendance Module</a:t>
            </a:r>
          </a:p>
          <a:p>
            <a:r>
              <a:rPr lang="en-IN" sz="1200" kern="1200" dirty="0">
                <a:solidFill>
                  <a:schemeClr val="tx1"/>
                </a:solidFill>
                <a:latin typeface="+mn-lt"/>
                <a:ea typeface="+mn-ea"/>
                <a:cs typeface="+mn-cs"/>
              </a:rPr>
              <a:t>attendanceApi.js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useAttendanceFilter</a:t>
            </a:r>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AttendanceTable.jsx</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Attendance.jsx</a:t>
            </a:r>
            <a:endParaRPr lang="en-IN" sz="1200" kern="1200" dirty="0">
              <a:solidFill>
                <a:schemeClr val="tx1"/>
              </a:solidFill>
              <a:latin typeface="+mn-lt"/>
              <a:ea typeface="+mn-ea"/>
              <a:cs typeface="+mn-cs"/>
            </a:endParaRPr>
          </a:p>
          <a:p>
            <a:br>
              <a:rPr lang="en-IN" dirty="0"/>
            </a:br>
            <a:endParaRPr lang="en-IN" dirty="0"/>
          </a:p>
          <a:p>
            <a:r>
              <a:rPr lang="en-IN" b="1" dirty="0"/>
              <a:t>Request Lifecycle</a:t>
            </a:r>
          </a:p>
          <a:p>
            <a:r>
              <a:rPr lang="en-IN" sz="1200" kern="1200" dirty="0">
                <a:solidFill>
                  <a:schemeClr val="tx1"/>
                </a:solidFill>
                <a:latin typeface="+mn-lt"/>
                <a:ea typeface="+mn-ea"/>
                <a:cs typeface="+mn-cs"/>
              </a:rPr>
              <a:t>User Opens Page</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Component Loads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Hook Calls API Function</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API Returns Data</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Data Processed</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UI Updated</a:t>
            </a:r>
          </a:p>
          <a:p>
            <a:br>
              <a:rPr lang="en-IN" dirty="0"/>
            </a:br>
            <a:endParaRPr lang="en-IN" dirty="0"/>
          </a:p>
          <a:p>
            <a:r>
              <a:rPr lang="en-IN" b="1" dirty="0"/>
              <a:t>Separation of Responsibilities</a:t>
            </a:r>
          </a:p>
          <a:p>
            <a:r>
              <a:rPr lang="en-IN" dirty="0" err="1"/>
              <a:t>LayerResponsibilityPagesUser</a:t>
            </a:r>
            <a:r>
              <a:rPr lang="en-IN" dirty="0"/>
              <a:t> </a:t>
            </a:r>
            <a:r>
              <a:rPr lang="en-IN" dirty="0" err="1"/>
              <a:t>interactionsComponentsUI</a:t>
            </a:r>
            <a:r>
              <a:rPr lang="en-IN" dirty="0"/>
              <a:t> </a:t>
            </a:r>
            <a:r>
              <a:rPr lang="en-IN" dirty="0" err="1"/>
              <a:t>renderingHooksBusiness</a:t>
            </a:r>
            <a:r>
              <a:rPr lang="en-IN" dirty="0"/>
              <a:t> </a:t>
            </a:r>
            <a:r>
              <a:rPr lang="en-IN" dirty="0" err="1"/>
              <a:t>logicAPI</a:t>
            </a:r>
            <a:r>
              <a:rPr lang="en-IN" dirty="0"/>
              <a:t> </a:t>
            </a:r>
            <a:r>
              <a:rPr lang="en-IN" dirty="0" err="1"/>
              <a:t>LayerData</a:t>
            </a:r>
            <a:r>
              <a:rPr lang="en-IN" dirty="0"/>
              <a:t> </a:t>
            </a:r>
            <a:r>
              <a:rPr lang="en-IN" dirty="0" err="1"/>
              <a:t>fetchingUtilsData</a:t>
            </a:r>
            <a:r>
              <a:rPr lang="en-IN" dirty="0"/>
              <a:t> transformation</a:t>
            </a:r>
          </a:p>
          <a:p>
            <a:br>
              <a:rPr lang="en-IN" dirty="0"/>
            </a:br>
            <a:endParaRPr lang="en-IN" dirty="0"/>
          </a:p>
          <a:p>
            <a:r>
              <a:rPr lang="en-IN" b="1" dirty="0"/>
              <a:t>Benefits Achieved</a:t>
            </a:r>
          </a:p>
          <a:p>
            <a:r>
              <a:rPr lang="en-IN" b="1" dirty="0"/>
              <a:t>Maintainability</a:t>
            </a:r>
          </a:p>
          <a:p>
            <a:r>
              <a:rPr lang="en-IN" dirty="0"/>
              <a:t>API changes affect only one layer</a:t>
            </a:r>
          </a:p>
          <a:p>
            <a:r>
              <a:rPr lang="en-IN" b="1" dirty="0"/>
              <a:t>Reusability</a:t>
            </a:r>
          </a:p>
          <a:p>
            <a:r>
              <a:rPr lang="en-IN" dirty="0"/>
              <a:t>Same API methods can be used in multiple components</a:t>
            </a:r>
          </a:p>
          <a:p>
            <a:r>
              <a:rPr lang="en-IN" b="1" dirty="0"/>
              <a:t>Scalability</a:t>
            </a:r>
          </a:p>
          <a:p>
            <a:r>
              <a:rPr lang="en-IN" dirty="0"/>
              <a:t>Easy to add new modules and endpoints</a:t>
            </a:r>
          </a:p>
          <a:p>
            <a:r>
              <a:rPr lang="en-IN" b="1" dirty="0"/>
              <a:t>Testability</a:t>
            </a:r>
          </a:p>
          <a:p>
            <a:r>
              <a:rPr lang="en-IN" dirty="0"/>
              <a:t>Business logic separated from UI</a:t>
            </a:r>
          </a:p>
          <a:p>
            <a:br>
              <a:rPr lang="en-IN" dirty="0"/>
            </a:br>
            <a:endParaRPr lang="en-IN" dirty="0"/>
          </a:p>
          <a:p>
            <a:r>
              <a:rPr lang="en-IN" b="1" dirty="0"/>
              <a:t>Speaker Notes</a:t>
            </a:r>
          </a:p>
          <a:p>
            <a:r>
              <a:rPr lang="en-IN" dirty="0"/>
              <a:t>The application uses a dedicated API layer to manage all data-related operations. Instead of fetching data directly inside components, API calls are centralized within separate files. Components consume processed data through custom hooks, resulting in a clean separation between presentation, business logic, and data access layers.</a:t>
            </a:r>
          </a:p>
          <a:p>
            <a:br>
              <a:rPr lang="en-IN" dirty="0"/>
            </a:br>
            <a:endParaRPr lang="en-IN" dirty="0"/>
          </a:p>
          <a:p>
            <a:r>
              <a:rPr lang="en-IN" b="1" dirty="0"/>
              <a:t>Visual Enhancement (Highly Recommended)</a:t>
            </a:r>
          </a:p>
          <a:p>
            <a:r>
              <a:rPr lang="en-IN" dirty="0"/>
              <a:t>Create a simple diagram:</a:t>
            </a:r>
          </a:p>
          <a:p>
            <a:r>
              <a:rPr lang="en-IN" sz="1200" kern="1200" dirty="0">
                <a:solidFill>
                  <a:schemeClr val="tx1"/>
                </a:solidFill>
                <a:latin typeface="+mn-lt"/>
                <a:ea typeface="+mn-ea"/>
                <a:cs typeface="+mn-cs"/>
              </a:rPr>
              <a:t>Employees Page</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EmployeeTable</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useEmployeeFilters</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employeeApi.js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Backend/Data Source</a:t>
            </a:r>
          </a:p>
          <a:p>
            <a:r>
              <a:rPr lang="en-IN" dirty="0"/>
              <a:t>This gives reviewers a clear picture of how data flows through your application.</a:t>
            </a:r>
          </a:p>
          <a:p>
            <a:br>
              <a:rPr lang="en-IN" dirty="0"/>
            </a:br>
            <a:endParaRPr lang="en-IN" dirty="0"/>
          </a:p>
          <a:p>
            <a:r>
              <a:rPr lang="en-IN" b="1" dirty="0"/>
              <a:t>Slide 11: Dashboard Module</a:t>
            </a:r>
          </a:p>
          <a:p>
            <a:r>
              <a:rPr lang="en-IN" dirty="0"/>
              <a:t>Now we start discussing the actual application features.</a:t>
            </a:r>
          </a:p>
          <a:p>
            <a:r>
              <a:rPr lang="en-IN" dirty="0"/>
              <a:t>This slide will showcase:</a:t>
            </a:r>
          </a:p>
          <a:p>
            <a:r>
              <a:rPr lang="en-IN" dirty="0"/>
              <a:t>Dashboard page</a:t>
            </a:r>
          </a:p>
          <a:p>
            <a:r>
              <a:rPr lang="en-IN" dirty="0"/>
              <a:t>Summary cards</a:t>
            </a:r>
          </a:p>
          <a:p>
            <a:r>
              <a:rPr lang="en-IN" dirty="0"/>
              <a:t>Statistics</a:t>
            </a:r>
          </a:p>
          <a:p>
            <a:r>
              <a:rPr lang="en-IN" sz="1200" kern="1200" dirty="0" err="1">
                <a:solidFill>
                  <a:schemeClr val="tx1"/>
                </a:solidFill>
                <a:latin typeface="+mn-lt"/>
                <a:ea typeface="+mn-ea"/>
                <a:cs typeface="+mn-cs"/>
              </a:rPr>
              <a:t>useDashboardSummary</a:t>
            </a:r>
            <a:endParaRPr lang="en-IN" dirty="0"/>
          </a:p>
          <a:p>
            <a:r>
              <a:rPr lang="en-IN" sz="1200" kern="1200" dirty="0" err="1">
                <a:solidFill>
                  <a:schemeClr val="tx1"/>
                </a:solidFill>
                <a:latin typeface="+mn-lt"/>
                <a:ea typeface="+mn-ea"/>
                <a:cs typeface="+mn-cs"/>
              </a:rPr>
              <a:t>StatCard</a:t>
            </a:r>
            <a:endParaRPr lang="en-IN" dirty="0"/>
          </a:p>
          <a:p>
            <a:r>
              <a:rPr lang="en-IN" dirty="0"/>
              <a:t>Overall system insights</a:t>
            </a:r>
          </a:p>
          <a:p>
            <a:r>
              <a:rPr lang="en-IN" dirty="0"/>
              <a:t>This is usually where you start inserting screenshots from the application.</a:t>
            </a:r>
          </a:p>
        </p:txBody>
      </p:sp>
      <p:sp>
        <p:nvSpPr>
          <p:cNvPr id="4" name="Slide Number Placeholder 3">
            <a:extLst>
              <a:ext uri="{FF2B5EF4-FFF2-40B4-BE49-F238E27FC236}">
                <a16:creationId xmlns:a16="http://schemas.microsoft.com/office/drawing/2014/main" id="{D303A120-67AF-8C86-9B6B-AF969965513F}"/>
              </a:ext>
            </a:extLst>
          </p:cNvPr>
          <p:cNvSpPr>
            <a:spLocks noGrp="1"/>
          </p:cNvSpPr>
          <p:nvPr>
            <p:ph type="sldNum" sz="quarter" idx="5"/>
          </p:nvPr>
        </p:nvSpPr>
        <p:spPr/>
        <p:txBody>
          <a:bodyPr/>
          <a:lstStyle/>
          <a:p>
            <a:fld id="{F27E4F37-7821-48E6-91AC-01ECF9D61796}" type="slidenum">
              <a:rPr lang="en-IN" smtClean="0"/>
              <a:t>10</a:t>
            </a:fld>
            <a:endParaRPr lang="en-IN"/>
          </a:p>
        </p:txBody>
      </p:sp>
    </p:spTree>
    <p:extLst>
      <p:ext uri="{BB962C8B-B14F-4D97-AF65-F5344CB8AC3E}">
        <p14:creationId xmlns:p14="http://schemas.microsoft.com/office/powerpoint/2010/main" val="2428391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3C852-B648-8B09-4D61-FE4484BB29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80239-F5C0-45CF-1B6F-1DCD20C03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619FD-8C68-1B77-422F-BA65E62CA0A1}"/>
              </a:ext>
            </a:extLst>
          </p:cNvPr>
          <p:cNvSpPr>
            <a:spLocks noGrp="1"/>
          </p:cNvSpPr>
          <p:nvPr>
            <p:ph type="body" idx="1"/>
          </p:nvPr>
        </p:nvSpPr>
        <p:spPr/>
        <p:txBody>
          <a:bodyPr/>
          <a:lstStyle/>
          <a:p>
            <a:r>
              <a:rPr lang="en-US" b="1" dirty="0"/>
              <a:t>Slide 11: Dashboard Module</a:t>
            </a:r>
          </a:p>
          <a:p>
            <a:r>
              <a:rPr lang="en-US" b="1" dirty="0"/>
              <a:t>Title</a:t>
            </a:r>
          </a:p>
          <a:p>
            <a:r>
              <a:rPr lang="en-US" b="1" dirty="0"/>
              <a:t>Dashboard Module</a:t>
            </a:r>
            <a:endParaRPr lang="en-US" dirty="0"/>
          </a:p>
          <a:p>
            <a:br>
              <a:rPr lang="en-US" dirty="0"/>
            </a:br>
            <a:endParaRPr lang="en-US" dirty="0"/>
          </a:p>
          <a:p>
            <a:r>
              <a:rPr lang="en-US" b="1" dirty="0"/>
              <a:t>Purpose</a:t>
            </a:r>
          </a:p>
          <a:p>
            <a:r>
              <a:rPr lang="en-US" dirty="0"/>
              <a:t>The Dashboard serves as the central overview page of the Employee Management System, providing quick access to key organizational insights.</a:t>
            </a:r>
          </a:p>
          <a:p>
            <a:br>
              <a:rPr lang="en-US" dirty="0"/>
            </a:br>
            <a:endParaRPr lang="en-US" dirty="0"/>
          </a:p>
          <a:p>
            <a:r>
              <a:rPr lang="en-US" b="1" dirty="0"/>
              <a:t>Key Features</a:t>
            </a:r>
          </a:p>
          <a:p>
            <a:r>
              <a:rPr lang="en-US" b="1" dirty="0"/>
              <a:t>Summary Statistics</a:t>
            </a:r>
          </a:p>
          <a:p>
            <a:r>
              <a:rPr lang="en-US" dirty="0"/>
              <a:t>Displays important metrics such as:</a:t>
            </a:r>
          </a:p>
          <a:p>
            <a:r>
              <a:rPr lang="en-US" dirty="0"/>
              <a:t>Total Employees</a:t>
            </a:r>
          </a:p>
          <a:p>
            <a:r>
              <a:rPr lang="en-US" dirty="0"/>
              <a:t>Total Departments</a:t>
            </a:r>
          </a:p>
          <a:p>
            <a:r>
              <a:rPr lang="en-US" dirty="0"/>
              <a:t>Attendance Overview</a:t>
            </a:r>
          </a:p>
          <a:p>
            <a:r>
              <a:rPr lang="en-US" dirty="0"/>
              <a:t>Payroll Summary</a:t>
            </a:r>
          </a:p>
          <a:p>
            <a:br>
              <a:rPr lang="en-US" dirty="0"/>
            </a:br>
            <a:endParaRPr lang="en-US" dirty="0"/>
          </a:p>
          <a:p>
            <a:r>
              <a:rPr lang="en-US" b="1" dirty="0"/>
              <a:t>Quick Insights</a:t>
            </a:r>
          </a:p>
          <a:p>
            <a:r>
              <a:rPr lang="en-US" dirty="0"/>
              <a:t>Provides users with:</a:t>
            </a:r>
          </a:p>
          <a:p>
            <a:r>
              <a:rPr lang="en-US" dirty="0"/>
              <a:t>Workforce overview</a:t>
            </a:r>
          </a:p>
          <a:p>
            <a:r>
              <a:rPr lang="en-US" dirty="0"/>
              <a:t>Department distribution</a:t>
            </a:r>
          </a:p>
          <a:p>
            <a:r>
              <a:rPr lang="en-US" dirty="0"/>
              <a:t>Attendance trends</a:t>
            </a:r>
          </a:p>
          <a:p>
            <a:r>
              <a:rPr lang="en-US" dirty="0"/>
              <a:t>Payroll-related statistics</a:t>
            </a:r>
          </a:p>
          <a:p>
            <a:br>
              <a:rPr lang="en-US" dirty="0"/>
            </a:br>
            <a:endParaRPr lang="en-US" dirty="0"/>
          </a:p>
          <a:p>
            <a:r>
              <a:rPr lang="en-US" b="1" dirty="0"/>
              <a:t>Components Used</a:t>
            </a:r>
          </a:p>
          <a:p>
            <a:r>
              <a:rPr lang="en-US" sz="1200" kern="1200" dirty="0" err="1">
                <a:solidFill>
                  <a:schemeClr val="tx1"/>
                </a:solidFill>
                <a:latin typeface="+mn-lt"/>
                <a:ea typeface="+mn-ea"/>
                <a:cs typeface="+mn-cs"/>
              </a:rPr>
              <a:t>Dashboard.jsx</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StatCard.jsx</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PayrollStatCard.jsx</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Header.jsx</a:t>
            </a:r>
            <a:endParaRPr lang="en-US" sz="1200" kern="1200" dirty="0">
              <a:solidFill>
                <a:schemeClr val="tx1"/>
              </a:solidFill>
              <a:latin typeface="+mn-lt"/>
              <a:ea typeface="+mn-ea"/>
              <a:cs typeface="+mn-cs"/>
            </a:endParaRPr>
          </a:p>
          <a:p>
            <a:br>
              <a:rPr lang="en-US" dirty="0"/>
            </a:br>
            <a:endParaRPr lang="en-US" dirty="0"/>
          </a:p>
          <a:p>
            <a:r>
              <a:rPr lang="en-US" b="1" dirty="0"/>
              <a:t>Custom Hook Integration</a:t>
            </a:r>
          </a:p>
          <a:p>
            <a:r>
              <a:rPr lang="en-US" sz="1200" kern="1200" dirty="0" err="1">
                <a:solidFill>
                  <a:schemeClr val="tx1"/>
                </a:solidFill>
                <a:latin typeface="+mn-lt"/>
                <a:ea typeface="+mn-ea"/>
                <a:cs typeface="+mn-cs"/>
              </a:rPr>
              <a:t>useDashboardSummary</a:t>
            </a:r>
            <a:r>
              <a:rPr lang="en-US" sz="1200" kern="1200" dirty="0">
                <a:solidFill>
                  <a:schemeClr val="tx1"/>
                </a:solidFill>
                <a:latin typeface="+mn-lt"/>
                <a:ea typeface="+mn-ea"/>
                <a:cs typeface="+mn-cs"/>
              </a:rPr>
              <a:t>()</a:t>
            </a:r>
          </a:p>
          <a:p>
            <a:r>
              <a:rPr lang="en-US" b="1" dirty="0"/>
              <a:t>Responsibilities</a:t>
            </a:r>
          </a:p>
          <a:p>
            <a:r>
              <a:rPr lang="en-US" dirty="0"/>
              <a:t>Calculate summary statistics</a:t>
            </a:r>
          </a:p>
          <a:p>
            <a:r>
              <a:rPr lang="en-US" dirty="0"/>
              <a:t>Aggregate employee information</a:t>
            </a:r>
          </a:p>
          <a:p>
            <a:r>
              <a:rPr lang="en-US" dirty="0"/>
              <a:t>Prepare dashboard metrics</a:t>
            </a:r>
          </a:p>
          <a:p>
            <a:r>
              <a:rPr lang="en-US" dirty="0"/>
              <a:t>Provide processed data to UI components</a:t>
            </a:r>
          </a:p>
          <a:p>
            <a:br>
              <a:rPr lang="en-US" dirty="0"/>
            </a:br>
            <a:endParaRPr lang="en-US" dirty="0"/>
          </a:p>
          <a:p>
            <a:r>
              <a:rPr lang="en-US" b="1" dirty="0"/>
              <a:t>Dashboard Architecture</a:t>
            </a:r>
          </a:p>
          <a:p>
            <a:r>
              <a:rPr lang="en-US" sz="1200" kern="1200" dirty="0">
                <a:solidFill>
                  <a:schemeClr val="tx1"/>
                </a:solidFill>
                <a:latin typeface="+mn-lt"/>
                <a:ea typeface="+mn-ea"/>
                <a:cs typeface="+mn-cs"/>
              </a:rPr>
              <a:t>Dashboard Page</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err="1">
                <a:solidFill>
                  <a:schemeClr val="tx1"/>
                </a:solidFill>
                <a:latin typeface="+mn-lt"/>
                <a:ea typeface="+mn-ea"/>
                <a:cs typeface="+mn-cs"/>
              </a:rPr>
              <a:t>useDashboardSummary</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Processed Statistics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err="1">
                <a:solidFill>
                  <a:schemeClr val="tx1"/>
                </a:solidFill>
                <a:latin typeface="+mn-lt"/>
                <a:ea typeface="+mn-ea"/>
                <a:cs typeface="+mn-cs"/>
              </a:rPr>
              <a:t>StatCard</a:t>
            </a:r>
            <a:r>
              <a:rPr lang="en-US" sz="1200" kern="1200" dirty="0">
                <a:solidFill>
                  <a:schemeClr val="tx1"/>
                </a:solidFill>
                <a:latin typeface="+mn-lt"/>
                <a:ea typeface="+mn-ea"/>
                <a:cs typeface="+mn-cs"/>
              </a:rPr>
              <a:t> Components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Dashboard UI</a:t>
            </a:r>
          </a:p>
          <a:p>
            <a:br>
              <a:rPr lang="en-US" dirty="0"/>
            </a:br>
            <a:endParaRPr lang="en-US" dirty="0"/>
          </a:p>
          <a:p>
            <a:r>
              <a:rPr lang="en-US" b="1" dirty="0"/>
              <a:t>Reusable Components Used</a:t>
            </a:r>
          </a:p>
          <a:p>
            <a:r>
              <a:rPr lang="en-US" dirty="0" err="1"/>
              <a:t>ComponentPurposeStatCardDisplay</a:t>
            </a:r>
            <a:r>
              <a:rPr lang="en-US" dirty="0"/>
              <a:t> key </a:t>
            </a:r>
            <a:r>
              <a:rPr lang="en-US" dirty="0" err="1"/>
              <a:t>metricsPayrollStatCardPayroll</a:t>
            </a:r>
            <a:r>
              <a:rPr lang="en-US" dirty="0"/>
              <a:t>-related </a:t>
            </a:r>
            <a:r>
              <a:rPr lang="en-US" dirty="0" err="1"/>
              <a:t>statisticsHeaderPage</a:t>
            </a:r>
            <a:r>
              <a:rPr lang="en-US" dirty="0"/>
              <a:t> </a:t>
            </a:r>
            <a:r>
              <a:rPr lang="en-US" dirty="0" err="1"/>
              <a:t>headerBreadcrumbNavigation</a:t>
            </a:r>
            <a:r>
              <a:rPr lang="en-US" dirty="0"/>
              <a:t> support</a:t>
            </a:r>
          </a:p>
          <a:p>
            <a:br>
              <a:rPr lang="en-US" dirty="0"/>
            </a:br>
            <a:endParaRPr lang="en-US" dirty="0"/>
          </a:p>
          <a:p>
            <a:r>
              <a:rPr lang="en-US" b="1" dirty="0"/>
              <a:t>Benefits</a:t>
            </a:r>
          </a:p>
          <a:p>
            <a:r>
              <a:rPr lang="en-US" dirty="0"/>
              <a:t>✅ Quick access to important information</a:t>
            </a:r>
          </a:p>
          <a:p>
            <a:r>
              <a:rPr lang="en-US" dirty="0"/>
              <a:t>✅ Improved user experience</a:t>
            </a:r>
          </a:p>
          <a:p>
            <a:r>
              <a:rPr lang="en-US" dirty="0"/>
              <a:t>✅ Centralized organizational overview</a:t>
            </a:r>
          </a:p>
          <a:p>
            <a:r>
              <a:rPr lang="en-US" dirty="0"/>
              <a:t>✅ Reusable dashboard widgets</a:t>
            </a:r>
          </a:p>
          <a:p>
            <a:br>
              <a:rPr lang="en-US" dirty="0"/>
            </a:br>
            <a:endParaRPr lang="en-US" dirty="0"/>
          </a:p>
          <a:p>
            <a:r>
              <a:rPr lang="en-US" b="1" dirty="0"/>
              <a:t>Suggested Screenshot</a:t>
            </a:r>
          </a:p>
          <a:p>
            <a:r>
              <a:rPr lang="en-US" dirty="0"/>
              <a:t>Insert a screenshot of your Dashboard page and label:</a:t>
            </a:r>
          </a:p>
          <a:p>
            <a:r>
              <a:rPr lang="en-US" sz="1200" kern="1200" dirty="0">
                <a:solidFill>
                  <a:schemeClr val="tx1"/>
                </a:solidFill>
                <a:latin typeface="+mn-lt"/>
                <a:ea typeface="+mn-ea"/>
                <a:cs typeface="+mn-cs"/>
              </a:rPr>
              <a:t>[Total Employees]</a:t>
            </a:r>
          </a:p>
          <a:p>
            <a:r>
              <a:rPr lang="en-US" sz="1200" kern="1200" dirty="0">
                <a:solidFill>
                  <a:schemeClr val="tx1"/>
                </a:solidFill>
                <a:latin typeface="+mn-lt"/>
                <a:ea typeface="+mn-ea"/>
                <a:cs typeface="+mn-cs"/>
              </a:rPr>
              <a:t>[Departments]</a:t>
            </a:r>
          </a:p>
          <a:p>
            <a:r>
              <a:rPr lang="en-US" sz="1200" kern="1200" dirty="0">
                <a:solidFill>
                  <a:schemeClr val="tx1"/>
                </a:solidFill>
                <a:latin typeface="+mn-lt"/>
                <a:ea typeface="+mn-ea"/>
                <a:cs typeface="+mn-cs"/>
              </a:rPr>
              <a:t>[Attendance]</a:t>
            </a:r>
          </a:p>
          <a:p>
            <a:r>
              <a:rPr lang="en-US" sz="1200" kern="1200" dirty="0">
                <a:solidFill>
                  <a:schemeClr val="tx1"/>
                </a:solidFill>
                <a:latin typeface="+mn-lt"/>
                <a:ea typeface="+mn-ea"/>
                <a:cs typeface="+mn-cs"/>
              </a:rPr>
              <a:t>[Payroll]</a:t>
            </a:r>
          </a:p>
          <a:p>
            <a:r>
              <a:rPr lang="en-US" dirty="0"/>
              <a:t>Add arrows pointing to each card and mention:</a:t>
            </a:r>
          </a:p>
          <a:p>
            <a:r>
              <a:rPr lang="en-US" b="1" dirty="0"/>
              <a:t>"All statistics are dynamically generated through reusable components and custom hooks."</a:t>
            </a:r>
            <a:endParaRPr lang="en-US" dirty="0"/>
          </a:p>
          <a:p>
            <a:br>
              <a:rPr lang="en-US" dirty="0"/>
            </a:br>
            <a:endParaRPr lang="en-US" dirty="0"/>
          </a:p>
          <a:p>
            <a:r>
              <a:rPr lang="en-US" b="1" dirty="0"/>
              <a:t>Speaker Notes</a:t>
            </a:r>
          </a:p>
          <a:p>
            <a:r>
              <a:rPr lang="en-US" dirty="0"/>
              <a:t>The Dashboard acts as the entry point after authentication and provides users with a consolidated view of organizational data. Summary statistics are generated using the </a:t>
            </a:r>
            <a:r>
              <a:rPr lang="en-US" dirty="0" err="1"/>
              <a:t>useDashboardSummary</a:t>
            </a:r>
            <a:r>
              <a:rPr lang="en-US" dirty="0"/>
              <a:t> custom hook and displayed through reusable </a:t>
            </a:r>
            <a:r>
              <a:rPr lang="en-US" dirty="0" err="1"/>
              <a:t>StatCard</a:t>
            </a:r>
            <a:r>
              <a:rPr lang="en-US" dirty="0"/>
              <a:t> components, ensuring consistency and maintainability.</a:t>
            </a:r>
          </a:p>
          <a:p>
            <a:br>
              <a:rPr lang="en-US" dirty="0"/>
            </a:br>
            <a:endParaRPr lang="en-US" dirty="0"/>
          </a:p>
          <a:p>
            <a:r>
              <a:rPr lang="en-US" b="1" dirty="0"/>
              <a:t>Slide 12: Employee Management Module</a:t>
            </a:r>
          </a:p>
          <a:p>
            <a:r>
              <a:rPr lang="en-US" dirty="0"/>
              <a:t>This is usually your largest module because it demonstrates:</a:t>
            </a:r>
          </a:p>
          <a:p>
            <a:r>
              <a:rPr lang="en-US" dirty="0"/>
              <a:t>Employee listing</a:t>
            </a:r>
          </a:p>
          <a:p>
            <a:r>
              <a:rPr lang="en-US" dirty="0"/>
              <a:t>Employee details</a:t>
            </a:r>
          </a:p>
          <a:p>
            <a:r>
              <a:rPr lang="en-US" dirty="0"/>
              <a:t>Filtering</a:t>
            </a:r>
          </a:p>
          <a:p>
            <a:r>
              <a:rPr lang="en-US" dirty="0"/>
              <a:t>Tables</a:t>
            </a:r>
          </a:p>
          <a:p>
            <a:r>
              <a:rPr lang="en-US" dirty="0"/>
              <a:t>Cards</a:t>
            </a:r>
          </a:p>
          <a:p>
            <a:r>
              <a:rPr lang="en-US" dirty="0"/>
              <a:t>API integration</a:t>
            </a:r>
          </a:p>
          <a:p>
            <a:r>
              <a:rPr lang="en-US" dirty="0"/>
              <a:t>Custom hooks</a:t>
            </a:r>
          </a:p>
          <a:p>
            <a:r>
              <a:rPr lang="en-US" dirty="0"/>
              <a:t>and it showcases most of the React concepts used in the project.</a:t>
            </a:r>
          </a:p>
        </p:txBody>
      </p:sp>
      <p:sp>
        <p:nvSpPr>
          <p:cNvPr id="4" name="Slide Number Placeholder 3">
            <a:extLst>
              <a:ext uri="{FF2B5EF4-FFF2-40B4-BE49-F238E27FC236}">
                <a16:creationId xmlns:a16="http://schemas.microsoft.com/office/drawing/2014/main" id="{72EB7558-1913-4E5F-F5FE-CE29A0773E15}"/>
              </a:ext>
            </a:extLst>
          </p:cNvPr>
          <p:cNvSpPr>
            <a:spLocks noGrp="1"/>
          </p:cNvSpPr>
          <p:nvPr>
            <p:ph type="sldNum" sz="quarter" idx="5"/>
          </p:nvPr>
        </p:nvSpPr>
        <p:spPr/>
        <p:txBody>
          <a:bodyPr/>
          <a:lstStyle/>
          <a:p>
            <a:fld id="{F27E4F37-7821-48E6-91AC-01ECF9D61796}" type="slidenum">
              <a:rPr lang="en-IN" smtClean="0"/>
              <a:t>11</a:t>
            </a:fld>
            <a:endParaRPr lang="en-IN"/>
          </a:p>
        </p:txBody>
      </p:sp>
    </p:spTree>
    <p:extLst>
      <p:ext uri="{BB962C8B-B14F-4D97-AF65-F5344CB8AC3E}">
        <p14:creationId xmlns:p14="http://schemas.microsoft.com/office/powerpoint/2010/main" val="21726286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57B05-C119-B020-CD22-273460F86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73665-2DBA-2FCA-41A0-9D917A60EC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092C34-033C-B03B-C97B-D25A3FD0D6BB}"/>
              </a:ext>
            </a:extLst>
          </p:cNvPr>
          <p:cNvSpPr>
            <a:spLocks noGrp="1"/>
          </p:cNvSpPr>
          <p:nvPr>
            <p:ph type="body" idx="1"/>
          </p:nvPr>
        </p:nvSpPr>
        <p:spPr/>
        <p:txBody>
          <a:bodyPr/>
          <a:lstStyle/>
          <a:p>
            <a:r>
              <a:rPr lang="en-IN" b="1" dirty="0"/>
              <a:t>Slide 12: Employee Management Module</a:t>
            </a:r>
          </a:p>
          <a:p>
            <a:r>
              <a:rPr lang="en-IN" b="1" dirty="0"/>
              <a:t>Title</a:t>
            </a:r>
          </a:p>
          <a:p>
            <a:r>
              <a:rPr lang="en-IN" b="1" dirty="0"/>
              <a:t>Employee Management Module</a:t>
            </a:r>
            <a:endParaRPr lang="en-IN" dirty="0"/>
          </a:p>
          <a:p>
            <a:br>
              <a:rPr lang="en-IN" dirty="0"/>
            </a:br>
            <a:endParaRPr lang="en-IN" dirty="0"/>
          </a:p>
          <a:p>
            <a:r>
              <a:rPr lang="en-IN" b="1" dirty="0"/>
              <a:t>Purpose</a:t>
            </a:r>
          </a:p>
          <a:p>
            <a:r>
              <a:rPr lang="en-IN" dirty="0"/>
              <a:t>The Employee module provides a centralized interface for managing and viewing employee information.</a:t>
            </a:r>
          </a:p>
          <a:p>
            <a:br>
              <a:rPr lang="en-IN" dirty="0"/>
            </a:br>
            <a:endParaRPr lang="en-IN" dirty="0"/>
          </a:p>
          <a:p>
            <a:r>
              <a:rPr lang="en-IN" b="1" dirty="0"/>
              <a:t>Key Features</a:t>
            </a:r>
          </a:p>
          <a:p>
            <a:r>
              <a:rPr lang="en-IN" b="1" dirty="0"/>
              <a:t>Employee Listing</a:t>
            </a:r>
          </a:p>
          <a:p>
            <a:r>
              <a:rPr lang="en-IN" dirty="0"/>
              <a:t>View all employees</a:t>
            </a:r>
          </a:p>
          <a:p>
            <a:r>
              <a:rPr lang="en-IN" dirty="0"/>
              <a:t>Organized tabular display</a:t>
            </a:r>
          </a:p>
          <a:p>
            <a:r>
              <a:rPr lang="en-IN" dirty="0"/>
              <a:t>Easy data access</a:t>
            </a:r>
          </a:p>
          <a:p>
            <a:r>
              <a:rPr lang="en-IN" b="1" dirty="0"/>
              <a:t>Employee Details</a:t>
            </a:r>
          </a:p>
          <a:p>
            <a:r>
              <a:rPr lang="en-IN" dirty="0"/>
              <a:t>Individual employee information</a:t>
            </a:r>
          </a:p>
          <a:p>
            <a:r>
              <a:rPr lang="en-IN" dirty="0"/>
              <a:t>Detailed employee view</a:t>
            </a:r>
          </a:p>
          <a:p>
            <a:r>
              <a:rPr lang="en-IN" b="1" dirty="0"/>
              <a:t>Search &amp; Filtering</a:t>
            </a:r>
          </a:p>
          <a:p>
            <a:r>
              <a:rPr lang="en-IN" dirty="0"/>
              <a:t>Filter employees efficiently</a:t>
            </a:r>
          </a:p>
          <a:p>
            <a:r>
              <a:rPr lang="en-IN" dirty="0"/>
              <a:t>Dynamic data updates</a:t>
            </a:r>
          </a:p>
          <a:p>
            <a:br>
              <a:rPr lang="en-IN" dirty="0"/>
            </a:br>
            <a:endParaRPr lang="en-IN" dirty="0"/>
          </a:p>
          <a:p>
            <a:r>
              <a:rPr lang="en-IN" b="1" dirty="0"/>
              <a:t>Files Involved</a:t>
            </a:r>
          </a:p>
          <a:p>
            <a:r>
              <a:rPr lang="en-IN" sz="1200" kern="1200" dirty="0">
                <a:solidFill>
                  <a:schemeClr val="tx1"/>
                </a:solidFill>
                <a:latin typeface="+mn-lt"/>
                <a:ea typeface="+mn-ea"/>
                <a:cs typeface="+mn-cs"/>
              </a:rPr>
              <a:t>pages/</a:t>
            </a: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Employees.jsx</a:t>
            </a:r>
            <a:endParaRPr lang="en-IN" sz="1200" kern="1200" dirty="0">
              <a:solidFill>
                <a:schemeClr val="tx1"/>
              </a:solidFill>
              <a:latin typeface="+mn-lt"/>
              <a:ea typeface="+mn-ea"/>
              <a:cs typeface="+mn-cs"/>
            </a:endParaRPr>
          </a:p>
          <a:p>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components/</a:t>
            </a: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EmployeeCard.jsx</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EmployeeDetails.jsx</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EmployeeTable.jsx</a:t>
            </a:r>
            <a:endParaRPr lang="en-IN" sz="1200" kern="1200" dirty="0">
              <a:solidFill>
                <a:schemeClr val="tx1"/>
              </a:solidFill>
              <a:latin typeface="+mn-lt"/>
              <a:ea typeface="+mn-ea"/>
              <a:cs typeface="+mn-cs"/>
            </a:endParaRPr>
          </a:p>
          <a:p>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hooks/</a:t>
            </a:r>
          </a:p>
          <a:p>
            <a:r>
              <a:rPr lang="en-IN" sz="1200" kern="1200" dirty="0">
                <a:solidFill>
                  <a:schemeClr val="tx1"/>
                </a:solidFill>
                <a:latin typeface="+mn-lt"/>
                <a:ea typeface="+mn-ea"/>
                <a:cs typeface="+mn-cs"/>
              </a:rPr>
              <a:t>└── useEmployeeFilters.js</a:t>
            </a:r>
          </a:p>
          <a:p>
            <a:endParaRPr lang="en-IN" sz="1200" kern="1200" dirty="0">
              <a:solidFill>
                <a:schemeClr val="tx1"/>
              </a:solidFill>
              <a:latin typeface="+mn-lt"/>
              <a:ea typeface="+mn-ea"/>
              <a:cs typeface="+mn-cs"/>
            </a:endParaRPr>
          </a:p>
          <a:p>
            <a:r>
              <a:rPr lang="en-IN" sz="1200" kern="1200" dirty="0" err="1">
                <a:solidFill>
                  <a:schemeClr val="tx1"/>
                </a:solidFill>
                <a:latin typeface="+mn-lt"/>
                <a:ea typeface="+mn-ea"/>
                <a:cs typeface="+mn-cs"/>
              </a:rPr>
              <a:t>api</a:t>
            </a:r>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employeeApi.js</a:t>
            </a:r>
          </a:p>
          <a:p>
            <a:br>
              <a:rPr lang="en-IN" dirty="0"/>
            </a:br>
            <a:endParaRPr lang="en-IN" dirty="0"/>
          </a:p>
          <a:p>
            <a:r>
              <a:rPr lang="en-IN" b="1" dirty="0"/>
              <a:t>Module Architecture</a:t>
            </a:r>
          </a:p>
          <a:p>
            <a:r>
              <a:rPr lang="en-IN" sz="1200" kern="1200" dirty="0" err="1">
                <a:solidFill>
                  <a:schemeClr val="tx1"/>
                </a:solidFill>
                <a:latin typeface="+mn-lt"/>
                <a:ea typeface="+mn-ea"/>
                <a:cs typeface="+mn-cs"/>
              </a:rPr>
              <a:t>Employees.jsx</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useEmployeeFilters</a:t>
            </a:r>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employeeApi.js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EmployeeTable.jsx</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EmployeeCard.jsx</a:t>
            </a:r>
            <a:endParaRPr lang="en-IN" sz="1200" kern="1200" dirty="0">
              <a:solidFill>
                <a:schemeClr val="tx1"/>
              </a:solidFill>
              <a:latin typeface="+mn-lt"/>
              <a:ea typeface="+mn-ea"/>
              <a:cs typeface="+mn-cs"/>
            </a:endParaRPr>
          </a:p>
          <a:p>
            <a:br>
              <a:rPr lang="en-IN" dirty="0"/>
            </a:br>
            <a:endParaRPr lang="en-IN" dirty="0"/>
          </a:p>
          <a:p>
            <a:r>
              <a:rPr lang="en-IN" b="1" dirty="0"/>
              <a:t>Reusable Components Used</a:t>
            </a:r>
          </a:p>
          <a:p>
            <a:r>
              <a:rPr lang="en-IN" dirty="0" err="1"/>
              <a:t>ComponentResponsibilityEmployeeTableDisplay</a:t>
            </a:r>
            <a:r>
              <a:rPr lang="en-IN" dirty="0"/>
              <a:t> employee </a:t>
            </a:r>
            <a:r>
              <a:rPr lang="en-IN" dirty="0" err="1"/>
              <a:t>recordsEmployeeCardEmployee</a:t>
            </a:r>
            <a:r>
              <a:rPr lang="en-IN" dirty="0"/>
              <a:t> summary </a:t>
            </a:r>
            <a:r>
              <a:rPr lang="en-IN" dirty="0" err="1"/>
              <a:t>informationEmployeeDetailsDetailed</a:t>
            </a:r>
            <a:r>
              <a:rPr lang="en-IN" dirty="0"/>
              <a:t> employee </a:t>
            </a:r>
            <a:r>
              <a:rPr lang="en-IN" dirty="0" err="1"/>
              <a:t>informationDataTableGeneric</a:t>
            </a:r>
            <a:r>
              <a:rPr lang="en-IN" dirty="0"/>
              <a:t> table </a:t>
            </a:r>
            <a:r>
              <a:rPr lang="en-IN" dirty="0" err="1"/>
              <a:t>renderingFiltersSearch</a:t>
            </a:r>
            <a:r>
              <a:rPr lang="en-IN" dirty="0"/>
              <a:t> and filtering</a:t>
            </a:r>
          </a:p>
          <a:p>
            <a:br>
              <a:rPr lang="en-IN" dirty="0"/>
            </a:br>
            <a:endParaRPr lang="en-IN" dirty="0"/>
          </a:p>
          <a:p>
            <a:r>
              <a:rPr lang="en-IN" b="1" dirty="0"/>
              <a:t>Data Flow</a:t>
            </a:r>
          </a:p>
          <a:p>
            <a:r>
              <a:rPr lang="en-IN" sz="1200" kern="1200" dirty="0">
                <a:solidFill>
                  <a:schemeClr val="tx1"/>
                </a:solidFill>
                <a:latin typeface="+mn-lt"/>
                <a:ea typeface="+mn-ea"/>
                <a:cs typeface="+mn-cs"/>
              </a:rPr>
              <a:t>Employee Data</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API Layer</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Custom Hook</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Filtered Data</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Employee Table</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User Interface</a:t>
            </a:r>
          </a:p>
          <a:p>
            <a:br>
              <a:rPr lang="en-IN" dirty="0"/>
            </a:br>
            <a:endParaRPr lang="en-IN" dirty="0"/>
          </a:p>
          <a:p>
            <a:r>
              <a:rPr lang="en-IN" b="1" dirty="0"/>
              <a:t>Custom Hook Usage</a:t>
            </a:r>
          </a:p>
          <a:p>
            <a:r>
              <a:rPr lang="en-IN" sz="1200" b="1" kern="1200" dirty="0" err="1">
                <a:solidFill>
                  <a:schemeClr val="tx1"/>
                </a:solidFill>
                <a:latin typeface="+mn-lt"/>
                <a:ea typeface="+mn-ea"/>
                <a:cs typeface="+mn-cs"/>
              </a:rPr>
              <a:t>useEmployeeFilters</a:t>
            </a:r>
            <a:r>
              <a:rPr lang="en-IN" sz="1200" b="1" kern="1200" dirty="0">
                <a:solidFill>
                  <a:schemeClr val="tx1"/>
                </a:solidFill>
                <a:latin typeface="+mn-lt"/>
                <a:ea typeface="+mn-ea"/>
                <a:cs typeface="+mn-cs"/>
              </a:rPr>
              <a:t>()</a:t>
            </a:r>
            <a:endParaRPr lang="en-IN" b="1" dirty="0"/>
          </a:p>
          <a:p>
            <a:r>
              <a:rPr lang="en-IN" dirty="0"/>
              <a:t>Responsibilities:</a:t>
            </a:r>
          </a:p>
          <a:p>
            <a:r>
              <a:rPr lang="en-IN" dirty="0"/>
              <a:t>Search employees</a:t>
            </a:r>
          </a:p>
          <a:p>
            <a:r>
              <a:rPr lang="en-IN" dirty="0"/>
              <a:t>Filter records</a:t>
            </a:r>
          </a:p>
          <a:p>
            <a:r>
              <a:rPr lang="en-IN" dirty="0"/>
              <a:t>Manage filtered state</a:t>
            </a:r>
          </a:p>
          <a:p>
            <a:r>
              <a:rPr lang="en-IN" dirty="0"/>
              <a:t>Improve component readability</a:t>
            </a:r>
          </a:p>
          <a:p>
            <a:br>
              <a:rPr lang="en-IN" dirty="0"/>
            </a:br>
            <a:endParaRPr lang="en-IN" dirty="0"/>
          </a:p>
          <a:p>
            <a:r>
              <a:rPr lang="en-IN" b="1" dirty="0"/>
              <a:t>Benefits Achieved</a:t>
            </a:r>
          </a:p>
          <a:p>
            <a:r>
              <a:rPr lang="en-IN" dirty="0"/>
              <a:t>✅ Efficient employee management</a:t>
            </a:r>
          </a:p>
          <a:p>
            <a:r>
              <a:rPr lang="en-IN" dirty="0"/>
              <a:t>✅ Reusable UI components</a:t>
            </a:r>
          </a:p>
          <a:p>
            <a:r>
              <a:rPr lang="en-IN" dirty="0"/>
              <a:t>✅ Cleaner business logic</a:t>
            </a:r>
          </a:p>
          <a:p>
            <a:r>
              <a:rPr lang="en-IN" dirty="0"/>
              <a:t>✅ Easy data filtering</a:t>
            </a:r>
          </a:p>
          <a:p>
            <a:r>
              <a:rPr lang="en-IN" dirty="0"/>
              <a:t>✅ Scalable architecture</a:t>
            </a:r>
          </a:p>
          <a:p>
            <a:br>
              <a:rPr lang="en-IN" dirty="0"/>
            </a:br>
            <a:endParaRPr lang="en-IN" dirty="0"/>
          </a:p>
          <a:p>
            <a:r>
              <a:rPr lang="en-IN" b="1" dirty="0"/>
              <a:t>Suggested Screenshot Layout</a:t>
            </a:r>
          </a:p>
          <a:p>
            <a:r>
              <a:rPr lang="en-IN" dirty="0"/>
              <a:t>Insert:</a:t>
            </a:r>
          </a:p>
          <a:p>
            <a:r>
              <a:rPr lang="en-IN" b="1" dirty="0"/>
              <a:t>Left Side</a:t>
            </a:r>
          </a:p>
          <a:p>
            <a:r>
              <a:rPr lang="en-IN" dirty="0"/>
              <a:t>Employee List/Table</a:t>
            </a:r>
          </a:p>
          <a:p>
            <a:r>
              <a:rPr lang="en-IN" b="1" dirty="0"/>
              <a:t>Right Side</a:t>
            </a:r>
          </a:p>
          <a:p>
            <a:r>
              <a:rPr lang="en-IN" dirty="0"/>
              <a:t>Employee Detail Card</a:t>
            </a:r>
          </a:p>
          <a:p>
            <a:r>
              <a:rPr lang="en-IN" dirty="0"/>
              <a:t>Add labels:</a:t>
            </a:r>
          </a:p>
          <a:p>
            <a:r>
              <a:rPr lang="en-IN" sz="1200" kern="1200" dirty="0" err="1">
                <a:solidFill>
                  <a:schemeClr val="tx1"/>
                </a:solidFill>
                <a:latin typeface="+mn-lt"/>
                <a:ea typeface="+mn-ea"/>
                <a:cs typeface="+mn-cs"/>
              </a:rPr>
              <a:t>EmployeeTable</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err="1">
                <a:solidFill>
                  <a:schemeClr val="tx1"/>
                </a:solidFill>
                <a:latin typeface="+mn-lt"/>
                <a:ea typeface="+mn-ea"/>
                <a:cs typeface="+mn-cs"/>
              </a:rPr>
              <a:t>EmployeeDetails</a:t>
            </a:r>
            <a:endParaRPr lang="en-IN" sz="1200" kern="1200" dirty="0">
              <a:solidFill>
                <a:schemeClr val="tx1"/>
              </a:solidFill>
              <a:latin typeface="+mn-lt"/>
              <a:ea typeface="+mn-ea"/>
              <a:cs typeface="+mn-cs"/>
            </a:endParaRPr>
          </a:p>
          <a:p>
            <a:r>
              <a:rPr lang="en-IN" dirty="0"/>
              <a:t>This visually demonstrates component interaction.</a:t>
            </a:r>
          </a:p>
          <a:p>
            <a:br>
              <a:rPr lang="en-IN" dirty="0"/>
            </a:br>
            <a:endParaRPr lang="en-IN" dirty="0"/>
          </a:p>
          <a:p>
            <a:r>
              <a:rPr lang="en-IN" b="1" dirty="0"/>
              <a:t>Speaker Notes</a:t>
            </a:r>
          </a:p>
          <a:p>
            <a:r>
              <a:rPr lang="en-IN" dirty="0"/>
              <a:t>The Employee module provides employee listing, filtering, and detailed information display. Data is retrieved through the API layer and processed using the </a:t>
            </a:r>
            <a:r>
              <a:rPr lang="en-IN" dirty="0" err="1"/>
              <a:t>useEmployeeFilters</a:t>
            </a:r>
            <a:r>
              <a:rPr lang="en-IN" dirty="0"/>
              <a:t> custom hook. Reusable components such as </a:t>
            </a:r>
            <a:r>
              <a:rPr lang="en-IN" dirty="0" err="1"/>
              <a:t>EmployeeTable</a:t>
            </a:r>
            <a:r>
              <a:rPr lang="en-IN" dirty="0"/>
              <a:t> and </a:t>
            </a:r>
            <a:r>
              <a:rPr lang="en-IN" dirty="0" err="1"/>
              <a:t>EmployeeCard</a:t>
            </a:r>
            <a:r>
              <a:rPr lang="en-IN" dirty="0"/>
              <a:t> ensure consistency while reducing code duplication.</a:t>
            </a:r>
          </a:p>
          <a:p>
            <a:br>
              <a:rPr lang="en-IN" dirty="0"/>
            </a:br>
            <a:endParaRPr lang="en-IN" dirty="0"/>
          </a:p>
          <a:p>
            <a:r>
              <a:rPr lang="en-IN" b="1" dirty="0"/>
              <a:t>Slide 13: Department Management Module</a:t>
            </a:r>
          </a:p>
          <a:p>
            <a:r>
              <a:rPr lang="en-IN" dirty="0"/>
              <a:t>This slide will showcase:</a:t>
            </a:r>
          </a:p>
          <a:p>
            <a:r>
              <a:rPr lang="en-IN" dirty="0"/>
              <a:t>Departments page</a:t>
            </a:r>
          </a:p>
          <a:p>
            <a:r>
              <a:rPr lang="en-IN" dirty="0"/>
              <a:t>Department statistics</a:t>
            </a:r>
          </a:p>
          <a:p>
            <a:r>
              <a:rPr lang="en-IN" dirty="0"/>
              <a:t>Department details</a:t>
            </a:r>
          </a:p>
          <a:p>
            <a:r>
              <a:rPr lang="en-IN" dirty="0"/>
              <a:t>Department employee relationships</a:t>
            </a:r>
          </a:p>
          <a:p>
            <a:r>
              <a:rPr lang="en-IN" sz="1200" kern="1200" dirty="0" err="1">
                <a:solidFill>
                  <a:schemeClr val="tx1"/>
                </a:solidFill>
                <a:latin typeface="+mn-lt"/>
                <a:ea typeface="+mn-ea"/>
                <a:cs typeface="+mn-cs"/>
              </a:rPr>
              <a:t>useDepartmentSummary</a:t>
            </a:r>
            <a:r>
              <a:rPr lang="en-IN" sz="1200" kern="1200" dirty="0">
                <a:solidFill>
                  <a:schemeClr val="tx1"/>
                </a:solidFill>
                <a:latin typeface="+mn-lt"/>
                <a:ea typeface="+mn-ea"/>
                <a:cs typeface="+mn-cs"/>
              </a:rPr>
              <a:t>()</a:t>
            </a:r>
            <a:endParaRPr lang="en-IN" dirty="0"/>
          </a:p>
          <a:p>
            <a:r>
              <a:rPr lang="en-IN" dirty="0"/>
              <a:t>Department cards and tables</a:t>
            </a:r>
          </a:p>
          <a:p>
            <a:r>
              <a:rPr lang="en-IN" dirty="0"/>
              <a:t>This module is particularly useful because it demonstrates how your application handles related data across multiple entities.</a:t>
            </a:r>
          </a:p>
          <a:p>
            <a:endParaRPr lang="en-US" dirty="0"/>
          </a:p>
        </p:txBody>
      </p:sp>
      <p:sp>
        <p:nvSpPr>
          <p:cNvPr id="4" name="Slide Number Placeholder 3">
            <a:extLst>
              <a:ext uri="{FF2B5EF4-FFF2-40B4-BE49-F238E27FC236}">
                <a16:creationId xmlns:a16="http://schemas.microsoft.com/office/drawing/2014/main" id="{289A28A1-1294-8907-0B08-3769BDB84B18}"/>
              </a:ext>
            </a:extLst>
          </p:cNvPr>
          <p:cNvSpPr>
            <a:spLocks noGrp="1"/>
          </p:cNvSpPr>
          <p:nvPr>
            <p:ph type="sldNum" sz="quarter" idx="5"/>
          </p:nvPr>
        </p:nvSpPr>
        <p:spPr/>
        <p:txBody>
          <a:bodyPr/>
          <a:lstStyle/>
          <a:p>
            <a:fld id="{F27E4F37-7821-48E6-91AC-01ECF9D61796}" type="slidenum">
              <a:rPr lang="en-IN" smtClean="0"/>
              <a:t>12</a:t>
            </a:fld>
            <a:endParaRPr lang="en-IN"/>
          </a:p>
        </p:txBody>
      </p:sp>
    </p:spTree>
    <p:extLst>
      <p:ext uri="{BB962C8B-B14F-4D97-AF65-F5344CB8AC3E}">
        <p14:creationId xmlns:p14="http://schemas.microsoft.com/office/powerpoint/2010/main" val="1024678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887D6-9B9A-2EA0-18A9-DFA0C776F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876853-C776-1A77-5348-80C67B124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896432-F256-3984-74FE-57AAC54A909C}"/>
              </a:ext>
            </a:extLst>
          </p:cNvPr>
          <p:cNvSpPr>
            <a:spLocks noGrp="1"/>
          </p:cNvSpPr>
          <p:nvPr>
            <p:ph type="body" idx="1"/>
          </p:nvPr>
        </p:nvSpPr>
        <p:spPr/>
        <p:txBody>
          <a:bodyPr/>
          <a:lstStyle/>
          <a:p>
            <a:r>
              <a:rPr lang="en-US" b="1" dirty="0"/>
              <a:t>Slide 13: Department Management Module</a:t>
            </a:r>
          </a:p>
          <a:p>
            <a:r>
              <a:rPr lang="en-US" b="1" dirty="0"/>
              <a:t>Title</a:t>
            </a:r>
          </a:p>
          <a:p>
            <a:r>
              <a:rPr lang="en-US" b="1" dirty="0"/>
              <a:t>Department Management Module</a:t>
            </a:r>
            <a:endParaRPr lang="en-US" dirty="0"/>
          </a:p>
          <a:p>
            <a:br>
              <a:rPr lang="en-US" dirty="0"/>
            </a:br>
            <a:endParaRPr lang="en-US" dirty="0"/>
          </a:p>
          <a:p>
            <a:r>
              <a:rPr lang="en-US" b="1" dirty="0"/>
              <a:t>Purpose</a:t>
            </a:r>
          </a:p>
          <a:p>
            <a:r>
              <a:rPr lang="en-US" dirty="0"/>
              <a:t>The Department module helps organize employees into departments and provides department-level insights and statistics.</a:t>
            </a:r>
          </a:p>
          <a:p>
            <a:br>
              <a:rPr lang="en-US" dirty="0"/>
            </a:br>
            <a:endParaRPr lang="en-US" dirty="0"/>
          </a:p>
          <a:p>
            <a:r>
              <a:rPr lang="en-US" b="1" dirty="0"/>
              <a:t>Key Features</a:t>
            </a:r>
          </a:p>
          <a:p>
            <a:r>
              <a:rPr lang="en-US" b="1" dirty="0"/>
              <a:t>Department Listing</a:t>
            </a:r>
          </a:p>
          <a:p>
            <a:r>
              <a:rPr lang="en-US" dirty="0"/>
              <a:t>View all departments</a:t>
            </a:r>
          </a:p>
          <a:p>
            <a:r>
              <a:rPr lang="en-US" dirty="0"/>
              <a:t>Department-wise information</a:t>
            </a:r>
          </a:p>
          <a:p>
            <a:r>
              <a:rPr lang="en-US" dirty="0"/>
              <a:t>Structured data display</a:t>
            </a:r>
          </a:p>
          <a:p>
            <a:r>
              <a:rPr lang="en-US" b="1" dirty="0"/>
              <a:t>Department Details</a:t>
            </a:r>
          </a:p>
          <a:p>
            <a:r>
              <a:rPr lang="en-US" dirty="0"/>
              <a:t>Detailed department information</a:t>
            </a:r>
          </a:p>
          <a:p>
            <a:r>
              <a:rPr lang="en-US" dirty="0"/>
              <a:t>Employee count per department</a:t>
            </a:r>
          </a:p>
          <a:p>
            <a:r>
              <a:rPr lang="en-US" dirty="0"/>
              <a:t>Department statistics</a:t>
            </a:r>
          </a:p>
          <a:p>
            <a:r>
              <a:rPr lang="en-US" b="1" dirty="0"/>
              <a:t>Department Employees</a:t>
            </a:r>
          </a:p>
          <a:p>
            <a:r>
              <a:rPr lang="en-US" dirty="0"/>
              <a:t>View employees belonging to a department</a:t>
            </a:r>
          </a:p>
          <a:p>
            <a:r>
              <a:rPr lang="en-US" dirty="0"/>
              <a:t>Better organizational visibility</a:t>
            </a:r>
          </a:p>
          <a:p>
            <a:br>
              <a:rPr lang="en-US" dirty="0"/>
            </a:br>
            <a:endParaRPr lang="en-US" dirty="0"/>
          </a:p>
          <a:p>
            <a:r>
              <a:rPr lang="en-US" b="1" dirty="0"/>
              <a:t>Files Involved</a:t>
            </a:r>
          </a:p>
          <a:p>
            <a:r>
              <a:rPr lang="en-US" sz="1200" kern="1200" dirty="0">
                <a:solidFill>
                  <a:schemeClr val="tx1"/>
                </a:solidFill>
                <a:latin typeface="+mn-lt"/>
                <a:ea typeface="+mn-ea"/>
                <a:cs typeface="+mn-cs"/>
              </a:rPr>
              <a:t>pages/</a:t>
            </a: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Departments.jsx</a:t>
            </a:r>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components/</a:t>
            </a: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DepartmentCard.jsx</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DepartmentDetails.jsx</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DepartmentDetailsTable.jsx</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DepartmentEmployeeCard.jsx</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DepartmentTable.jsx</a:t>
            </a:r>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hooks/</a:t>
            </a:r>
          </a:p>
          <a:p>
            <a:r>
              <a:rPr lang="en-US" sz="1200" kern="1200" dirty="0">
                <a:solidFill>
                  <a:schemeClr val="tx1"/>
                </a:solidFill>
                <a:latin typeface="+mn-lt"/>
                <a:ea typeface="+mn-ea"/>
                <a:cs typeface="+mn-cs"/>
              </a:rPr>
              <a:t>└── useDepartmentSummary.js</a:t>
            </a:r>
          </a:p>
          <a:p>
            <a:endParaRPr lang="en-US" sz="1200" kern="1200" dirty="0">
              <a:solidFill>
                <a:schemeClr val="tx1"/>
              </a:solidFill>
              <a:latin typeface="+mn-lt"/>
              <a:ea typeface="+mn-ea"/>
              <a:cs typeface="+mn-cs"/>
            </a:endParaRPr>
          </a:p>
          <a:p>
            <a:r>
              <a:rPr lang="en-US" sz="1200" kern="1200" dirty="0" err="1">
                <a:solidFill>
                  <a:schemeClr val="tx1"/>
                </a:solidFill>
                <a:latin typeface="+mn-lt"/>
                <a:ea typeface="+mn-ea"/>
                <a:cs typeface="+mn-cs"/>
              </a:rPr>
              <a:t>api</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 departmentApi.js</a:t>
            </a:r>
          </a:p>
          <a:p>
            <a:br>
              <a:rPr lang="en-US" dirty="0"/>
            </a:br>
            <a:endParaRPr lang="en-US" dirty="0"/>
          </a:p>
          <a:p>
            <a:r>
              <a:rPr lang="en-US" b="1" dirty="0"/>
              <a:t>Module Architecture</a:t>
            </a:r>
          </a:p>
          <a:p>
            <a:r>
              <a:rPr lang="en-US" sz="1200" kern="1200" dirty="0" err="1">
                <a:solidFill>
                  <a:schemeClr val="tx1"/>
                </a:solidFill>
                <a:latin typeface="+mn-lt"/>
                <a:ea typeface="+mn-ea"/>
                <a:cs typeface="+mn-cs"/>
              </a:rPr>
              <a:t>Departments.jsx</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err="1">
                <a:solidFill>
                  <a:schemeClr val="tx1"/>
                </a:solidFill>
                <a:latin typeface="+mn-lt"/>
                <a:ea typeface="+mn-ea"/>
                <a:cs typeface="+mn-cs"/>
              </a:rPr>
              <a:t>useDepartmentSummary</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departmentApi.js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err="1">
                <a:solidFill>
                  <a:schemeClr val="tx1"/>
                </a:solidFill>
                <a:latin typeface="+mn-lt"/>
                <a:ea typeface="+mn-ea"/>
                <a:cs typeface="+mn-cs"/>
              </a:rPr>
              <a:t>DepartmentTable</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err="1">
                <a:solidFill>
                  <a:schemeClr val="tx1"/>
                </a:solidFill>
                <a:latin typeface="+mn-lt"/>
                <a:ea typeface="+mn-ea"/>
                <a:cs typeface="+mn-cs"/>
              </a:rPr>
              <a:t>DepartmentDetails</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err="1">
                <a:solidFill>
                  <a:schemeClr val="tx1"/>
                </a:solidFill>
                <a:latin typeface="+mn-lt"/>
                <a:ea typeface="+mn-ea"/>
                <a:cs typeface="+mn-cs"/>
              </a:rPr>
              <a:t>DepartmentEmployeeCard</a:t>
            </a:r>
            <a:endParaRPr lang="en-US" sz="1200" kern="1200" dirty="0">
              <a:solidFill>
                <a:schemeClr val="tx1"/>
              </a:solidFill>
              <a:latin typeface="+mn-lt"/>
              <a:ea typeface="+mn-ea"/>
              <a:cs typeface="+mn-cs"/>
            </a:endParaRPr>
          </a:p>
          <a:p>
            <a:br>
              <a:rPr lang="en-US" dirty="0"/>
            </a:br>
            <a:endParaRPr lang="en-US" dirty="0"/>
          </a:p>
          <a:p>
            <a:r>
              <a:rPr lang="en-US" b="1" dirty="0"/>
              <a:t>Reusable Components Used</a:t>
            </a:r>
          </a:p>
          <a:p>
            <a:r>
              <a:rPr lang="en-US" dirty="0" err="1"/>
              <a:t>ComponentPurposeDepartmentCardDepartment</a:t>
            </a:r>
            <a:r>
              <a:rPr lang="en-US" dirty="0"/>
              <a:t> </a:t>
            </a:r>
            <a:r>
              <a:rPr lang="en-US" dirty="0" err="1"/>
              <a:t>summaryDepartmentTableDepartment</a:t>
            </a:r>
            <a:r>
              <a:rPr lang="en-US" dirty="0"/>
              <a:t> </a:t>
            </a:r>
            <a:r>
              <a:rPr lang="en-US" dirty="0" err="1"/>
              <a:t>listingDepartmentDetailsDepartment</a:t>
            </a:r>
            <a:r>
              <a:rPr lang="en-US" dirty="0"/>
              <a:t> </a:t>
            </a:r>
            <a:r>
              <a:rPr lang="en-US" dirty="0" err="1"/>
              <a:t>informationDepartmentEmployeeCardEmployee</a:t>
            </a:r>
            <a:r>
              <a:rPr lang="en-US" dirty="0"/>
              <a:t> details within </a:t>
            </a:r>
            <a:r>
              <a:rPr lang="en-US" dirty="0" err="1"/>
              <a:t>departmentDataTableGeneric</a:t>
            </a:r>
            <a:r>
              <a:rPr lang="en-US" dirty="0"/>
              <a:t> data display</a:t>
            </a:r>
          </a:p>
          <a:p>
            <a:br>
              <a:rPr lang="en-US" dirty="0"/>
            </a:br>
            <a:endParaRPr lang="en-US" dirty="0"/>
          </a:p>
          <a:p>
            <a:r>
              <a:rPr lang="en-US" b="1" dirty="0"/>
              <a:t>Data Flow</a:t>
            </a:r>
          </a:p>
          <a:p>
            <a:r>
              <a:rPr lang="en-US" sz="1200" kern="1200" dirty="0">
                <a:solidFill>
                  <a:schemeClr val="tx1"/>
                </a:solidFill>
                <a:latin typeface="+mn-lt"/>
                <a:ea typeface="+mn-ea"/>
                <a:cs typeface="+mn-cs"/>
              </a:rPr>
              <a:t>Department Data</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departmentApi.js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err="1">
                <a:solidFill>
                  <a:schemeClr val="tx1"/>
                </a:solidFill>
                <a:latin typeface="+mn-lt"/>
                <a:ea typeface="+mn-ea"/>
                <a:cs typeface="+mn-cs"/>
              </a:rPr>
              <a:t>useDepartmentSummary</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Department Components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User Interface</a:t>
            </a:r>
          </a:p>
          <a:p>
            <a:br>
              <a:rPr lang="en-US" dirty="0"/>
            </a:br>
            <a:endParaRPr lang="en-US" dirty="0"/>
          </a:p>
          <a:p>
            <a:r>
              <a:rPr lang="en-US" b="1" dirty="0"/>
              <a:t>Custom Hook Usage</a:t>
            </a:r>
          </a:p>
          <a:p>
            <a:r>
              <a:rPr lang="en-US" sz="1200" b="1" kern="1200" dirty="0" err="1">
                <a:solidFill>
                  <a:schemeClr val="tx1"/>
                </a:solidFill>
                <a:latin typeface="+mn-lt"/>
                <a:ea typeface="+mn-ea"/>
                <a:cs typeface="+mn-cs"/>
              </a:rPr>
              <a:t>useDepartmentSummary</a:t>
            </a:r>
            <a:r>
              <a:rPr lang="en-US" sz="1200" b="1" kern="1200" dirty="0">
                <a:solidFill>
                  <a:schemeClr val="tx1"/>
                </a:solidFill>
                <a:latin typeface="+mn-lt"/>
                <a:ea typeface="+mn-ea"/>
                <a:cs typeface="+mn-cs"/>
              </a:rPr>
              <a:t>()</a:t>
            </a:r>
            <a:endParaRPr lang="en-US" b="1" dirty="0"/>
          </a:p>
          <a:p>
            <a:r>
              <a:rPr lang="en-US" dirty="0"/>
              <a:t>Responsibilities:</a:t>
            </a:r>
          </a:p>
          <a:p>
            <a:r>
              <a:rPr lang="en-US" dirty="0"/>
              <a:t>Calculate department statistics</a:t>
            </a:r>
          </a:p>
          <a:p>
            <a:r>
              <a:rPr lang="en-US" dirty="0"/>
              <a:t>Process department data</a:t>
            </a:r>
          </a:p>
          <a:p>
            <a:r>
              <a:rPr lang="en-US" dirty="0"/>
              <a:t>Generate summary information</a:t>
            </a:r>
          </a:p>
          <a:p>
            <a:r>
              <a:rPr lang="en-US" dirty="0"/>
              <a:t>Prepare dashboard metrics</a:t>
            </a:r>
          </a:p>
          <a:p>
            <a:br>
              <a:rPr lang="en-US" dirty="0"/>
            </a:br>
            <a:endParaRPr lang="en-US" dirty="0"/>
          </a:p>
          <a:p>
            <a:r>
              <a:rPr lang="en-US" b="1" dirty="0"/>
              <a:t>Benefits Achieved</a:t>
            </a:r>
          </a:p>
          <a:p>
            <a:r>
              <a:rPr lang="en-US" dirty="0"/>
              <a:t>✅ Organized department management</a:t>
            </a:r>
          </a:p>
          <a:p>
            <a:r>
              <a:rPr lang="en-US" dirty="0"/>
              <a:t>✅ Department-wise employee tracking</a:t>
            </a:r>
          </a:p>
          <a:p>
            <a:r>
              <a:rPr lang="en-US" dirty="0"/>
              <a:t>✅ Better workforce visibility</a:t>
            </a:r>
          </a:p>
          <a:p>
            <a:r>
              <a:rPr lang="en-US" dirty="0"/>
              <a:t>✅ Reusable architecture</a:t>
            </a:r>
          </a:p>
          <a:p>
            <a:r>
              <a:rPr lang="en-US" dirty="0"/>
              <a:t>✅ Simplified data analysis</a:t>
            </a:r>
          </a:p>
          <a:p>
            <a:br>
              <a:rPr lang="en-US" dirty="0"/>
            </a:br>
            <a:endParaRPr lang="en-US" dirty="0"/>
          </a:p>
          <a:p>
            <a:r>
              <a:rPr lang="en-US" b="1" dirty="0"/>
              <a:t>Suggested Screenshot Layout</a:t>
            </a:r>
          </a:p>
          <a:p>
            <a:r>
              <a:rPr lang="en-US" b="1" dirty="0"/>
              <a:t>Left Side</a:t>
            </a:r>
          </a:p>
          <a:p>
            <a:r>
              <a:rPr lang="en-US" dirty="0"/>
              <a:t>Department List/Table</a:t>
            </a:r>
          </a:p>
          <a:p>
            <a:r>
              <a:rPr lang="en-US" b="1" dirty="0"/>
              <a:t>Right Side</a:t>
            </a:r>
          </a:p>
          <a:p>
            <a:r>
              <a:rPr lang="en-US" dirty="0"/>
              <a:t>Department Details</a:t>
            </a:r>
          </a:p>
          <a:p>
            <a:r>
              <a:rPr lang="en-US" b="1" dirty="0"/>
              <a:t>Bottom</a:t>
            </a:r>
          </a:p>
          <a:p>
            <a:r>
              <a:rPr lang="en-US" dirty="0"/>
              <a:t>Employees within Selected Department</a:t>
            </a:r>
          </a:p>
          <a:p>
            <a:r>
              <a:rPr lang="en-US" dirty="0"/>
              <a:t>Example:</a:t>
            </a:r>
          </a:p>
          <a:p>
            <a:r>
              <a:rPr lang="en-US" sz="1200" kern="1200" dirty="0">
                <a:solidFill>
                  <a:schemeClr val="tx1"/>
                </a:solidFill>
                <a:latin typeface="+mn-lt"/>
                <a:ea typeface="+mn-ea"/>
                <a:cs typeface="+mn-cs"/>
              </a:rPr>
              <a:t>Departments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Department Details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Department Employees</a:t>
            </a:r>
          </a:p>
          <a:p>
            <a:r>
              <a:rPr lang="en-US" dirty="0"/>
              <a:t>This visually shows the relationship between departments and employees.</a:t>
            </a:r>
          </a:p>
          <a:p>
            <a:br>
              <a:rPr lang="en-US" dirty="0"/>
            </a:br>
            <a:endParaRPr lang="en-US" dirty="0"/>
          </a:p>
          <a:p>
            <a:r>
              <a:rPr lang="en-US" b="1" dirty="0"/>
              <a:t>Speaker Notes</a:t>
            </a:r>
          </a:p>
          <a:p>
            <a:r>
              <a:rPr lang="en-US" dirty="0"/>
              <a:t>The Department module provides a structured view of organizational departments and their employees. It leverages reusable components and the </a:t>
            </a:r>
            <a:r>
              <a:rPr lang="en-US" dirty="0" err="1"/>
              <a:t>useDepartmentSummary</a:t>
            </a:r>
            <a:r>
              <a:rPr lang="en-US" dirty="0"/>
              <a:t> hook to present department-level statistics and employee distribution. This helps users understand organizational structure and workforce allocation.</a:t>
            </a:r>
          </a:p>
          <a:p>
            <a:br>
              <a:rPr lang="en-US" dirty="0"/>
            </a:br>
            <a:endParaRPr lang="en-US" dirty="0"/>
          </a:p>
          <a:p>
            <a:r>
              <a:rPr lang="en-US" b="1" dirty="0"/>
              <a:t>Slide 14: Attendance Management Module</a:t>
            </a:r>
          </a:p>
          <a:p>
            <a:r>
              <a:rPr lang="en-US" dirty="0"/>
              <a:t>This is another strong feature module because it showcases:</a:t>
            </a:r>
          </a:p>
          <a:p>
            <a:r>
              <a:rPr lang="en-US" dirty="0"/>
              <a:t>Attendance records</a:t>
            </a:r>
          </a:p>
          <a:p>
            <a:r>
              <a:rPr lang="en-US" dirty="0"/>
              <a:t>Attendance details</a:t>
            </a:r>
          </a:p>
          <a:p>
            <a:r>
              <a:rPr lang="en-US" dirty="0"/>
              <a:t>Monthly attendance summaries</a:t>
            </a:r>
          </a:p>
          <a:p>
            <a:r>
              <a:rPr lang="en-US" dirty="0"/>
              <a:t>Attendance analytics</a:t>
            </a:r>
          </a:p>
          <a:p>
            <a:r>
              <a:rPr lang="en-US" dirty="0"/>
              <a:t>Multiple custom hooks</a:t>
            </a:r>
          </a:p>
          <a:p>
            <a:r>
              <a:rPr lang="en-US" dirty="0"/>
              <a:t>Multiple reusable components</a:t>
            </a:r>
          </a:p>
          <a:p>
            <a:r>
              <a:rPr lang="en-US" dirty="0"/>
              <a:t>In fact, based on your folder structure, the Attendance module appears to be one of the most feature-rich sections of the application.</a:t>
            </a:r>
          </a:p>
          <a:p>
            <a:endParaRPr lang="en-US" dirty="0"/>
          </a:p>
        </p:txBody>
      </p:sp>
      <p:sp>
        <p:nvSpPr>
          <p:cNvPr id="4" name="Slide Number Placeholder 3">
            <a:extLst>
              <a:ext uri="{FF2B5EF4-FFF2-40B4-BE49-F238E27FC236}">
                <a16:creationId xmlns:a16="http://schemas.microsoft.com/office/drawing/2014/main" id="{617B68C6-F9BB-E831-FFE6-FF1E1C605B6A}"/>
              </a:ext>
            </a:extLst>
          </p:cNvPr>
          <p:cNvSpPr>
            <a:spLocks noGrp="1"/>
          </p:cNvSpPr>
          <p:nvPr>
            <p:ph type="sldNum" sz="quarter" idx="5"/>
          </p:nvPr>
        </p:nvSpPr>
        <p:spPr/>
        <p:txBody>
          <a:bodyPr/>
          <a:lstStyle/>
          <a:p>
            <a:fld id="{F27E4F37-7821-48E6-91AC-01ECF9D61796}" type="slidenum">
              <a:rPr lang="en-IN" smtClean="0"/>
              <a:t>13</a:t>
            </a:fld>
            <a:endParaRPr lang="en-IN"/>
          </a:p>
        </p:txBody>
      </p:sp>
    </p:spTree>
    <p:extLst>
      <p:ext uri="{BB962C8B-B14F-4D97-AF65-F5344CB8AC3E}">
        <p14:creationId xmlns:p14="http://schemas.microsoft.com/office/powerpoint/2010/main" val="6571657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2BFBF-C944-401C-3CC4-4AC4D0F7F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6EAA6-01B4-BC1B-D6F1-38392309C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278EA6-2287-51AB-081E-F1B68086DAC0}"/>
              </a:ext>
            </a:extLst>
          </p:cNvPr>
          <p:cNvSpPr>
            <a:spLocks noGrp="1"/>
          </p:cNvSpPr>
          <p:nvPr>
            <p:ph type="body" idx="1"/>
          </p:nvPr>
        </p:nvSpPr>
        <p:spPr/>
        <p:txBody>
          <a:bodyPr/>
          <a:lstStyle/>
          <a:p>
            <a:r>
              <a:rPr lang="en-IN" b="1" dirty="0"/>
              <a:t>Slide 14: Attendance Management Module</a:t>
            </a:r>
          </a:p>
          <a:p>
            <a:r>
              <a:rPr lang="en-IN" b="1" dirty="0"/>
              <a:t>Title</a:t>
            </a:r>
          </a:p>
          <a:p>
            <a:r>
              <a:rPr lang="en-IN" b="1" dirty="0"/>
              <a:t>Attendance Management Module</a:t>
            </a:r>
            <a:endParaRPr lang="en-IN" dirty="0"/>
          </a:p>
          <a:p>
            <a:br>
              <a:rPr lang="en-IN" dirty="0"/>
            </a:br>
            <a:endParaRPr lang="en-IN" dirty="0"/>
          </a:p>
          <a:p>
            <a:r>
              <a:rPr lang="en-IN" b="1" dirty="0"/>
              <a:t>Purpose</a:t>
            </a:r>
          </a:p>
          <a:p>
            <a:r>
              <a:rPr lang="en-IN" dirty="0"/>
              <a:t>The Attendance module enables tracking, monitoring, and </a:t>
            </a:r>
            <a:r>
              <a:rPr lang="en-IN" dirty="0" err="1"/>
              <a:t>analyzing</a:t>
            </a:r>
            <a:r>
              <a:rPr lang="en-IN" dirty="0"/>
              <a:t> employee attendance records.</a:t>
            </a:r>
          </a:p>
          <a:p>
            <a:br>
              <a:rPr lang="en-IN" dirty="0"/>
            </a:br>
            <a:endParaRPr lang="en-IN" dirty="0"/>
          </a:p>
          <a:p>
            <a:r>
              <a:rPr lang="en-IN" b="1" dirty="0"/>
              <a:t>Key Features</a:t>
            </a:r>
          </a:p>
          <a:p>
            <a:r>
              <a:rPr lang="en-IN" b="1" dirty="0"/>
              <a:t>Attendance Tracking</a:t>
            </a:r>
          </a:p>
          <a:p>
            <a:r>
              <a:rPr lang="en-IN" dirty="0"/>
              <a:t>View employee attendance records</a:t>
            </a:r>
          </a:p>
          <a:p>
            <a:r>
              <a:rPr lang="en-IN" dirty="0"/>
              <a:t>Monitor attendance status</a:t>
            </a:r>
          </a:p>
          <a:p>
            <a:r>
              <a:rPr lang="en-IN" dirty="0"/>
              <a:t>Centralized attendance management</a:t>
            </a:r>
          </a:p>
          <a:p>
            <a:r>
              <a:rPr lang="en-IN" b="1" dirty="0"/>
              <a:t>Attendance Details</a:t>
            </a:r>
          </a:p>
          <a:p>
            <a:r>
              <a:rPr lang="en-IN" dirty="0"/>
              <a:t>Employee-wise attendance information</a:t>
            </a:r>
          </a:p>
          <a:p>
            <a:r>
              <a:rPr lang="en-IN" dirty="0"/>
              <a:t>Detailed attendance history</a:t>
            </a:r>
          </a:p>
          <a:p>
            <a:r>
              <a:rPr lang="en-IN" b="1" dirty="0"/>
              <a:t>Monthly Attendance Summary</a:t>
            </a:r>
          </a:p>
          <a:p>
            <a:r>
              <a:rPr lang="en-IN" dirty="0"/>
              <a:t>Monthly attendance overview</a:t>
            </a:r>
          </a:p>
          <a:p>
            <a:r>
              <a:rPr lang="en-IN" dirty="0"/>
              <a:t>Attendance statistics and insights</a:t>
            </a:r>
          </a:p>
          <a:p>
            <a:r>
              <a:rPr lang="en-IN" b="1" dirty="0"/>
              <a:t>Filtering &amp; Search</a:t>
            </a:r>
          </a:p>
          <a:p>
            <a:r>
              <a:rPr lang="en-IN" dirty="0"/>
              <a:t>Filter attendance records</a:t>
            </a:r>
          </a:p>
          <a:p>
            <a:r>
              <a:rPr lang="en-IN" dirty="0"/>
              <a:t>View specific attendance details quickly</a:t>
            </a:r>
          </a:p>
          <a:p>
            <a:br>
              <a:rPr lang="en-IN" dirty="0"/>
            </a:br>
            <a:endParaRPr lang="en-IN" dirty="0"/>
          </a:p>
          <a:p>
            <a:r>
              <a:rPr lang="en-IN" b="1" dirty="0"/>
              <a:t>Files Involved</a:t>
            </a:r>
          </a:p>
          <a:p>
            <a:r>
              <a:rPr lang="en-IN" sz="1200" kern="1200" dirty="0">
                <a:solidFill>
                  <a:schemeClr val="tx1"/>
                </a:solidFill>
                <a:latin typeface="+mn-lt"/>
                <a:ea typeface="+mn-ea"/>
                <a:cs typeface="+mn-cs"/>
              </a:rPr>
              <a:t>pages/</a:t>
            </a: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Attendance.jsx</a:t>
            </a:r>
            <a:endParaRPr lang="en-IN" sz="1200" kern="1200" dirty="0">
              <a:solidFill>
                <a:schemeClr val="tx1"/>
              </a:solidFill>
              <a:latin typeface="+mn-lt"/>
              <a:ea typeface="+mn-ea"/>
              <a:cs typeface="+mn-cs"/>
            </a:endParaRPr>
          </a:p>
          <a:p>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components/</a:t>
            </a: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AttendanceCard.jsx</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AttendanceDetails.jsx</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AttendanceDetailsTable.jsx</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AttendanceMonthCard.jsx</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AttendanceTable.jsx</a:t>
            </a:r>
            <a:endParaRPr lang="en-IN" sz="1200" kern="1200" dirty="0">
              <a:solidFill>
                <a:schemeClr val="tx1"/>
              </a:solidFill>
              <a:latin typeface="+mn-lt"/>
              <a:ea typeface="+mn-ea"/>
              <a:cs typeface="+mn-cs"/>
            </a:endParaRPr>
          </a:p>
          <a:p>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hooks/</a:t>
            </a:r>
          </a:p>
          <a:p>
            <a:r>
              <a:rPr lang="en-IN" sz="1200" kern="1200" dirty="0">
                <a:solidFill>
                  <a:schemeClr val="tx1"/>
                </a:solidFill>
                <a:latin typeface="+mn-lt"/>
                <a:ea typeface="+mn-ea"/>
                <a:cs typeface="+mn-cs"/>
              </a:rPr>
              <a:t>├── useAttendanceFilter.js</a:t>
            </a:r>
          </a:p>
          <a:p>
            <a:r>
              <a:rPr lang="en-IN" sz="1200" kern="1200" dirty="0">
                <a:solidFill>
                  <a:schemeClr val="tx1"/>
                </a:solidFill>
                <a:latin typeface="+mn-lt"/>
                <a:ea typeface="+mn-ea"/>
                <a:cs typeface="+mn-cs"/>
              </a:rPr>
              <a:t>├── useAttendanceDetailsFilter.js</a:t>
            </a:r>
          </a:p>
          <a:p>
            <a:r>
              <a:rPr lang="en-IN" sz="1200" kern="1200" dirty="0">
                <a:solidFill>
                  <a:schemeClr val="tx1"/>
                </a:solidFill>
                <a:latin typeface="+mn-lt"/>
                <a:ea typeface="+mn-ea"/>
                <a:cs typeface="+mn-cs"/>
              </a:rPr>
              <a:t>└── useAttendanceSummary.js</a:t>
            </a:r>
          </a:p>
          <a:p>
            <a:endParaRPr lang="en-IN" sz="1200" kern="1200" dirty="0">
              <a:solidFill>
                <a:schemeClr val="tx1"/>
              </a:solidFill>
              <a:latin typeface="+mn-lt"/>
              <a:ea typeface="+mn-ea"/>
              <a:cs typeface="+mn-cs"/>
            </a:endParaRPr>
          </a:p>
          <a:p>
            <a:r>
              <a:rPr lang="en-IN" sz="1200" kern="1200" dirty="0" err="1">
                <a:solidFill>
                  <a:schemeClr val="tx1"/>
                </a:solidFill>
                <a:latin typeface="+mn-lt"/>
                <a:ea typeface="+mn-ea"/>
                <a:cs typeface="+mn-cs"/>
              </a:rPr>
              <a:t>api</a:t>
            </a:r>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attendanceApi.js</a:t>
            </a:r>
          </a:p>
          <a:p>
            <a:br>
              <a:rPr lang="en-IN" dirty="0"/>
            </a:br>
            <a:endParaRPr lang="en-IN" dirty="0"/>
          </a:p>
          <a:p>
            <a:r>
              <a:rPr lang="en-IN" b="1" dirty="0"/>
              <a:t>Module Architecture</a:t>
            </a:r>
          </a:p>
          <a:p>
            <a:r>
              <a:rPr lang="en-IN" sz="1200" kern="1200" dirty="0" err="1">
                <a:solidFill>
                  <a:schemeClr val="tx1"/>
                </a:solidFill>
                <a:latin typeface="+mn-lt"/>
                <a:ea typeface="+mn-ea"/>
                <a:cs typeface="+mn-cs"/>
              </a:rPr>
              <a:t>Attendance.jsx</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attendanceApi.js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Attendance Hooks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     ▼         ▼</a:t>
            </a:r>
          </a:p>
          <a:p>
            <a:r>
              <a:rPr lang="en-IN" sz="1200" kern="1200" dirty="0">
                <a:solidFill>
                  <a:schemeClr val="tx1"/>
                </a:solidFill>
                <a:latin typeface="+mn-lt"/>
                <a:ea typeface="+mn-ea"/>
                <a:cs typeface="+mn-cs"/>
              </a:rPr>
              <a:t>Filter Summary Details</a:t>
            </a:r>
          </a:p>
          <a:p>
            <a:r>
              <a:rPr lang="en-IN" sz="1200" kern="1200" dirty="0">
                <a:solidFill>
                  <a:schemeClr val="tx1"/>
                </a:solidFill>
                <a:latin typeface="+mn-lt"/>
                <a:ea typeface="+mn-ea"/>
                <a:cs typeface="+mn-cs"/>
              </a:rPr>
              <a:t> │      │         │</a:t>
            </a:r>
          </a:p>
          <a:p>
            <a:r>
              <a:rPr lang="en-IN" sz="1200" kern="1200" dirty="0">
                <a:solidFill>
                  <a:schemeClr val="tx1"/>
                </a:solidFill>
                <a:latin typeface="+mn-lt"/>
                <a:ea typeface="+mn-ea"/>
                <a:cs typeface="+mn-cs"/>
              </a:rPr>
              <a:t> ▼      ▼         ▼</a:t>
            </a:r>
          </a:p>
          <a:p>
            <a:r>
              <a:rPr lang="en-IN" sz="1200" kern="1200" dirty="0">
                <a:solidFill>
                  <a:schemeClr val="tx1"/>
                </a:solidFill>
                <a:latin typeface="+mn-lt"/>
                <a:ea typeface="+mn-ea"/>
                <a:cs typeface="+mn-cs"/>
              </a:rPr>
              <a:t>Attendance Components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User Interface</a:t>
            </a:r>
          </a:p>
          <a:p>
            <a:br>
              <a:rPr lang="en-IN" dirty="0"/>
            </a:br>
            <a:endParaRPr lang="en-IN" dirty="0"/>
          </a:p>
          <a:p>
            <a:r>
              <a:rPr lang="en-IN" b="1" dirty="0"/>
              <a:t>Custom Hooks Used</a:t>
            </a:r>
          </a:p>
          <a:p>
            <a:r>
              <a:rPr lang="en-IN" sz="1200" b="1" kern="1200" dirty="0" err="1">
                <a:solidFill>
                  <a:schemeClr val="tx1"/>
                </a:solidFill>
                <a:latin typeface="+mn-lt"/>
                <a:ea typeface="+mn-ea"/>
                <a:cs typeface="+mn-cs"/>
              </a:rPr>
              <a:t>useAttendanceFilter</a:t>
            </a:r>
            <a:r>
              <a:rPr lang="en-IN" sz="1200" b="1" kern="1200" dirty="0">
                <a:solidFill>
                  <a:schemeClr val="tx1"/>
                </a:solidFill>
                <a:latin typeface="+mn-lt"/>
                <a:ea typeface="+mn-ea"/>
                <a:cs typeface="+mn-cs"/>
              </a:rPr>
              <a:t>()</a:t>
            </a:r>
            <a:endParaRPr lang="en-IN" b="1" dirty="0"/>
          </a:p>
          <a:p>
            <a:r>
              <a:rPr lang="en-IN" dirty="0"/>
              <a:t>Responsibilities:</a:t>
            </a:r>
          </a:p>
          <a:p>
            <a:r>
              <a:rPr lang="en-IN" dirty="0"/>
              <a:t>Search attendance records</a:t>
            </a:r>
          </a:p>
          <a:p>
            <a:r>
              <a:rPr lang="en-IN" dirty="0"/>
              <a:t>Filter attendance data</a:t>
            </a:r>
          </a:p>
          <a:p>
            <a:r>
              <a:rPr lang="en-IN" dirty="0"/>
              <a:t>Manage filtered results</a:t>
            </a:r>
          </a:p>
          <a:p>
            <a:br>
              <a:rPr lang="en-IN" dirty="0"/>
            </a:br>
            <a:endParaRPr lang="en-IN" dirty="0"/>
          </a:p>
          <a:p>
            <a:r>
              <a:rPr lang="en-IN" sz="1200" b="1" kern="1200" dirty="0" err="1">
                <a:solidFill>
                  <a:schemeClr val="tx1"/>
                </a:solidFill>
                <a:latin typeface="+mn-lt"/>
                <a:ea typeface="+mn-ea"/>
                <a:cs typeface="+mn-cs"/>
              </a:rPr>
              <a:t>useAttendanceDetailsFilter</a:t>
            </a:r>
            <a:r>
              <a:rPr lang="en-IN" sz="1200" b="1" kern="1200" dirty="0">
                <a:solidFill>
                  <a:schemeClr val="tx1"/>
                </a:solidFill>
                <a:latin typeface="+mn-lt"/>
                <a:ea typeface="+mn-ea"/>
                <a:cs typeface="+mn-cs"/>
              </a:rPr>
              <a:t>()</a:t>
            </a:r>
            <a:endParaRPr lang="en-IN" b="1" dirty="0"/>
          </a:p>
          <a:p>
            <a:r>
              <a:rPr lang="en-IN" dirty="0"/>
              <a:t>Responsibilities:</a:t>
            </a:r>
          </a:p>
          <a:p>
            <a:r>
              <a:rPr lang="en-IN" dirty="0"/>
              <a:t>Filter detailed attendance records</a:t>
            </a:r>
          </a:p>
          <a:p>
            <a:r>
              <a:rPr lang="en-IN" dirty="0"/>
              <a:t>Handle employee-specific attendance views</a:t>
            </a:r>
          </a:p>
          <a:p>
            <a:br>
              <a:rPr lang="en-IN" dirty="0"/>
            </a:br>
            <a:endParaRPr lang="en-IN" dirty="0"/>
          </a:p>
          <a:p>
            <a:r>
              <a:rPr lang="en-IN" sz="1200" b="1" kern="1200" dirty="0" err="1">
                <a:solidFill>
                  <a:schemeClr val="tx1"/>
                </a:solidFill>
                <a:latin typeface="+mn-lt"/>
                <a:ea typeface="+mn-ea"/>
                <a:cs typeface="+mn-cs"/>
              </a:rPr>
              <a:t>useAttendanceSummary</a:t>
            </a:r>
            <a:r>
              <a:rPr lang="en-IN" sz="1200" b="1" kern="1200" dirty="0">
                <a:solidFill>
                  <a:schemeClr val="tx1"/>
                </a:solidFill>
                <a:latin typeface="+mn-lt"/>
                <a:ea typeface="+mn-ea"/>
                <a:cs typeface="+mn-cs"/>
              </a:rPr>
              <a:t>()</a:t>
            </a:r>
            <a:endParaRPr lang="en-IN" b="1" dirty="0"/>
          </a:p>
          <a:p>
            <a:r>
              <a:rPr lang="en-IN" dirty="0"/>
              <a:t>Responsibilities:</a:t>
            </a:r>
          </a:p>
          <a:p>
            <a:r>
              <a:rPr lang="en-IN" dirty="0"/>
              <a:t>Calculate attendance metrics</a:t>
            </a:r>
          </a:p>
          <a:p>
            <a:r>
              <a:rPr lang="en-IN" dirty="0"/>
              <a:t>Generate monthly summaries</a:t>
            </a:r>
          </a:p>
          <a:p>
            <a:r>
              <a:rPr lang="en-IN" dirty="0"/>
              <a:t>Prepare attendance statistics</a:t>
            </a:r>
          </a:p>
          <a:p>
            <a:br>
              <a:rPr lang="en-IN" dirty="0"/>
            </a:br>
            <a:endParaRPr lang="en-IN" dirty="0"/>
          </a:p>
          <a:p>
            <a:r>
              <a:rPr lang="en-IN" b="1" dirty="0"/>
              <a:t>Reusable Components Used</a:t>
            </a:r>
          </a:p>
          <a:p>
            <a:r>
              <a:rPr lang="en-IN" dirty="0" err="1"/>
              <a:t>ComponentPurposeAttendanceTableAttendance</a:t>
            </a:r>
            <a:r>
              <a:rPr lang="en-IN" dirty="0"/>
              <a:t> </a:t>
            </a:r>
            <a:r>
              <a:rPr lang="en-IN" dirty="0" err="1"/>
              <a:t>listingAttendanceCardAttendance</a:t>
            </a:r>
            <a:r>
              <a:rPr lang="en-IN" dirty="0"/>
              <a:t> </a:t>
            </a:r>
            <a:r>
              <a:rPr lang="en-IN" dirty="0" err="1"/>
              <a:t>summaryAttendanceMonthCardMonthly</a:t>
            </a:r>
            <a:r>
              <a:rPr lang="en-IN" dirty="0"/>
              <a:t> </a:t>
            </a:r>
            <a:r>
              <a:rPr lang="en-IN" dirty="0" err="1"/>
              <a:t>statisticsAttendanceDetailsDetailed</a:t>
            </a:r>
            <a:r>
              <a:rPr lang="en-IN" dirty="0"/>
              <a:t> </a:t>
            </a:r>
            <a:r>
              <a:rPr lang="en-IN" dirty="0" err="1"/>
              <a:t>recordsAttendanceDetailsTableDetailed</a:t>
            </a:r>
            <a:r>
              <a:rPr lang="en-IN" dirty="0"/>
              <a:t> attendance </a:t>
            </a:r>
            <a:r>
              <a:rPr lang="en-IN" dirty="0" err="1"/>
              <a:t>tableFiltersSearch</a:t>
            </a:r>
            <a:r>
              <a:rPr lang="en-IN" dirty="0"/>
              <a:t> and filtering</a:t>
            </a:r>
          </a:p>
          <a:p>
            <a:br>
              <a:rPr lang="en-IN" dirty="0"/>
            </a:br>
            <a:endParaRPr lang="en-IN" dirty="0"/>
          </a:p>
          <a:p>
            <a:r>
              <a:rPr lang="en-IN" b="1" dirty="0"/>
              <a:t>Data Flow</a:t>
            </a:r>
          </a:p>
          <a:p>
            <a:r>
              <a:rPr lang="en-IN" sz="1200" kern="1200" dirty="0">
                <a:solidFill>
                  <a:schemeClr val="tx1"/>
                </a:solidFill>
                <a:latin typeface="+mn-lt"/>
                <a:ea typeface="+mn-ea"/>
                <a:cs typeface="+mn-cs"/>
              </a:rPr>
              <a:t>Attendance API</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Custom Hooks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Processed Attendance Data</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Cards &amp; Tables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Attendance Dashboard</a:t>
            </a:r>
          </a:p>
          <a:p>
            <a:br>
              <a:rPr lang="en-IN" dirty="0"/>
            </a:br>
            <a:endParaRPr lang="en-IN" dirty="0"/>
          </a:p>
          <a:p>
            <a:r>
              <a:rPr lang="en-IN" b="1" dirty="0"/>
              <a:t>Benefits Achieved</a:t>
            </a:r>
          </a:p>
          <a:p>
            <a:r>
              <a:rPr lang="en-IN" dirty="0"/>
              <a:t>✅ Attendance monitoring</a:t>
            </a:r>
          </a:p>
          <a:p>
            <a:r>
              <a:rPr lang="en-IN" dirty="0"/>
              <a:t>✅ Monthly attendance analytics</a:t>
            </a:r>
          </a:p>
          <a:p>
            <a:r>
              <a:rPr lang="en-IN" dirty="0"/>
              <a:t>✅ Reusable filtering logic</a:t>
            </a:r>
          </a:p>
          <a:p>
            <a:r>
              <a:rPr lang="en-IN" dirty="0"/>
              <a:t>✅ Better workforce tracking</a:t>
            </a:r>
          </a:p>
          <a:p>
            <a:r>
              <a:rPr lang="en-IN" dirty="0"/>
              <a:t>✅ Improved reporting capabilities</a:t>
            </a:r>
          </a:p>
          <a:p>
            <a:br>
              <a:rPr lang="en-IN" dirty="0"/>
            </a:br>
            <a:endParaRPr lang="en-IN" dirty="0"/>
          </a:p>
          <a:p>
            <a:r>
              <a:rPr lang="en-IN" b="1" dirty="0"/>
              <a:t>Suggested Screenshot Layout</a:t>
            </a:r>
          </a:p>
          <a:p>
            <a:r>
              <a:rPr lang="en-IN" dirty="0"/>
              <a:t>A very effective layout would be:</a:t>
            </a:r>
          </a:p>
          <a:p>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Attendance Summary     |</a:t>
            </a:r>
          </a:p>
          <a:p>
            <a:r>
              <a:rPr lang="en-IN" sz="1200" kern="1200" dirty="0">
                <a:solidFill>
                  <a:schemeClr val="tx1"/>
                </a:solidFill>
                <a:latin typeface="+mn-lt"/>
                <a:ea typeface="+mn-ea"/>
                <a:cs typeface="+mn-cs"/>
              </a:rPr>
              <a:t>+------------------------+</a:t>
            </a:r>
          </a:p>
          <a:p>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Monthly    | Details   |</a:t>
            </a:r>
          </a:p>
          <a:p>
            <a:r>
              <a:rPr lang="en-IN" sz="1200" kern="1200" dirty="0">
                <a:solidFill>
                  <a:schemeClr val="tx1"/>
                </a:solidFill>
                <a:latin typeface="+mn-lt"/>
                <a:ea typeface="+mn-ea"/>
                <a:cs typeface="+mn-cs"/>
              </a:rPr>
              <a:t>| Statistics | Table     |</a:t>
            </a:r>
          </a:p>
          <a:p>
            <a:r>
              <a:rPr lang="en-IN" sz="1200" kern="1200" dirty="0">
                <a:solidFill>
                  <a:schemeClr val="tx1"/>
                </a:solidFill>
                <a:latin typeface="+mn-lt"/>
                <a:ea typeface="+mn-ea"/>
                <a:cs typeface="+mn-cs"/>
              </a:rPr>
              <a:t>+------------+-----------+</a:t>
            </a:r>
          </a:p>
          <a:p>
            <a:r>
              <a:rPr lang="en-IN" dirty="0"/>
              <a:t>Use arrows to show:</a:t>
            </a:r>
          </a:p>
          <a:p>
            <a:r>
              <a:rPr lang="en-IN" sz="1200" kern="1200" dirty="0">
                <a:solidFill>
                  <a:schemeClr val="tx1"/>
                </a:solidFill>
                <a:latin typeface="+mn-lt"/>
                <a:ea typeface="+mn-ea"/>
                <a:cs typeface="+mn-cs"/>
              </a:rPr>
              <a:t>Attendance Data</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Attendance Summary</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Attendance Details</a:t>
            </a:r>
          </a:p>
          <a:p>
            <a:br>
              <a:rPr lang="en-IN" dirty="0"/>
            </a:br>
            <a:endParaRPr lang="en-IN" dirty="0"/>
          </a:p>
          <a:p>
            <a:r>
              <a:rPr lang="en-IN" b="1" dirty="0"/>
              <a:t>Speaker Notes</a:t>
            </a:r>
          </a:p>
          <a:p>
            <a:r>
              <a:rPr lang="en-IN" dirty="0"/>
              <a:t>The Attendance module provides comprehensive attendance management capabilities. Attendance records are retrieved through the API layer, processed using custom hooks, and displayed through reusable cards and tables. Monthly summaries and detailed attendance views help users monitor workforce attendance effectively while maintaining a clean and scalable architecture.</a:t>
            </a:r>
          </a:p>
          <a:p>
            <a:br>
              <a:rPr lang="en-IN" dirty="0"/>
            </a:br>
            <a:endParaRPr lang="en-IN" dirty="0"/>
          </a:p>
          <a:p>
            <a:r>
              <a:rPr lang="en-IN" b="1" dirty="0"/>
              <a:t>Slide 15: Payroll Management Module</a:t>
            </a:r>
          </a:p>
          <a:p>
            <a:r>
              <a:rPr lang="en-IN" dirty="0"/>
              <a:t>This slide will cover:</a:t>
            </a:r>
          </a:p>
          <a:p>
            <a:r>
              <a:rPr lang="en-IN" dirty="0"/>
              <a:t>Payroll processing</a:t>
            </a:r>
          </a:p>
          <a:p>
            <a:r>
              <a:rPr lang="en-IN" dirty="0"/>
              <a:t>Payroll statistics</a:t>
            </a:r>
          </a:p>
          <a:p>
            <a:r>
              <a:rPr lang="en-IN" dirty="0"/>
              <a:t>Payroll filters</a:t>
            </a:r>
          </a:p>
          <a:p>
            <a:r>
              <a:rPr lang="en-IN" dirty="0"/>
              <a:t>Payroll tables</a:t>
            </a:r>
          </a:p>
          <a:p>
            <a:r>
              <a:rPr lang="en-IN" dirty="0"/>
              <a:t>Payroll cards</a:t>
            </a:r>
          </a:p>
          <a:p>
            <a:r>
              <a:rPr lang="en-IN" sz="1200" kern="1200" dirty="0" err="1">
                <a:solidFill>
                  <a:schemeClr val="tx1"/>
                </a:solidFill>
                <a:latin typeface="+mn-lt"/>
                <a:ea typeface="+mn-ea"/>
                <a:cs typeface="+mn-cs"/>
              </a:rPr>
              <a:t>usePayRollFilters</a:t>
            </a:r>
            <a:r>
              <a:rPr lang="en-IN" sz="1200" kern="1200" dirty="0">
                <a:solidFill>
                  <a:schemeClr val="tx1"/>
                </a:solidFill>
                <a:latin typeface="+mn-lt"/>
                <a:ea typeface="+mn-ea"/>
                <a:cs typeface="+mn-cs"/>
              </a:rPr>
              <a:t>()</a:t>
            </a:r>
            <a:endParaRPr lang="en-IN" dirty="0"/>
          </a:p>
          <a:p>
            <a:r>
              <a:rPr lang="en-IN" dirty="0"/>
              <a:t>It will also complete the walkthrough of all major business modules in your EMS application.</a:t>
            </a:r>
          </a:p>
        </p:txBody>
      </p:sp>
      <p:sp>
        <p:nvSpPr>
          <p:cNvPr id="4" name="Slide Number Placeholder 3">
            <a:extLst>
              <a:ext uri="{FF2B5EF4-FFF2-40B4-BE49-F238E27FC236}">
                <a16:creationId xmlns:a16="http://schemas.microsoft.com/office/drawing/2014/main" id="{2115A284-4516-F429-CE09-00406E3BA2DE}"/>
              </a:ext>
            </a:extLst>
          </p:cNvPr>
          <p:cNvSpPr>
            <a:spLocks noGrp="1"/>
          </p:cNvSpPr>
          <p:nvPr>
            <p:ph type="sldNum" sz="quarter" idx="5"/>
          </p:nvPr>
        </p:nvSpPr>
        <p:spPr/>
        <p:txBody>
          <a:bodyPr/>
          <a:lstStyle/>
          <a:p>
            <a:fld id="{F27E4F37-7821-48E6-91AC-01ECF9D61796}" type="slidenum">
              <a:rPr lang="en-IN" smtClean="0"/>
              <a:t>14</a:t>
            </a:fld>
            <a:endParaRPr lang="en-IN"/>
          </a:p>
        </p:txBody>
      </p:sp>
    </p:spTree>
    <p:extLst>
      <p:ext uri="{BB962C8B-B14F-4D97-AF65-F5344CB8AC3E}">
        <p14:creationId xmlns:p14="http://schemas.microsoft.com/office/powerpoint/2010/main" val="1601493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89C49-D9DA-BA7D-4D73-33DCF54CA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04136A-1B30-69B8-4C6F-7E9DACA774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ED63C9-917F-FF01-43D7-6DFBB93C9283}"/>
              </a:ext>
            </a:extLst>
          </p:cNvPr>
          <p:cNvSpPr>
            <a:spLocks noGrp="1"/>
          </p:cNvSpPr>
          <p:nvPr>
            <p:ph type="body" idx="1"/>
          </p:nvPr>
        </p:nvSpPr>
        <p:spPr/>
        <p:txBody>
          <a:bodyPr/>
          <a:lstStyle/>
          <a:p>
            <a:r>
              <a:rPr lang="en-US" b="1" dirty="0"/>
              <a:t>Slide 15: Payroll Management Module</a:t>
            </a:r>
          </a:p>
          <a:p>
            <a:r>
              <a:rPr lang="en-US" b="1" dirty="0"/>
              <a:t>Title</a:t>
            </a:r>
          </a:p>
          <a:p>
            <a:r>
              <a:rPr lang="en-US" b="1" dirty="0"/>
              <a:t>Payroll Management Module</a:t>
            </a:r>
            <a:endParaRPr lang="en-US" dirty="0"/>
          </a:p>
          <a:p>
            <a:br>
              <a:rPr lang="en-US" dirty="0"/>
            </a:br>
            <a:endParaRPr lang="en-US" dirty="0"/>
          </a:p>
          <a:p>
            <a:r>
              <a:rPr lang="en-US" b="1" dirty="0"/>
              <a:t>Purpose</a:t>
            </a:r>
          </a:p>
          <a:p>
            <a:r>
              <a:rPr lang="en-US" dirty="0"/>
              <a:t>The Payroll module provides payroll information, salary insights, and compensation-related statistics for employees.</a:t>
            </a:r>
          </a:p>
          <a:p>
            <a:br>
              <a:rPr lang="en-US" dirty="0"/>
            </a:br>
            <a:endParaRPr lang="en-US" dirty="0"/>
          </a:p>
          <a:p>
            <a:r>
              <a:rPr lang="en-US" b="1" dirty="0"/>
              <a:t>Key Features</a:t>
            </a:r>
          </a:p>
          <a:p>
            <a:r>
              <a:rPr lang="en-US" b="1" dirty="0"/>
              <a:t>Payroll Records</a:t>
            </a:r>
          </a:p>
          <a:p>
            <a:r>
              <a:rPr lang="en-US" dirty="0"/>
              <a:t>View employee payroll information</a:t>
            </a:r>
          </a:p>
          <a:p>
            <a:r>
              <a:rPr lang="en-US" dirty="0"/>
              <a:t>Centralized payroll management</a:t>
            </a:r>
          </a:p>
          <a:p>
            <a:r>
              <a:rPr lang="en-US" dirty="0"/>
              <a:t>Structured salary data display</a:t>
            </a:r>
          </a:p>
          <a:p>
            <a:r>
              <a:rPr lang="en-US" b="1" dirty="0"/>
              <a:t>Payroll Statistics</a:t>
            </a:r>
          </a:p>
          <a:p>
            <a:r>
              <a:rPr lang="en-US" dirty="0"/>
              <a:t>Payroll summaries</a:t>
            </a:r>
          </a:p>
          <a:p>
            <a:r>
              <a:rPr lang="en-US" dirty="0"/>
              <a:t>Compensation insights</a:t>
            </a:r>
          </a:p>
          <a:p>
            <a:r>
              <a:rPr lang="en-US" dirty="0"/>
              <a:t>Organization-wide payroll overview</a:t>
            </a:r>
          </a:p>
          <a:p>
            <a:r>
              <a:rPr lang="en-US" b="1" dirty="0"/>
              <a:t>Payroll Filtering</a:t>
            </a:r>
          </a:p>
          <a:p>
            <a:r>
              <a:rPr lang="en-US" dirty="0"/>
              <a:t>Search payroll records</a:t>
            </a:r>
          </a:p>
          <a:p>
            <a:r>
              <a:rPr lang="en-US" dirty="0"/>
              <a:t>Filter employee payroll data</a:t>
            </a:r>
          </a:p>
          <a:p>
            <a:r>
              <a:rPr lang="en-US" dirty="0"/>
              <a:t>Improve data accessibility</a:t>
            </a:r>
          </a:p>
          <a:p>
            <a:br>
              <a:rPr lang="en-US" dirty="0"/>
            </a:br>
            <a:endParaRPr lang="en-US" dirty="0"/>
          </a:p>
          <a:p>
            <a:r>
              <a:rPr lang="en-US" b="1" dirty="0"/>
              <a:t>Files Involved</a:t>
            </a:r>
          </a:p>
          <a:p>
            <a:r>
              <a:rPr lang="en-US" sz="1200" kern="1200" dirty="0">
                <a:solidFill>
                  <a:schemeClr val="tx1"/>
                </a:solidFill>
                <a:latin typeface="+mn-lt"/>
                <a:ea typeface="+mn-ea"/>
                <a:cs typeface="+mn-cs"/>
              </a:rPr>
              <a:t>pages/</a:t>
            </a: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Payroll.jsx</a:t>
            </a:r>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components/</a:t>
            </a: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PayrollCard.jsx</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PayrollStatCard.jsx</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PayrollTable.jsx</a:t>
            </a:r>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hooks/</a:t>
            </a:r>
          </a:p>
          <a:p>
            <a:r>
              <a:rPr lang="en-US" sz="1200" kern="1200" dirty="0">
                <a:solidFill>
                  <a:schemeClr val="tx1"/>
                </a:solidFill>
                <a:latin typeface="+mn-lt"/>
                <a:ea typeface="+mn-ea"/>
                <a:cs typeface="+mn-cs"/>
              </a:rPr>
              <a:t>└── usePayRollFilters.js</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layout/</a:t>
            </a: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payslipLayout.jsx</a:t>
            </a:r>
            <a:endParaRPr lang="en-US" sz="1200" kern="1200" dirty="0">
              <a:solidFill>
                <a:schemeClr val="tx1"/>
              </a:solidFill>
              <a:latin typeface="+mn-lt"/>
              <a:ea typeface="+mn-ea"/>
              <a:cs typeface="+mn-cs"/>
            </a:endParaRPr>
          </a:p>
          <a:p>
            <a:br>
              <a:rPr lang="en-US" dirty="0"/>
            </a:br>
            <a:endParaRPr lang="en-US" dirty="0"/>
          </a:p>
          <a:p>
            <a:r>
              <a:rPr lang="en-US" b="1" dirty="0"/>
              <a:t>Module Architecture</a:t>
            </a:r>
          </a:p>
          <a:p>
            <a:r>
              <a:rPr lang="en-US" sz="1200" kern="1200" dirty="0" err="1">
                <a:solidFill>
                  <a:schemeClr val="tx1"/>
                </a:solidFill>
                <a:latin typeface="+mn-lt"/>
                <a:ea typeface="+mn-ea"/>
                <a:cs typeface="+mn-cs"/>
              </a:rPr>
              <a:t>Payroll.jsx</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err="1">
                <a:solidFill>
                  <a:schemeClr val="tx1"/>
                </a:solidFill>
                <a:latin typeface="+mn-lt"/>
                <a:ea typeface="+mn-ea"/>
                <a:cs typeface="+mn-cs"/>
              </a:rPr>
              <a:t>usePayRollFilters</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Filtered Payroll Data</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         ▼</a:t>
            </a:r>
          </a:p>
          <a:p>
            <a:r>
              <a:rPr lang="en-US" sz="1200" kern="1200" dirty="0">
                <a:solidFill>
                  <a:schemeClr val="tx1"/>
                </a:solidFill>
                <a:latin typeface="+mn-lt"/>
                <a:ea typeface="+mn-ea"/>
                <a:cs typeface="+mn-cs"/>
              </a:rPr>
              <a:t>Payroll   </a:t>
            </a:r>
            <a:r>
              <a:rPr lang="en-US" sz="1200" kern="1200" dirty="0" err="1">
                <a:solidFill>
                  <a:schemeClr val="tx1"/>
                </a:solidFill>
                <a:latin typeface="+mn-lt"/>
                <a:ea typeface="+mn-ea"/>
                <a:cs typeface="+mn-cs"/>
              </a:rPr>
              <a:t>Payroll</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Table     Statistics</a:t>
            </a:r>
          </a:p>
          <a:p>
            <a:r>
              <a:rPr lang="en-US" sz="1200" kern="1200" dirty="0">
                <a:solidFill>
                  <a:schemeClr val="tx1"/>
                </a:solidFill>
                <a:latin typeface="+mn-lt"/>
                <a:ea typeface="+mn-ea"/>
                <a:cs typeface="+mn-cs"/>
              </a:rPr>
              <a:t> │           │</a:t>
            </a:r>
          </a:p>
          <a:p>
            <a:r>
              <a:rPr lang="en-US" sz="1200" kern="1200" dirty="0">
                <a:solidFill>
                  <a:schemeClr val="tx1"/>
                </a:solidFill>
                <a:latin typeface="+mn-lt"/>
                <a:ea typeface="+mn-ea"/>
                <a:cs typeface="+mn-cs"/>
              </a:rPr>
              <a:t> ▼           ▼</a:t>
            </a:r>
          </a:p>
          <a:p>
            <a:r>
              <a:rPr lang="en-US" sz="1200" kern="1200" dirty="0" err="1">
                <a:solidFill>
                  <a:schemeClr val="tx1"/>
                </a:solidFill>
                <a:latin typeface="+mn-lt"/>
                <a:ea typeface="+mn-ea"/>
                <a:cs typeface="+mn-cs"/>
              </a:rPr>
              <a:t>PayrollCard</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PayrollStatCard</a:t>
            </a:r>
            <a:endParaRPr lang="en-US" sz="1200" kern="1200" dirty="0">
              <a:solidFill>
                <a:schemeClr val="tx1"/>
              </a:solidFill>
              <a:latin typeface="+mn-lt"/>
              <a:ea typeface="+mn-ea"/>
              <a:cs typeface="+mn-cs"/>
            </a:endParaRPr>
          </a:p>
          <a:p>
            <a:br>
              <a:rPr lang="en-US" dirty="0"/>
            </a:br>
            <a:endParaRPr lang="en-US" dirty="0"/>
          </a:p>
          <a:p>
            <a:r>
              <a:rPr lang="en-US" b="1" dirty="0"/>
              <a:t>Custom Hook Usage</a:t>
            </a:r>
          </a:p>
          <a:p>
            <a:r>
              <a:rPr lang="en-US" sz="1200" b="1" kern="1200" dirty="0" err="1">
                <a:solidFill>
                  <a:schemeClr val="tx1"/>
                </a:solidFill>
                <a:latin typeface="+mn-lt"/>
                <a:ea typeface="+mn-ea"/>
                <a:cs typeface="+mn-cs"/>
              </a:rPr>
              <a:t>usePayRollFilters</a:t>
            </a:r>
            <a:r>
              <a:rPr lang="en-US" sz="1200" b="1" kern="1200" dirty="0">
                <a:solidFill>
                  <a:schemeClr val="tx1"/>
                </a:solidFill>
                <a:latin typeface="+mn-lt"/>
                <a:ea typeface="+mn-ea"/>
                <a:cs typeface="+mn-cs"/>
              </a:rPr>
              <a:t>()</a:t>
            </a:r>
            <a:endParaRPr lang="en-US" b="1" dirty="0"/>
          </a:p>
          <a:p>
            <a:r>
              <a:rPr lang="en-US" dirty="0"/>
              <a:t>Responsibilities:</a:t>
            </a:r>
          </a:p>
          <a:p>
            <a:r>
              <a:rPr lang="en-US" dirty="0"/>
              <a:t>Search payroll records</a:t>
            </a:r>
          </a:p>
          <a:p>
            <a:r>
              <a:rPr lang="en-US" dirty="0"/>
              <a:t>Filter employee payroll information</a:t>
            </a:r>
          </a:p>
          <a:p>
            <a:r>
              <a:rPr lang="en-US" dirty="0"/>
              <a:t>Manage payroll data presentation</a:t>
            </a:r>
          </a:p>
          <a:p>
            <a:r>
              <a:rPr lang="en-US" dirty="0"/>
              <a:t>Improve component reusability</a:t>
            </a:r>
          </a:p>
          <a:p>
            <a:br>
              <a:rPr lang="en-US" dirty="0"/>
            </a:br>
            <a:endParaRPr lang="en-US" dirty="0"/>
          </a:p>
          <a:p>
            <a:r>
              <a:rPr lang="en-US" b="1" dirty="0"/>
              <a:t>Reusable Components Used</a:t>
            </a:r>
          </a:p>
          <a:p>
            <a:r>
              <a:rPr lang="en-US" dirty="0" err="1"/>
              <a:t>ComponentPurposePayrollTablePayroll</a:t>
            </a:r>
            <a:r>
              <a:rPr lang="en-US" dirty="0"/>
              <a:t> data </a:t>
            </a:r>
            <a:r>
              <a:rPr lang="en-US" dirty="0" err="1"/>
              <a:t>displayPayrollCardEmployee</a:t>
            </a:r>
            <a:r>
              <a:rPr lang="en-US" dirty="0"/>
              <a:t> payroll </a:t>
            </a:r>
            <a:r>
              <a:rPr lang="en-US" dirty="0" err="1"/>
              <a:t>summaryPayrollStatCardPayroll</a:t>
            </a:r>
            <a:r>
              <a:rPr lang="en-US" dirty="0"/>
              <a:t> </a:t>
            </a:r>
            <a:r>
              <a:rPr lang="en-US" dirty="0" err="1"/>
              <a:t>statisticsFiltersPayroll</a:t>
            </a:r>
            <a:r>
              <a:rPr lang="en-US" dirty="0"/>
              <a:t> </a:t>
            </a:r>
            <a:r>
              <a:rPr lang="en-US" dirty="0" err="1"/>
              <a:t>filteringDataTableGeneric</a:t>
            </a:r>
            <a:r>
              <a:rPr lang="en-US" dirty="0"/>
              <a:t> table rendering</a:t>
            </a:r>
          </a:p>
          <a:p>
            <a:br>
              <a:rPr lang="en-US" dirty="0"/>
            </a:br>
            <a:endParaRPr lang="en-US" dirty="0"/>
          </a:p>
          <a:p>
            <a:r>
              <a:rPr lang="en-US" b="1" dirty="0"/>
              <a:t>Data Flow</a:t>
            </a:r>
          </a:p>
          <a:p>
            <a:r>
              <a:rPr lang="en-US" sz="1200" kern="1200" dirty="0">
                <a:solidFill>
                  <a:schemeClr val="tx1"/>
                </a:solidFill>
                <a:latin typeface="+mn-lt"/>
                <a:ea typeface="+mn-ea"/>
                <a:cs typeface="+mn-cs"/>
              </a:rPr>
              <a:t>Payroll Data</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Filter Logic</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Processed Results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Payroll Components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User Interface</a:t>
            </a:r>
          </a:p>
          <a:p>
            <a:br>
              <a:rPr lang="en-US" dirty="0"/>
            </a:br>
            <a:endParaRPr lang="en-US" dirty="0"/>
          </a:p>
          <a:p>
            <a:r>
              <a:rPr lang="en-US" b="1" dirty="0"/>
              <a:t>Benefits Achieved</a:t>
            </a:r>
          </a:p>
          <a:p>
            <a:r>
              <a:rPr lang="en-US" dirty="0"/>
              <a:t>✅ Centralized payroll management</a:t>
            </a:r>
          </a:p>
          <a:p>
            <a:r>
              <a:rPr lang="en-US" dirty="0"/>
              <a:t>✅ Easy salary information access</a:t>
            </a:r>
          </a:p>
          <a:p>
            <a:r>
              <a:rPr lang="en-US" dirty="0"/>
              <a:t>✅ Reusable filtering mechanism</a:t>
            </a:r>
          </a:p>
          <a:p>
            <a:r>
              <a:rPr lang="en-US" dirty="0"/>
              <a:t>✅ Consistent UI design</a:t>
            </a:r>
          </a:p>
          <a:p>
            <a:r>
              <a:rPr lang="en-US" dirty="0"/>
              <a:t>✅ Improved reporting and analysis</a:t>
            </a:r>
          </a:p>
          <a:p>
            <a:br>
              <a:rPr lang="en-US" dirty="0"/>
            </a:br>
            <a:endParaRPr lang="en-US" dirty="0"/>
          </a:p>
          <a:p>
            <a:r>
              <a:rPr lang="en-US" b="1" dirty="0"/>
              <a:t>Suggested Screenshot Layout</a:t>
            </a:r>
          </a:p>
          <a:p>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 Payroll Statistics Cards       |</a:t>
            </a:r>
          </a:p>
          <a:p>
            <a:r>
              <a:rPr lang="en-US" sz="1200" kern="1200" dirty="0">
                <a:solidFill>
                  <a:schemeClr val="tx1"/>
                </a:solidFill>
                <a:latin typeface="+mn-lt"/>
                <a:ea typeface="+mn-ea"/>
                <a:cs typeface="+mn-cs"/>
              </a:rPr>
              <a:t>+--------------------------------+</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 Payroll Table                  |</a:t>
            </a:r>
          </a:p>
          <a:p>
            <a:r>
              <a:rPr lang="en-US" sz="1200" kern="1200" dirty="0">
                <a:solidFill>
                  <a:schemeClr val="tx1"/>
                </a:solidFill>
                <a:latin typeface="+mn-lt"/>
                <a:ea typeface="+mn-ea"/>
                <a:cs typeface="+mn-cs"/>
              </a:rPr>
              <a:t>+--------------------------------+</a:t>
            </a:r>
          </a:p>
          <a:p>
            <a:r>
              <a:rPr lang="en-US" dirty="0"/>
              <a:t>Add labels:</a:t>
            </a:r>
          </a:p>
          <a:p>
            <a:r>
              <a:rPr lang="en-US" dirty="0" err="1"/>
              <a:t>PayrollStatCard</a:t>
            </a:r>
            <a:endParaRPr lang="en-US" dirty="0"/>
          </a:p>
          <a:p>
            <a:r>
              <a:rPr lang="en-US" dirty="0" err="1"/>
              <a:t>PayrollTable</a:t>
            </a:r>
            <a:endParaRPr lang="en-US" dirty="0"/>
          </a:p>
          <a:p>
            <a:r>
              <a:rPr lang="en-US" dirty="0"/>
              <a:t>Filter Component</a:t>
            </a:r>
          </a:p>
          <a:p>
            <a:r>
              <a:rPr lang="en-US" dirty="0"/>
              <a:t>This visually highlights component reuse.</a:t>
            </a:r>
          </a:p>
          <a:p>
            <a:br>
              <a:rPr lang="en-US" dirty="0"/>
            </a:br>
            <a:endParaRPr lang="en-US" dirty="0"/>
          </a:p>
          <a:p>
            <a:r>
              <a:rPr lang="en-US" b="1" dirty="0"/>
              <a:t>Speaker Notes</a:t>
            </a:r>
          </a:p>
          <a:p>
            <a:r>
              <a:rPr lang="en-US" dirty="0"/>
              <a:t>The Payroll module provides employees' compensation information through reusable cards and table components. Payroll data can be filtered and analyzed using the </a:t>
            </a:r>
            <a:r>
              <a:rPr lang="en-US" dirty="0" err="1"/>
              <a:t>usePayRollFilters</a:t>
            </a:r>
            <a:r>
              <a:rPr lang="en-US" dirty="0"/>
              <a:t> custom hook, ensuring a clean separation between business logic and UI rendering. The module follows the same architectural principles used throughout the application, maintaining consistency and scalability.</a:t>
            </a:r>
          </a:p>
          <a:p>
            <a:br>
              <a:rPr lang="en-US" dirty="0"/>
            </a:br>
            <a:endParaRPr lang="en-US" dirty="0"/>
          </a:p>
          <a:p>
            <a:r>
              <a:rPr lang="en-US" b="1" dirty="0"/>
              <a:t>Slide 16: Code Quality &amp; React Best Practices</a:t>
            </a:r>
          </a:p>
          <a:p>
            <a:r>
              <a:rPr lang="en-US" dirty="0"/>
              <a:t>This slide is extremely important because it ties everything back to the SMART objective and demonstrates that you didn't just build features—you followed professional React development standards.</a:t>
            </a:r>
          </a:p>
          <a:p>
            <a:r>
              <a:rPr lang="en-US" dirty="0"/>
              <a:t>We'll showcase:</a:t>
            </a:r>
          </a:p>
          <a:p>
            <a:r>
              <a:rPr lang="en-US" dirty="0" err="1"/>
              <a:t>PropTypes</a:t>
            </a:r>
            <a:endParaRPr lang="en-US" dirty="0"/>
          </a:p>
          <a:p>
            <a:r>
              <a:rPr lang="en-US" dirty="0"/>
              <a:t>Reusable Components</a:t>
            </a:r>
          </a:p>
          <a:p>
            <a:r>
              <a:rPr lang="en-US" dirty="0"/>
              <a:t>Custom Hooks</a:t>
            </a:r>
          </a:p>
          <a:p>
            <a:r>
              <a:rPr lang="en-US" dirty="0"/>
              <a:t>Context API</a:t>
            </a:r>
          </a:p>
          <a:p>
            <a:r>
              <a:rPr lang="en-US" dirty="0"/>
              <a:t>Separation of Concerns</a:t>
            </a:r>
          </a:p>
          <a:p>
            <a:r>
              <a:rPr lang="en-US" dirty="0"/>
              <a:t>Clean Folder Structure</a:t>
            </a:r>
          </a:p>
          <a:p>
            <a:r>
              <a:rPr lang="en-US" dirty="0"/>
              <a:t>Maintainability</a:t>
            </a:r>
          </a:p>
          <a:p>
            <a:r>
              <a:rPr lang="en-US" dirty="0"/>
              <a:t>This is often the slide reviewers care about most during technical evaluations.</a:t>
            </a:r>
          </a:p>
          <a:p>
            <a:endParaRPr lang="en-IN" dirty="0"/>
          </a:p>
        </p:txBody>
      </p:sp>
      <p:sp>
        <p:nvSpPr>
          <p:cNvPr id="4" name="Slide Number Placeholder 3">
            <a:extLst>
              <a:ext uri="{FF2B5EF4-FFF2-40B4-BE49-F238E27FC236}">
                <a16:creationId xmlns:a16="http://schemas.microsoft.com/office/drawing/2014/main" id="{07A1591F-1EAE-6856-0CF3-49BDFD1E91FD}"/>
              </a:ext>
            </a:extLst>
          </p:cNvPr>
          <p:cNvSpPr>
            <a:spLocks noGrp="1"/>
          </p:cNvSpPr>
          <p:nvPr>
            <p:ph type="sldNum" sz="quarter" idx="5"/>
          </p:nvPr>
        </p:nvSpPr>
        <p:spPr/>
        <p:txBody>
          <a:bodyPr/>
          <a:lstStyle/>
          <a:p>
            <a:fld id="{F27E4F37-7821-48E6-91AC-01ECF9D61796}" type="slidenum">
              <a:rPr lang="en-IN" smtClean="0"/>
              <a:t>15</a:t>
            </a:fld>
            <a:endParaRPr lang="en-IN"/>
          </a:p>
        </p:txBody>
      </p:sp>
    </p:spTree>
    <p:extLst>
      <p:ext uri="{BB962C8B-B14F-4D97-AF65-F5344CB8AC3E}">
        <p14:creationId xmlns:p14="http://schemas.microsoft.com/office/powerpoint/2010/main" val="249575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A299C-B237-F4C5-1879-4A65EB3ED1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8D3AF-9DD9-5665-7B1D-2DB5361568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B45818-7053-EAFF-27D1-23F1070ED0F3}"/>
              </a:ext>
            </a:extLst>
          </p:cNvPr>
          <p:cNvSpPr>
            <a:spLocks noGrp="1"/>
          </p:cNvSpPr>
          <p:nvPr>
            <p:ph type="body" idx="1"/>
          </p:nvPr>
        </p:nvSpPr>
        <p:spPr/>
        <p:txBody>
          <a:bodyPr/>
          <a:lstStyle/>
          <a:p>
            <a:r>
              <a:rPr lang="en-IN" b="1" dirty="0"/>
              <a:t>Slide 16: Code Quality &amp; React Best Practices</a:t>
            </a:r>
          </a:p>
          <a:p>
            <a:r>
              <a:rPr lang="en-IN" b="1" dirty="0"/>
              <a:t>Title</a:t>
            </a:r>
          </a:p>
          <a:p>
            <a:r>
              <a:rPr lang="en-IN" b="1" dirty="0"/>
              <a:t>Code Quality &amp; React Best Practices</a:t>
            </a:r>
            <a:endParaRPr lang="en-IN" dirty="0"/>
          </a:p>
          <a:p>
            <a:br>
              <a:rPr lang="en-IN" dirty="0"/>
            </a:br>
            <a:endParaRPr lang="en-IN" dirty="0"/>
          </a:p>
          <a:p>
            <a:r>
              <a:rPr lang="en-IN" b="1" dirty="0"/>
              <a:t>Development Principles Followed</a:t>
            </a:r>
          </a:p>
          <a:p>
            <a:r>
              <a:rPr lang="en-IN" dirty="0"/>
              <a:t>The application was designed with a focus on:</a:t>
            </a:r>
          </a:p>
          <a:p>
            <a:r>
              <a:rPr lang="en-IN" dirty="0"/>
              <a:t>Maintainability</a:t>
            </a:r>
          </a:p>
          <a:p>
            <a:r>
              <a:rPr lang="en-IN" dirty="0"/>
              <a:t>Reusability</a:t>
            </a:r>
          </a:p>
          <a:p>
            <a:r>
              <a:rPr lang="en-IN" dirty="0"/>
              <a:t>Scalability</a:t>
            </a:r>
          </a:p>
          <a:p>
            <a:r>
              <a:rPr lang="en-IN" dirty="0"/>
              <a:t>Readability</a:t>
            </a:r>
          </a:p>
          <a:p>
            <a:r>
              <a:rPr lang="en-IN" dirty="0"/>
              <a:t>Separation of Concerns</a:t>
            </a:r>
          </a:p>
          <a:p>
            <a:br>
              <a:rPr lang="en-IN" dirty="0"/>
            </a:br>
            <a:endParaRPr lang="en-IN" dirty="0"/>
          </a:p>
          <a:p>
            <a:r>
              <a:rPr lang="en-IN" b="1" dirty="0"/>
              <a:t>React Best Practices Implemented</a:t>
            </a:r>
          </a:p>
          <a:p>
            <a:r>
              <a:rPr lang="en-IN" b="1" dirty="0"/>
              <a:t>Functional Components</a:t>
            </a:r>
          </a:p>
          <a:p>
            <a:r>
              <a:rPr lang="en-IN" dirty="0"/>
              <a:t>✅ All components are built using modern React functional components.</a:t>
            </a:r>
          </a:p>
          <a:p>
            <a:r>
              <a:rPr lang="en-IN" dirty="0"/>
              <a:t>Benefits:</a:t>
            </a:r>
          </a:p>
          <a:p>
            <a:r>
              <a:rPr lang="en-IN" dirty="0"/>
              <a:t>Cleaner syntax</a:t>
            </a:r>
          </a:p>
          <a:p>
            <a:r>
              <a:rPr lang="en-IN" dirty="0"/>
              <a:t>Better readability</a:t>
            </a:r>
          </a:p>
          <a:p>
            <a:r>
              <a:rPr lang="en-IN" dirty="0"/>
              <a:t>Hook support</a:t>
            </a:r>
          </a:p>
          <a:p>
            <a:br>
              <a:rPr lang="en-IN" dirty="0"/>
            </a:br>
            <a:endParaRPr lang="en-IN" dirty="0"/>
          </a:p>
          <a:p>
            <a:r>
              <a:rPr lang="en-IN" b="1" dirty="0"/>
              <a:t>Custom Hooks</a:t>
            </a:r>
          </a:p>
          <a:p>
            <a:r>
              <a:rPr lang="en-IN" dirty="0"/>
              <a:t>Files:</a:t>
            </a:r>
          </a:p>
          <a:p>
            <a:r>
              <a:rPr lang="en-IN" sz="1200" kern="1200" dirty="0">
                <a:solidFill>
                  <a:schemeClr val="tx1"/>
                </a:solidFill>
                <a:latin typeface="+mn-lt"/>
                <a:ea typeface="+mn-ea"/>
                <a:cs typeface="+mn-cs"/>
              </a:rPr>
              <a:t>hooks/</a:t>
            </a:r>
          </a:p>
          <a:p>
            <a:r>
              <a:rPr lang="en-IN" sz="1200" kern="1200" dirty="0">
                <a:solidFill>
                  <a:schemeClr val="tx1"/>
                </a:solidFill>
                <a:latin typeface="+mn-lt"/>
                <a:ea typeface="+mn-ea"/>
                <a:cs typeface="+mn-cs"/>
              </a:rPr>
              <a:t>├── useEmployeeFilters.js</a:t>
            </a:r>
          </a:p>
          <a:p>
            <a:r>
              <a:rPr lang="en-IN" sz="1200" kern="1200" dirty="0">
                <a:solidFill>
                  <a:schemeClr val="tx1"/>
                </a:solidFill>
                <a:latin typeface="+mn-lt"/>
                <a:ea typeface="+mn-ea"/>
                <a:cs typeface="+mn-cs"/>
              </a:rPr>
              <a:t>├── useAttendanceFilter.js</a:t>
            </a:r>
          </a:p>
          <a:p>
            <a:r>
              <a:rPr lang="en-IN" sz="1200" kern="1200" dirty="0">
                <a:solidFill>
                  <a:schemeClr val="tx1"/>
                </a:solidFill>
                <a:latin typeface="+mn-lt"/>
                <a:ea typeface="+mn-ea"/>
                <a:cs typeface="+mn-cs"/>
              </a:rPr>
              <a:t>├── useDashboardSummary.js</a:t>
            </a:r>
          </a:p>
          <a:p>
            <a:r>
              <a:rPr lang="en-IN" sz="1200" kern="1200" dirty="0">
                <a:solidFill>
                  <a:schemeClr val="tx1"/>
                </a:solidFill>
                <a:latin typeface="+mn-lt"/>
                <a:ea typeface="+mn-ea"/>
                <a:cs typeface="+mn-cs"/>
              </a:rPr>
              <a:t>└── ...</a:t>
            </a:r>
          </a:p>
          <a:p>
            <a:r>
              <a:rPr lang="en-IN" dirty="0"/>
              <a:t>Benefits:</a:t>
            </a:r>
          </a:p>
          <a:p>
            <a:r>
              <a:rPr lang="en-IN" dirty="0"/>
              <a:t>Reusable business logic</a:t>
            </a:r>
          </a:p>
          <a:p>
            <a:r>
              <a:rPr lang="en-IN" dirty="0"/>
              <a:t>Cleaner components</a:t>
            </a:r>
          </a:p>
          <a:p>
            <a:r>
              <a:rPr lang="en-IN" dirty="0"/>
              <a:t>Reduced duplication</a:t>
            </a:r>
          </a:p>
          <a:p>
            <a:br>
              <a:rPr lang="en-IN" dirty="0"/>
            </a:br>
            <a:endParaRPr lang="en-IN" dirty="0"/>
          </a:p>
          <a:p>
            <a:r>
              <a:rPr lang="en-IN" b="1" dirty="0"/>
              <a:t>Context API</a:t>
            </a:r>
          </a:p>
          <a:p>
            <a:r>
              <a:rPr lang="en-IN" dirty="0"/>
              <a:t>Files:</a:t>
            </a:r>
          </a:p>
          <a:p>
            <a:r>
              <a:rPr lang="en-IN" sz="1200" kern="1200" dirty="0">
                <a:solidFill>
                  <a:schemeClr val="tx1"/>
                </a:solidFill>
                <a:latin typeface="+mn-lt"/>
                <a:ea typeface="+mn-ea"/>
                <a:cs typeface="+mn-cs"/>
              </a:rPr>
              <a:t>context/</a:t>
            </a:r>
          </a:p>
          <a:p>
            <a:r>
              <a:rPr lang="en-IN" sz="1200" kern="1200" dirty="0">
                <a:solidFill>
                  <a:schemeClr val="tx1"/>
                </a:solidFill>
                <a:latin typeface="+mn-lt"/>
                <a:ea typeface="+mn-ea"/>
                <a:cs typeface="+mn-cs"/>
              </a:rPr>
              <a:t>├── AuthContext.js</a:t>
            </a: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AuthProvider.jsx</a:t>
            </a:r>
            <a:endParaRPr lang="en-IN" sz="1200" kern="1200" dirty="0">
              <a:solidFill>
                <a:schemeClr val="tx1"/>
              </a:solidFill>
              <a:latin typeface="+mn-lt"/>
              <a:ea typeface="+mn-ea"/>
              <a:cs typeface="+mn-cs"/>
            </a:endParaRPr>
          </a:p>
          <a:p>
            <a:r>
              <a:rPr lang="en-IN" dirty="0"/>
              <a:t>Benefits:</a:t>
            </a:r>
          </a:p>
          <a:p>
            <a:r>
              <a:rPr lang="en-IN" dirty="0"/>
              <a:t>Global state management</a:t>
            </a:r>
          </a:p>
          <a:p>
            <a:r>
              <a:rPr lang="en-IN" dirty="0"/>
              <a:t>Avoid prop drilling</a:t>
            </a:r>
          </a:p>
          <a:p>
            <a:r>
              <a:rPr lang="en-IN" dirty="0"/>
              <a:t>Centralized authentication</a:t>
            </a:r>
          </a:p>
          <a:p>
            <a:br>
              <a:rPr lang="en-IN" dirty="0"/>
            </a:br>
            <a:endParaRPr lang="en-IN" dirty="0"/>
          </a:p>
          <a:p>
            <a:r>
              <a:rPr lang="en-IN" b="1" dirty="0" err="1"/>
              <a:t>PropTypes</a:t>
            </a:r>
            <a:r>
              <a:rPr lang="en-IN" b="1" dirty="0"/>
              <a:t> Validation</a:t>
            </a:r>
          </a:p>
          <a:p>
            <a:r>
              <a:rPr lang="en-IN" dirty="0"/>
              <a:t>Used for:</a:t>
            </a:r>
          </a:p>
          <a:p>
            <a:r>
              <a:rPr lang="en-IN" dirty="0"/>
              <a:t>Runtime prop validation</a:t>
            </a:r>
          </a:p>
          <a:p>
            <a:r>
              <a:rPr lang="en-IN" dirty="0"/>
              <a:t>Improved component reliability</a:t>
            </a:r>
          </a:p>
          <a:p>
            <a:r>
              <a:rPr lang="en-IN" dirty="0"/>
              <a:t>Easier debugging</a:t>
            </a:r>
          </a:p>
          <a:p>
            <a:r>
              <a:rPr lang="en-IN" dirty="0"/>
              <a:t>Example:</a:t>
            </a:r>
          </a:p>
          <a:p>
            <a:r>
              <a:rPr lang="en-IN" sz="1200" kern="1200" dirty="0" err="1">
                <a:solidFill>
                  <a:schemeClr val="tx1"/>
                </a:solidFill>
                <a:latin typeface="+mn-lt"/>
                <a:ea typeface="+mn-ea"/>
                <a:cs typeface="+mn-cs"/>
              </a:rPr>
              <a:t>Component.propTypes</a:t>
            </a:r>
            <a:r>
              <a:rPr lang="en-IN" sz="1200" kern="1200" dirty="0">
                <a:solidFill>
                  <a:schemeClr val="tx1"/>
                </a:solidFill>
                <a:latin typeface="+mn-lt"/>
                <a:ea typeface="+mn-ea"/>
                <a:cs typeface="+mn-cs"/>
              </a:rPr>
              <a:t> = {</a:t>
            </a:r>
          </a:p>
          <a:p>
            <a:r>
              <a:rPr lang="en-IN" sz="1200" kern="1200" dirty="0">
                <a:solidFill>
                  <a:schemeClr val="tx1"/>
                </a:solidFill>
                <a:latin typeface="+mn-lt"/>
                <a:ea typeface="+mn-ea"/>
                <a:cs typeface="+mn-cs"/>
              </a:rPr>
              <a:t>  title: </a:t>
            </a:r>
            <a:r>
              <a:rPr lang="en-IN" sz="1200" kern="1200" dirty="0" err="1">
                <a:solidFill>
                  <a:schemeClr val="tx1"/>
                </a:solidFill>
                <a:latin typeface="+mn-lt"/>
                <a:ea typeface="+mn-ea"/>
                <a:cs typeface="+mn-cs"/>
              </a:rPr>
              <a:t>PropTypes.string.isRequired</a:t>
            </a:r>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count: </a:t>
            </a:r>
            <a:r>
              <a:rPr lang="en-IN" sz="1200" kern="1200" dirty="0" err="1">
                <a:solidFill>
                  <a:schemeClr val="tx1"/>
                </a:solidFill>
                <a:latin typeface="+mn-lt"/>
                <a:ea typeface="+mn-ea"/>
                <a:cs typeface="+mn-cs"/>
              </a:rPr>
              <a:t>PropTypes.number.isRequired</a:t>
            </a:r>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a:t>
            </a:r>
          </a:p>
          <a:p>
            <a:r>
              <a:rPr lang="en-IN" i="1" dirty="0"/>
              <a:t>(Use a screenshot of one of your actual components if possible.)</a:t>
            </a:r>
            <a:endParaRPr lang="en-IN" dirty="0"/>
          </a:p>
          <a:p>
            <a:br>
              <a:rPr lang="en-IN" dirty="0"/>
            </a:br>
            <a:endParaRPr lang="en-IN" dirty="0"/>
          </a:p>
          <a:p>
            <a:r>
              <a:rPr lang="en-IN" b="1" dirty="0"/>
              <a:t>Separation of Concerns</a:t>
            </a:r>
          </a:p>
          <a:p>
            <a:r>
              <a:rPr lang="en-IN" sz="1200" kern="1200" dirty="0">
                <a:solidFill>
                  <a:schemeClr val="tx1"/>
                </a:solidFill>
                <a:latin typeface="+mn-lt"/>
                <a:ea typeface="+mn-ea"/>
                <a:cs typeface="+mn-cs"/>
              </a:rPr>
              <a:t>Pages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Components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Hooks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API Layer</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Utilities</a:t>
            </a:r>
          </a:p>
          <a:p>
            <a:r>
              <a:rPr lang="en-IN" dirty="0"/>
              <a:t>Each layer has a single responsibility.</a:t>
            </a:r>
          </a:p>
          <a:p>
            <a:br>
              <a:rPr lang="en-IN" dirty="0"/>
            </a:br>
            <a:endParaRPr lang="en-IN" dirty="0"/>
          </a:p>
          <a:p>
            <a:r>
              <a:rPr lang="en-IN" b="1" dirty="0"/>
              <a:t>Clean Project Structure</a:t>
            </a:r>
          </a:p>
          <a:p>
            <a:r>
              <a:rPr lang="en-IN" sz="1200" kern="1200" dirty="0" err="1">
                <a:solidFill>
                  <a:schemeClr val="tx1"/>
                </a:solidFill>
                <a:latin typeface="+mn-lt"/>
                <a:ea typeface="+mn-ea"/>
                <a:cs typeface="+mn-cs"/>
              </a:rPr>
              <a:t>src</a:t>
            </a:r>
            <a:r>
              <a:rPr lang="en-IN" sz="1200" kern="1200" dirty="0">
                <a:solidFill>
                  <a:schemeClr val="tx1"/>
                </a:solidFill>
                <a:latin typeface="+mn-lt"/>
                <a:ea typeface="+mn-ea"/>
                <a:cs typeface="+mn-cs"/>
              </a:rPr>
              <a:t>/</a:t>
            </a:r>
          </a:p>
          <a:p>
            <a:r>
              <a:rPr lang="en-IN" sz="1200" kern="1200" dirty="0">
                <a:solidFill>
                  <a:schemeClr val="tx1"/>
                </a:solidFill>
                <a:latin typeface="+mn-lt"/>
                <a:ea typeface="+mn-ea"/>
                <a:cs typeface="+mn-cs"/>
              </a:rPr>
              <a:t>├── pages</a:t>
            </a:r>
          </a:p>
          <a:p>
            <a:r>
              <a:rPr lang="en-IN" sz="1200" kern="1200" dirty="0">
                <a:solidFill>
                  <a:schemeClr val="tx1"/>
                </a:solidFill>
                <a:latin typeface="+mn-lt"/>
                <a:ea typeface="+mn-ea"/>
                <a:cs typeface="+mn-cs"/>
              </a:rPr>
              <a:t>├── components</a:t>
            </a:r>
          </a:p>
          <a:p>
            <a:r>
              <a:rPr lang="en-IN" sz="1200" kern="1200" dirty="0">
                <a:solidFill>
                  <a:schemeClr val="tx1"/>
                </a:solidFill>
                <a:latin typeface="+mn-lt"/>
                <a:ea typeface="+mn-ea"/>
                <a:cs typeface="+mn-cs"/>
              </a:rPr>
              <a:t>├── hooks</a:t>
            </a: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api</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context</a:t>
            </a:r>
          </a:p>
          <a:p>
            <a:r>
              <a:rPr lang="en-IN" sz="1200" kern="1200" dirty="0">
                <a:solidFill>
                  <a:schemeClr val="tx1"/>
                </a:solidFill>
                <a:latin typeface="+mn-lt"/>
                <a:ea typeface="+mn-ea"/>
                <a:cs typeface="+mn-cs"/>
              </a:rPr>
              <a:t>├── layout</a:t>
            </a:r>
          </a:p>
          <a:p>
            <a:r>
              <a:rPr lang="en-IN" sz="1200" kern="1200" dirty="0">
                <a:solidFill>
                  <a:schemeClr val="tx1"/>
                </a:solidFill>
                <a:latin typeface="+mn-lt"/>
                <a:ea typeface="+mn-ea"/>
                <a:cs typeface="+mn-cs"/>
              </a:rPr>
              <a:t>├── utils</a:t>
            </a:r>
          </a:p>
          <a:p>
            <a:r>
              <a:rPr lang="en-IN" sz="1200" kern="1200" dirty="0">
                <a:solidFill>
                  <a:schemeClr val="tx1"/>
                </a:solidFill>
                <a:latin typeface="+mn-lt"/>
                <a:ea typeface="+mn-ea"/>
                <a:cs typeface="+mn-cs"/>
              </a:rPr>
              <a:t>└── constants</a:t>
            </a:r>
          </a:p>
          <a:p>
            <a:r>
              <a:rPr lang="en-IN" dirty="0"/>
              <a:t>Benefits:</a:t>
            </a:r>
          </a:p>
          <a:p>
            <a:r>
              <a:rPr lang="en-IN" dirty="0"/>
              <a:t>Easier navigation</a:t>
            </a:r>
          </a:p>
          <a:p>
            <a:r>
              <a:rPr lang="en-IN" dirty="0"/>
              <a:t>Better maintainability</a:t>
            </a:r>
          </a:p>
          <a:p>
            <a:r>
              <a:rPr lang="en-IN" dirty="0"/>
              <a:t>Improved scalability</a:t>
            </a:r>
          </a:p>
          <a:p>
            <a:br>
              <a:rPr lang="en-IN" dirty="0"/>
            </a:br>
            <a:endParaRPr lang="en-IN" dirty="0"/>
          </a:p>
          <a:p>
            <a:r>
              <a:rPr lang="en-IN" b="1" dirty="0"/>
              <a:t>Reusability Achieved</a:t>
            </a:r>
          </a:p>
          <a:p>
            <a:r>
              <a:rPr lang="en-IN" dirty="0"/>
              <a:t>Reusable </a:t>
            </a:r>
            <a:r>
              <a:rPr lang="en-IN" dirty="0" err="1"/>
              <a:t>ElementPurposeDataTableGeneric</a:t>
            </a:r>
            <a:r>
              <a:rPr lang="en-IN" dirty="0"/>
              <a:t> data </a:t>
            </a:r>
            <a:r>
              <a:rPr lang="en-IN" dirty="0" err="1"/>
              <a:t>displayFiltersShared</a:t>
            </a:r>
            <a:r>
              <a:rPr lang="en-IN" dirty="0"/>
              <a:t> filtering </a:t>
            </a:r>
            <a:r>
              <a:rPr lang="en-IN" dirty="0" err="1"/>
              <a:t>UISidebarCommon</a:t>
            </a:r>
            <a:r>
              <a:rPr lang="en-IN" dirty="0"/>
              <a:t> </a:t>
            </a:r>
            <a:r>
              <a:rPr lang="en-IN" dirty="0" err="1"/>
              <a:t>navigationHeaderConsistent</a:t>
            </a:r>
            <a:r>
              <a:rPr lang="en-IN" dirty="0"/>
              <a:t> page </a:t>
            </a:r>
            <a:r>
              <a:rPr lang="en-IN" dirty="0" err="1"/>
              <a:t>layoutCustom</a:t>
            </a:r>
            <a:r>
              <a:rPr lang="en-IN" dirty="0"/>
              <a:t> </a:t>
            </a:r>
            <a:r>
              <a:rPr lang="en-IN" dirty="0" err="1"/>
              <a:t>HooksShared</a:t>
            </a:r>
            <a:r>
              <a:rPr lang="en-IN" dirty="0"/>
              <a:t> business logic</a:t>
            </a:r>
          </a:p>
          <a:p>
            <a:br>
              <a:rPr lang="en-IN" dirty="0"/>
            </a:br>
            <a:endParaRPr lang="en-IN" dirty="0"/>
          </a:p>
          <a:p>
            <a:r>
              <a:rPr lang="en-IN" b="1" dirty="0"/>
              <a:t>Outcome</a:t>
            </a:r>
          </a:p>
          <a:p>
            <a:r>
              <a:rPr lang="en-IN" b="1" dirty="0"/>
              <a:t>Before</a:t>
            </a:r>
          </a:p>
          <a:p>
            <a:r>
              <a:rPr lang="en-IN" dirty="0"/>
              <a:t>Duplicate logic</a:t>
            </a:r>
          </a:p>
          <a:p>
            <a:r>
              <a:rPr lang="en-IN" dirty="0"/>
              <a:t>Larger components</a:t>
            </a:r>
          </a:p>
          <a:p>
            <a:r>
              <a:rPr lang="en-IN" dirty="0"/>
              <a:t>Difficult maintenance</a:t>
            </a:r>
          </a:p>
          <a:p>
            <a:r>
              <a:rPr lang="en-IN" b="1" dirty="0"/>
              <a:t>After</a:t>
            </a:r>
          </a:p>
          <a:p>
            <a:r>
              <a:rPr lang="en-IN" dirty="0"/>
              <a:t>Reusable architecture</a:t>
            </a:r>
          </a:p>
          <a:p>
            <a:r>
              <a:rPr lang="en-IN" dirty="0"/>
              <a:t>Cleaner codebase</a:t>
            </a:r>
          </a:p>
          <a:p>
            <a:r>
              <a:rPr lang="en-IN" dirty="0"/>
              <a:t>Easier enhancements</a:t>
            </a:r>
          </a:p>
          <a:p>
            <a:r>
              <a:rPr lang="en-IN" dirty="0"/>
              <a:t>Better scalability</a:t>
            </a:r>
          </a:p>
          <a:p>
            <a:br>
              <a:rPr lang="en-IN" dirty="0"/>
            </a:br>
            <a:endParaRPr lang="en-IN" dirty="0"/>
          </a:p>
          <a:p>
            <a:r>
              <a:rPr lang="en-IN" b="1" dirty="0"/>
              <a:t>Speaker Notes</a:t>
            </a:r>
          </a:p>
          <a:p>
            <a:r>
              <a:rPr lang="en-IN" dirty="0"/>
              <a:t>Throughout the project, React best practices were consistently applied. Business logic was extracted into custom hooks, authentication was centralized using Context API, components were made reusable, and </a:t>
            </a:r>
            <a:r>
              <a:rPr lang="en-IN" dirty="0" err="1"/>
              <a:t>PropTypes</a:t>
            </a:r>
            <a:r>
              <a:rPr lang="en-IN" dirty="0"/>
              <a:t> were used for validation. These practices improved maintainability, reduced duplication, and ensured the application remains scalable for future enhancements.</a:t>
            </a:r>
          </a:p>
          <a:p>
            <a:br>
              <a:rPr lang="en-IN" dirty="0"/>
            </a:br>
            <a:endParaRPr lang="en-IN" dirty="0"/>
          </a:p>
          <a:p>
            <a:r>
              <a:rPr lang="en-IN" b="1" dirty="0"/>
              <a:t>Visual Suggestion</a:t>
            </a:r>
          </a:p>
          <a:p>
            <a:r>
              <a:rPr lang="en-IN" dirty="0"/>
              <a:t>Create a simple checklist graphic:</a:t>
            </a:r>
          </a:p>
          <a:p>
            <a:r>
              <a:rPr lang="en-IN" sz="1200" kern="1200" dirty="0">
                <a:solidFill>
                  <a:schemeClr val="tx1"/>
                </a:solidFill>
                <a:latin typeface="+mn-lt"/>
                <a:ea typeface="+mn-ea"/>
                <a:cs typeface="+mn-cs"/>
              </a:rPr>
              <a:t>✔ Reusable Components</a:t>
            </a:r>
          </a:p>
          <a:p>
            <a:r>
              <a:rPr lang="en-IN" sz="1200" kern="1200" dirty="0">
                <a:solidFill>
                  <a:schemeClr val="tx1"/>
                </a:solidFill>
                <a:latin typeface="+mn-lt"/>
                <a:ea typeface="+mn-ea"/>
                <a:cs typeface="+mn-cs"/>
              </a:rPr>
              <a:t>✔ Custom Hooks</a:t>
            </a:r>
          </a:p>
          <a:p>
            <a:r>
              <a:rPr lang="en-IN" sz="1200" kern="1200" dirty="0">
                <a:solidFill>
                  <a:schemeClr val="tx1"/>
                </a:solidFill>
                <a:latin typeface="+mn-lt"/>
                <a:ea typeface="+mn-ea"/>
                <a:cs typeface="+mn-cs"/>
              </a:rPr>
              <a:t>✔ Context API</a:t>
            </a:r>
          </a:p>
          <a:p>
            <a:r>
              <a:rPr lang="en-IN" sz="1200" kern="1200" dirty="0">
                <a:solidFill>
                  <a:schemeClr val="tx1"/>
                </a:solidFill>
                <a:latin typeface="+mn-lt"/>
                <a:ea typeface="+mn-ea"/>
                <a:cs typeface="+mn-cs"/>
              </a:rPr>
              <a:t>✔ Protected Routes</a:t>
            </a:r>
          </a:p>
          <a:p>
            <a:r>
              <a:rPr lang="en-IN" sz="1200" kern="1200" dirty="0">
                <a:solidFill>
                  <a:schemeClr val="tx1"/>
                </a:solidFill>
                <a:latin typeface="+mn-lt"/>
                <a:ea typeface="+mn-ea"/>
                <a:cs typeface="+mn-cs"/>
              </a:rPr>
              <a:t>✔ </a:t>
            </a:r>
            <a:r>
              <a:rPr lang="en-IN" sz="1200" kern="1200" dirty="0" err="1">
                <a:solidFill>
                  <a:schemeClr val="tx1"/>
                </a:solidFill>
                <a:latin typeface="+mn-lt"/>
                <a:ea typeface="+mn-ea"/>
                <a:cs typeface="+mn-cs"/>
              </a:rPr>
              <a:t>PropTypes</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 Modular Architecture</a:t>
            </a:r>
          </a:p>
          <a:p>
            <a:r>
              <a:rPr lang="en-IN" sz="1200" kern="1200" dirty="0">
                <a:solidFill>
                  <a:schemeClr val="tx1"/>
                </a:solidFill>
                <a:latin typeface="+mn-lt"/>
                <a:ea typeface="+mn-ea"/>
                <a:cs typeface="+mn-cs"/>
              </a:rPr>
              <a:t>✔ API Layer Separation</a:t>
            </a:r>
          </a:p>
          <a:p>
            <a:r>
              <a:rPr lang="en-IN" sz="1200" kern="1200" dirty="0">
                <a:solidFill>
                  <a:schemeClr val="tx1"/>
                </a:solidFill>
                <a:latin typeface="+mn-lt"/>
                <a:ea typeface="+mn-ea"/>
                <a:cs typeface="+mn-cs"/>
              </a:rPr>
              <a:t>✔ Tailwind CSS</a:t>
            </a:r>
          </a:p>
          <a:p>
            <a:r>
              <a:rPr lang="en-IN" dirty="0"/>
              <a:t>This creates a strong impression during reviews.</a:t>
            </a:r>
          </a:p>
          <a:p>
            <a:br>
              <a:rPr lang="en-IN" dirty="0"/>
            </a:br>
            <a:endParaRPr lang="en-IN" dirty="0"/>
          </a:p>
          <a:p>
            <a:r>
              <a:rPr lang="en-IN" b="1" dirty="0"/>
              <a:t>Slide 17: Challenges Faced &amp; Solutions</a:t>
            </a:r>
          </a:p>
          <a:p>
            <a:r>
              <a:rPr lang="en-IN" dirty="0"/>
              <a:t>This slide adds real-world engineering value. Instead of only showing what you built, it demonstrates problem-solving skills.</a:t>
            </a:r>
          </a:p>
          <a:p>
            <a:r>
              <a:rPr lang="en-IN" dirty="0"/>
              <a:t>Examples we can tailor to your project:</a:t>
            </a:r>
          </a:p>
          <a:p>
            <a:r>
              <a:rPr lang="en-IN" dirty="0"/>
              <a:t>Managing authentication across pages</a:t>
            </a:r>
          </a:p>
          <a:p>
            <a:r>
              <a:rPr lang="en-IN" dirty="0"/>
              <a:t>Avoiding duplicate filtering logic</a:t>
            </a:r>
          </a:p>
          <a:p>
            <a:r>
              <a:rPr lang="en-IN" dirty="0"/>
              <a:t>Making tables reusable</a:t>
            </a:r>
          </a:p>
          <a:p>
            <a:r>
              <a:rPr lang="en-IN" dirty="0"/>
              <a:t>Organizing a growing codebase</a:t>
            </a:r>
          </a:p>
          <a:p>
            <a:r>
              <a:rPr lang="en-IN" dirty="0"/>
              <a:t>Maintaining consistent UI across modules</a:t>
            </a:r>
          </a:p>
          <a:p>
            <a:r>
              <a:rPr lang="en-IN" dirty="0"/>
              <a:t>This is often one of the most memorable slides in a technical presentation.</a:t>
            </a:r>
          </a:p>
        </p:txBody>
      </p:sp>
      <p:sp>
        <p:nvSpPr>
          <p:cNvPr id="4" name="Slide Number Placeholder 3">
            <a:extLst>
              <a:ext uri="{FF2B5EF4-FFF2-40B4-BE49-F238E27FC236}">
                <a16:creationId xmlns:a16="http://schemas.microsoft.com/office/drawing/2014/main" id="{7F9C6B4B-02EB-DD69-D6FD-D322EFF6FF67}"/>
              </a:ext>
            </a:extLst>
          </p:cNvPr>
          <p:cNvSpPr>
            <a:spLocks noGrp="1"/>
          </p:cNvSpPr>
          <p:nvPr>
            <p:ph type="sldNum" sz="quarter" idx="5"/>
          </p:nvPr>
        </p:nvSpPr>
        <p:spPr/>
        <p:txBody>
          <a:bodyPr/>
          <a:lstStyle/>
          <a:p>
            <a:fld id="{F27E4F37-7821-48E6-91AC-01ECF9D61796}" type="slidenum">
              <a:rPr lang="en-IN" smtClean="0"/>
              <a:t>16</a:t>
            </a:fld>
            <a:endParaRPr lang="en-IN"/>
          </a:p>
        </p:txBody>
      </p:sp>
    </p:spTree>
    <p:extLst>
      <p:ext uri="{BB962C8B-B14F-4D97-AF65-F5344CB8AC3E}">
        <p14:creationId xmlns:p14="http://schemas.microsoft.com/office/powerpoint/2010/main" val="969714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27789-E50E-45F1-B478-8D953D1DC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5CDB9-317E-D188-5F35-1320EF7B3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9C111-20FB-865F-8100-5E98F894BF58}"/>
              </a:ext>
            </a:extLst>
          </p:cNvPr>
          <p:cNvSpPr>
            <a:spLocks noGrp="1"/>
          </p:cNvSpPr>
          <p:nvPr>
            <p:ph type="body" idx="1"/>
          </p:nvPr>
        </p:nvSpPr>
        <p:spPr/>
        <p:txBody>
          <a:bodyPr/>
          <a:lstStyle/>
          <a:p>
            <a:r>
              <a:rPr lang="en-US" b="1" dirty="0"/>
              <a:t>Slide 17: Challenges Faced &amp; Solutions</a:t>
            </a:r>
          </a:p>
          <a:p>
            <a:r>
              <a:rPr lang="en-US" b="1" dirty="0"/>
              <a:t>Title</a:t>
            </a:r>
          </a:p>
          <a:p>
            <a:r>
              <a:rPr lang="en-US" b="1" dirty="0"/>
              <a:t>Challenges Faced &amp; Solutions Implemented</a:t>
            </a:r>
            <a:endParaRPr lang="en-US" dirty="0"/>
          </a:p>
          <a:p>
            <a:br>
              <a:rPr lang="en-US" dirty="0"/>
            </a:br>
            <a:endParaRPr lang="en-US" dirty="0"/>
          </a:p>
          <a:p>
            <a:r>
              <a:rPr lang="en-US" b="1" dirty="0"/>
              <a:t>Challenge 1: Repeated Table Implementation</a:t>
            </a:r>
          </a:p>
          <a:p>
            <a:r>
              <a:rPr lang="en-US" b="1" dirty="0"/>
              <a:t>Problem</a:t>
            </a:r>
          </a:p>
          <a:p>
            <a:r>
              <a:rPr lang="en-US" dirty="0"/>
              <a:t>Multiple modules required table-based data display:</a:t>
            </a:r>
          </a:p>
          <a:p>
            <a:r>
              <a:rPr lang="en-US" dirty="0"/>
              <a:t>Employees</a:t>
            </a:r>
          </a:p>
          <a:p>
            <a:r>
              <a:rPr lang="en-US" dirty="0"/>
              <a:t>Departments</a:t>
            </a:r>
          </a:p>
          <a:p>
            <a:r>
              <a:rPr lang="en-US" dirty="0"/>
              <a:t>Attendance</a:t>
            </a:r>
          </a:p>
          <a:p>
            <a:r>
              <a:rPr lang="en-US" dirty="0"/>
              <a:t>Payroll</a:t>
            </a:r>
          </a:p>
          <a:p>
            <a:r>
              <a:rPr lang="en-US" dirty="0"/>
              <a:t>Creating separate tables for each module would lead to:</a:t>
            </a:r>
          </a:p>
          <a:p>
            <a:r>
              <a:rPr lang="en-US" dirty="0"/>
              <a:t>Code duplication</a:t>
            </a:r>
          </a:p>
          <a:p>
            <a:r>
              <a:rPr lang="en-US" dirty="0"/>
              <a:t>Difficult maintenance</a:t>
            </a:r>
          </a:p>
          <a:p>
            <a:r>
              <a:rPr lang="en-US" dirty="0"/>
              <a:t>Inconsistent UI</a:t>
            </a:r>
          </a:p>
          <a:p>
            <a:r>
              <a:rPr lang="en-US" b="1" dirty="0"/>
              <a:t>Solution</a:t>
            </a:r>
          </a:p>
          <a:p>
            <a:r>
              <a:rPr lang="en-US" dirty="0"/>
              <a:t>Created a reusable:</a:t>
            </a:r>
          </a:p>
          <a:p>
            <a:r>
              <a:rPr lang="en-US" sz="1200" kern="1200" dirty="0" err="1">
                <a:solidFill>
                  <a:schemeClr val="tx1"/>
                </a:solidFill>
                <a:latin typeface="+mn-lt"/>
                <a:ea typeface="+mn-ea"/>
                <a:cs typeface="+mn-cs"/>
              </a:rPr>
              <a:t>DataTable.jsx</a:t>
            </a:r>
            <a:endParaRPr lang="en-US" sz="1200" kern="1200" dirty="0">
              <a:solidFill>
                <a:schemeClr val="tx1"/>
              </a:solidFill>
              <a:latin typeface="+mn-lt"/>
              <a:ea typeface="+mn-ea"/>
              <a:cs typeface="+mn-cs"/>
            </a:endParaRPr>
          </a:p>
          <a:p>
            <a:r>
              <a:rPr lang="en-US" b="1" dirty="0"/>
              <a:t>Result</a:t>
            </a:r>
          </a:p>
          <a:p>
            <a:r>
              <a:rPr lang="en-US" dirty="0"/>
              <a:t>✅ Single reusable component</a:t>
            </a:r>
          </a:p>
          <a:p>
            <a:r>
              <a:rPr lang="en-US" dirty="0"/>
              <a:t>✅ Consistent design</a:t>
            </a:r>
          </a:p>
          <a:p>
            <a:r>
              <a:rPr lang="en-US" dirty="0"/>
              <a:t>✅ Easier maintenance</a:t>
            </a:r>
          </a:p>
          <a:p>
            <a:br>
              <a:rPr lang="en-US" dirty="0"/>
            </a:br>
            <a:endParaRPr lang="en-US" dirty="0"/>
          </a:p>
          <a:p>
            <a:r>
              <a:rPr lang="en-US" b="1" dirty="0"/>
              <a:t>Challenge 2: Duplicate Filtering Logic</a:t>
            </a:r>
          </a:p>
          <a:p>
            <a:r>
              <a:rPr lang="en-US" b="1" dirty="0"/>
              <a:t>Problem</a:t>
            </a:r>
          </a:p>
          <a:p>
            <a:r>
              <a:rPr lang="en-US" dirty="0"/>
              <a:t>Every module required:</a:t>
            </a:r>
          </a:p>
          <a:p>
            <a:r>
              <a:rPr lang="en-US" dirty="0"/>
              <a:t>Search</a:t>
            </a:r>
          </a:p>
          <a:p>
            <a:r>
              <a:rPr lang="en-US" dirty="0"/>
              <a:t>Filtering</a:t>
            </a:r>
          </a:p>
          <a:p>
            <a:r>
              <a:rPr lang="en-US" dirty="0"/>
              <a:t>Data processing</a:t>
            </a:r>
          </a:p>
          <a:p>
            <a:r>
              <a:rPr lang="en-US" dirty="0"/>
              <a:t>Keeping this logic inside components would make them large and difficult to manage.</a:t>
            </a:r>
          </a:p>
          <a:p>
            <a:r>
              <a:rPr lang="en-US" b="1" dirty="0"/>
              <a:t>Solution</a:t>
            </a:r>
          </a:p>
          <a:p>
            <a:r>
              <a:rPr lang="en-US" dirty="0"/>
              <a:t>Created custom hooks:</a:t>
            </a:r>
          </a:p>
          <a:p>
            <a:r>
              <a:rPr lang="en-US" sz="1200" kern="1200" dirty="0" err="1">
                <a:solidFill>
                  <a:schemeClr val="tx1"/>
                </a:solidFill>
                <a:latin typeface="+mn-lt"/>
                <a:ea typeface="+mn-ea"/>
                <a:cs typeface="+mn-cs"/>
              </a:rPr>
              <a:t>useEmployeeFilters</a:t>
            </a:r>
            <a:r>
              <a:rPr lang="en-US" sz="1200" kern="1200" dirty="0">
                <a:solidFill>
                  <a:schemeClr val="tx1"/>
                </a:solidFill>
                <a:latin typeface="+mn-lt"/>
                <a:ea typeface="+mn-ea"/>
                <a:cs typeface="+mn-cs"/>
              </a:rPr>
              <a:t>()</a:t>
            </a:r>
          </a:p>
          <a:p>
            <a:r>
              <a:rPr lang="en-US" sz="1200" kern="1200" dirty="0" err="1">
                <a:solidFill>
                  <a:schemeClr val="tx1"/>
                </a:solidFill>
                <a:latin typeface="+mn-lt"/>
                <a:ea typeface="+mn-ea"/>
                <a:cs typeface="+mn-cs"/>
              </a:rPr>
              <a:t>useAttendanceFilter</a:t>
            </a:r>
            <a:r>
              <a:rPr lang="en-US" sz="1200" kern="1200" dirty="0">
                <a:solidFill>
                  <a:schemeClr val="tx1"/>
                </a:solidFill>
                <a:latin typeface="+mn-lt"/>
                <a:ea typeface="+mn-ea"/>
                <a:cs typeface="+mn-cs"/>
              </a:rPr>
              <a:t>()</a:t>
            </a:r>
          </a:p>
          <a:p>
            <a:r>
              <a:rPr lang="en-US" sz="1200" kern="1200" dirty="0" err="1">
                <a:solidFill>
                  <a:schemeClr val="tx1"/>
                </a:solidFill>
                <a:latin typeface="+mn-lt"/>
                <a:ea typeface="+mn-ea"/>
                <a:cs typeface="+mn-cs"/>
              </a:rPr>
              <a:t>useAttendanceDetailsFilter</a:t>
            </a:r>
            <a:r>
              <a:rPr lang="en-US" sz="1200" kern="1200" dirty="0">
                <a:solidFill>
                  <a:schemeClr val="tx1"/>
                </a:solidFill>
                <a:latin typeface="+mn-lt"/>
                <a:ea typeface="+mn-ea"/>
                <a:cs typeface="+mn-cs"/>
              </a:rPr>
              <a:t>()</a:t>
            </a:r>
          </a:p>
          <a:p>
            <a:r>
              <a:rPr lang="en-US" sz="1200" kern="1200" dirty="0" err="1">
                <a:solidFill>
                  <a:schemeClr val="tx1"/>
                </a:solidFill>
                <a:latin typeface="+mn-lt"/>
                <a:ea typeface="+mn-ea"/>
                <a:cs typeface="+mn-cs"/>
              </a:rPr>
              <a:t>usePayRollFilters</a:t>
            </a:r>
            <a:r>
              <a:rPr lang="en-US" sz="1200" kern="1200" dirty="0">
                <a:solidFill>
                  <a:schemeClr val="tx1"/>
                </a:solidFill>
                <a:latin typeface="+mn-lt"/>
                <a:ea typeface="+mn-ea"/>
                <a:cs typeface="+mn-cs"/>
              </a:rPr>
              <a:t>()</a:t>
            </a:r>
          </a:p>
          <a:p>
            <a:r>
              <a:rPr lang="en-US" b="1" dirty="0"/>
              <a:t>Result</a:t>
            </a:r>
          </a:p>
          <a:p>
            <a:r>
              <a:rPr lang="en-US" dirty="0"/>
              <a:t>✅ Cleaner components</a:t>
            </a:r>
          </a:p>
          <a:p>
            <a:r>
              <a:rPr lang="en-US" dirty="0"/>
              <a:t>✅ Reusable logic</a:t>
            </a:r>
          </a:p>
          <a:p>
            <a:r>
              <a:rPr lang="en-US" dirty="0"/>
              <a:t>✅ Better separation of concerns</a:t>
            </a:r>
          </a:p>
          <a:p>
            <a:br>
              <a:rPr lang="en-US" dirty="0"/>
            </a:br>
            <a:endParaRPr lang="en-US" dirty="0"/>
          </a:p>
          <a:p>
            <a:r>
              <a:rPr lang="en-US" b="1" dirty="0"/>
              <a:t>Challenge 3: Route Security</a:t>
            </a:r>
          </a:p>
          <a:p>
            <a:r>
              <a:rPr lang="en-US" b="1" dirty="0"/>
              <a:t>Problem</a:t>
            </a:r>
          </a:p>
          <a:p>
            <a:r>
              <a:rPr lang="en-US" dirty="0"/>
              <a:t>Users could potentially access pages directly through URLs without proper authentication.</a:t>
            </a:r>
          </a:p>
          <a:p>
            <a:r>
              <a:rPr lang="en-US" b="1" dirty="0"/>
              <a:t>Solution</a:t>
            </a:r>
          </a:p>
          <a:p>
            <a:r>
              <a:rPr lang="en-US" dirty="0"/>
              <a:t>Implemented:</a:t>
            </a:r>
          </a:p>
          <a:p>
            <a:r>
              <a:rPr lang="en-US" sz="1200" kern="1200" dirty="0" err="1">
                <a:solidFill>
                  <a:schemeClr val="tx1"/>
                </a:solidFill>
                <a:latin typeface="+mn-lt"/>
                <a:ea typeface="+mn-ea"/>
                <a:cs typeface="+mn-cs"/>
              </a:rPr>
              <a:t>ProtectedRoute.jsx</a:t>
            </a:r>
            <a:endParaRPr lang="en-US" sz="1200" kern="1200" dirty="0">
              <a:solidFill>
                <a:schemeClr val="tx1"/>
              </a:solidFill>
              <a:latin typeface="+mn-lt"/>
              <a:ea typeface="+mn-ea"/>
              <a:cs typeface="+mn-cs"/>
            </a:endParaRPr>
          </a:p>
          <a:p>
            <a:r>
              <a:rPr lang="en-US" sz="1200" kern="1200" dirty="0" err="1">
                <a:solidFill>
                  <a:schemeClr val="tx1"/>
                </a:solidFill>
                <a:latin typeface="+mn-lt"/>
                <a:ea typeface="+mn-ea"/>
                <a:cs typeface="+mn-cs"/>
              </a:rPr>
              <a:t>AuthContext</a:t>
            </a:r>
            <a:endParaRPr lang="en-US" sz="1200" kern="1200" dirty="0">
              <a:solidFill>
                <a:schemeClr val="tx1"/>
              </a:solidFill>
              <a:latin typeface="+mn-lt"/>
              <a:ea typeface="+mn-ea"/>
              <a:cs typeface="+mn-cs"/>
            </a:endParaRPr>
          </a:p>
          <a:p>
            <a:r>
              <a:rPr lang="en-US" sz="1200" kern="1200" dirty="0" err="1">
                <a:solidFill>
                  <a:schemeClr val="tx1"/>
                </a:solidFill>
                <a:latin typeface="+mn-lt"/>
                <a:ea typeface="+mn-ea"/>
                <a:cs typeface="+mn-cs"/>
              </a:rPr>
              <a:t>AuthProvider</a:t>
            </a:r>
            <a:endParaRPr lang="en-US" sz="1200" kern="1200" dirty="0">
              <a:solidFill>
                <a:schemeClr val="tx1"/>
              </a:solidFill>
              <a:latin typeface="+mn-lt"/>
              <a:ea typeface="+mn-ea"/>
              <a:cs typeface="+mn-cs"/>
            </a:endParaRPr>
          </a:p>
          <a:p>
            <a:r>
              <a:rPr lang="en-US" b="1" dirty="0"/>
              <a:t>Result</a:t>
            </a:r>
          </a:p>
          <a:p>
            <a:r>
              <a:rPr lang="en-US" dirty="0"/>
              <a:t>✅ Secure navigation</a:t>
            </a:r>
          </a:p>
          <a:p>
            <a:r>
              <a:rPr lang="en-US" dirty="0"/>
              <a:t>✅ Controlled access</a:t>
            </a:r>
          </a:p>
          <a:p>
            <a:r>
              <a:rPr lang="en-US" dirty="0"/>
              <a:t>✅ Better user experience</a:t>
            </a:r>
          </a:p>
          <a:p>
            <a:br>
              <a:rPr lang="en-US" dirty="0"/>
            </a:br>
            <a:endParaRPr lang="en-US" dirty="0"/>
          </a:p>
          <a:p>
            <a:r>
              <a:rPr lang="en-US" b="1" dirty="0"/>
              <a:t>Challenge 4: Global Authentication State</a:t>
            </a:r>
          </a:p>
          <a:p>
            <a:r>
              <a:rPr lang="en-US" b="1" dirty="0"/>
              <a:t>Problem</a:t>
            </a:r>
          </a:p>
          <a:p>
            <a:r>
              <a:rPr lang="en-US" dirty="0"/>
              <a:t>Authentication information needed to be shared across multiple pages.</a:t>
            </a:r>
          </a:p>
          <a:p>
            <a:r>
              <a:rPr lang="en-US" dirty="0"/>
              <a:t>Without global state:</a:t>
            </a:r>
          </a:p>
          <a:p>
            <a:r>
              <a:rPr lang="en-US" dirty="0"/>
              <a:t>Prop drilling</a:t>
            </a:r>
          </a:p>
          <a:p>
            <a:r>
              <a:rPr lang="en-US" dirty="0"/>
              <a:t>Increased complexity</a:t>
            </a:r>
          </a:p>
          <a:p>
            <a:r>
              <a:rPr lang="en-US" dirty="0"/>
              <a:t>Difficult maintenance</a:t>
            </a:r>
          </a:p>
          <a:p>
            <a:r>
              <a:rPr lang="en-US" b="1" dirty="0"/>
              <a:t>Solution</a:t>
            </a:r>
          </a:p>
          <a:p>
            <a:r>
              <a:rPr lang="en-US" dirty="0"/>
              <a:t>Implemented:</a:t>
            </a:r>
          </a:p>
          <a:p>
            <a:r>
              <a:rPr lang="en-US" sz="1200" kern="1200" dirty="0">
                <a:solidFill>
                  <a:schemeClr val="tx1"/>
                </a:solidFill>
                <a:latin typeface="+mn-lt"/>
                <a:ea typeface="+mn-ea"/>
                <a:cs typeface="+mn-cs"/>
              </a:rPr>
              <a:t>React Context API</a:t>
            </a:r>
          </a:p>
          <a:p>
            <a:r>
              <a:rPr lang="en-US" b="1" dirty="0"/>
              <a:t>Result</a:t>
            </a:r>
          </a:p>
          <a:p>
            <a:r>
              <a:rPr lang="en-US" dirty="0"/>
              <a:t>✅ Centralized authentication</a:t>
            </a:r>
          </a:p>
          <a:p>
            <a:r>
              <a:rPr lang="en-US" dirty="0"/>
              <a:t>✅ Simplified state management</a:t>
            </a:r>
          </a:p>
          <a:p>
            <a:r>
              <a:rPr lang="en-US" dirty="0"/>
              <a:t>✅ Cleaner architecture</a:t>
            </a:r>
          </a:p>
          <a:p>
            <a:br>
              <a:rPr lang="en-US" dirty="0"/>
            </a:br>
            <a:endParaRPr lang="en-US" dirty="0"/>
          </a:p>
          <a:p>
            <a:r>
              <a:rPr lang="en-US" b="1" dirty="0"/>
              <a:t>Challenge 5: Growing Project Structure</a:t>
            </a:r>
          </a:p>
          <a:p>
            <a:r>
              <a:rPr lang="en-US" b="1" dirty="0"/>
              <a:t>Problem</a:t>
            </a:r>
          </a:p>
          <a:p>
            <a:r>
              <a:rPr lang="en-US" dirty="0"/>
              <a:t>As features increased:</a:t>
            </a:r>
          </a:p>
          <a:p>
            <a:r>
              <a:rPr lang="en-US" dirty="0"/>
              <a:t>More components</a:t>
            </a:r>
          </a:p>
          <a:p>
            <a:r>
              <a:rPr lang="en-US" dirty="0"/>
              <a:t>More business logic</a:t>
            </a:r>
          </a:p>
          <a:p>
            <a:r>
              <a:rPr lang="en-US" dirty="0"/>
              <a:t>More data handling</a:t>
            </a:r>
          </a:p>
          <a:p>
            <a:r>
              <a:rPr lang="en-US" dirty="0"/>
              <a:t>Risk:</a:t>
            </a:r>
          </a:p>
          <a:p>
            <a:r>
              <a:rPr lang="en-US" dirty="0"/>
              <a:t>Unorganized codebase</a:t>
            </a:r>
          </a:p>
          <a:p>
            <a:r>
              <a:rPr lang="en-US" dirty="0"/>
              <a:t>Difficult scalability</a:t>
            </a:r>
          </a:p>
          <a:p>
            <a:r>
              <a:rPr lang="en-US" b="1" dirty="0"/>
              <a:t>Solution</a:t>
            </a:r>
          </a:p>
          <a:p>
            <a:r>
              <a:rPr lang="en-US" dirty="0"/>
              <a:t>Adopted modular folder structure:</a:t>
            </a:r>
          </a:p>
          <a:p>
            <a:r>
              <a:rPr lang="en-US" sz="1200" kern="1200" dirty="0">
                <a:solidFill>
                  <a:schemeClr val="tx1"/>
                </a:solidFill>
                <a:latin typeface="+mn-lt"/>
                <a:ea typeface="+mn-ea"/>
                <a:cs typeface="+mn-cs"/>
              </a:rPr>
              <a:t>pages/</a:t>
            </a:r>
          </a:p>
          <a:p>
            <a:r>
              <a:rPr lang="en-US" sz="1200" kern="1200" dirty="0">
                <a:solidFill>
                  <a:schemeClr val="tx1"/>
                </a:solidFill>
                <a:latin typeface="+mn-lt"/>
                <a:ea typeface="+mn-ea"/>
                <a:cs typeface="+mn-cs"/>
              </a:rPr>
              <a:t>components/</a:t>
            </a:r>
          </a:p>
          <a:p>
            <a:r>
              <a:rPr lang="en-US" sz="1200" kern="1200" dirty="0">
                <a:solidFill>
                  <a:schemeClr val="tx1"/>
                </a:solidFill>
                <a:latin typeface="+mn-lt"/>
                <a:ea typeface="+mn-ea"/>
                <a:cs typeface="+mn-cs"/>
              </a:rPr>
              <a:t>hooks/</a:t>
            </a:r>
          </a:p>
          <a:p>
            <a:r>
              <a:rPr lang="en-US" sz="1200" kern="1200" dirty="0" err="1">
                <a:solidFill>
                  <a:schemeClr val="tx1"/>
                </a:solidFill>
                <a:latin typeface="+mn-lt"/>
                <a:ea typeface="+mn-ea"/>
                <a:cs typeface="+mn-cs"/>
              </a:rPr>
              <a:t>api</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context/</a:t>
            </a:r>
          </a:p>
          <a:p>
            <a:r>
              <a:rPr lang="en-US" sz="1200" kern="1200" dirty="0">
                <a:solidFill>
                  <a:schemeClr val="tx1"/>
                </a:solidFill>
                <a:latin typeface="+mn-lt"/>
                <a:ea typeface="+mn-ea"/>
                <a:cs typeface="+mn-cs"/>
              </a:rPr>
              <a:t>utils/</a:t>
            </a:r>
          </a:p>
          <a:p>
            <a:r>
              <a:rPr lang="en-US" sz="1200" kern="1200" dirty="0">
                <a:solidFill>
                  <a:schemeClr val="tx1"/>
                </a:solidFill>
                <a:latin typeface="+mn-lt"/>
                <a:ea typeface="+mn-ea"/>
                <a:cs typeface="+mn-cs"/>
              </a:rPr>
              <a:t>layout/</a:t>
            </a:r>
          </a:p>
          <a:p>
            <a:r>
              <a:rPr lang="en-US" b="1" dirty="0"/>
              <a:t>Result</a:t>
            </a:r>
          </a:p>
          <a:p>
            <a:r>
              <a:rPr lang="en-US" dirty="0"/>
              <a:t>✅ Organized architecture</a:t>
            </a:r>
          </a:p>
          <a:p>
            <a:r>
              <a:rPr lang="en-US" dirty="0"/>
              <a:t>✅ Easier feature expansion</a:t>
            </a:r>
          </a:p>
          <a:p>
            <a:r>
              <a:rPr lang="en-US" dirty="0"/>
              <a:t>✅ Improved maintainability</a:t>
            </a:r>
          </a:p>
          <a:p>
            <a:br>
              <a:rPr lang="en-US" dirty="0"/>
            </a:br>
            <a:endParaRPr lang="en-US" dirty="0"/>
          </a:p>
          <a:p>
            <a:r>
              <a:rPr lang="en-US" b="1" dirty="0"/>
              <a:t>Summary Table</a:t>
            </a:r>
          </a:p>
          <a:p>
            <a:r>
              <a:rPr lang="en-US" dirty="0" err="1"/>
              <a:t>ChallengeSolutionDuplicate</a:t>
            </a:r>
            <a:r>
              <a:rPr lang="en-US" dirty="0"/>
              <a:t> </a:t>
            </a:r>
            <a:r>
              <a:rPr lang="en-US" dirty="0" err="1"/>
              <a:t>TablesReusable</a:t>
            </a:r>
            <a:r>
              <a:rPr lang="en-US" dirty="0"/>
              <a:t> </a:t>
            </a:r>
            <a:r>
              <a:rPr lang="en-US" dirty="0" err="1"/>
              <a:t>DataTableRepeated</a:t>
            </a:r>
            <a:r>
              <a:rPr lang="en-US" dirty="0"/>
              <a:t> Filtering </a:t>
            </a:r>
            <a:r>
              <a:rPr lang="en-US" dirty="0" err="1"/>
              <a:t>LogicCustom</a:t>
            </a:r>
            <a:r>
              <a:rPr lang="en-US" dirty="0"/>
              <a:t> </a:t>
            </a:r>
            <a:r>
              <a:rPr lang="en-US" dirty="0" err="1"/>
              <a:t>HooksRoute</a:t>
            </a:r>
            <a:r>
              <a:rPr lang="en-US" dirty="0"/>
              <a:t> </a:t>
            </a:r>
            <a:r>
              <a:rPr lang="en-US" dirty="0" err="1"/>
              <a:t>SecurityProtected</a:t>
            </a:r>
            <a:r>
              <a:rPr lang="en-US" dirty="0"/>
              <a:t> </a:t>
            </a:r>
            <a:r>
              <a:rPr lang="en-US" dirty="0" err="1"/>
              <a:t>RoutesGlobal</a:t>
            </a:r>
            <a:r>
              <a:rPr lang="en-US" dirty="0"/>
              <a:t> State </a:t>
            </a:r>
            <a:r>
              <a:rPr lang="en-US" dirty="0" err="1"/>
              <a:t>SharingContext</a:t>
            </a:r>
            <a:r>
              <a:rPr lang="en-US" dirty="0"/>
              <a:t> </a:t>
            </a:r>
            <a:r>
              <a:rPr lang="en-US" dirty="0" err="1"/>
              <a:t>APIProject</a:t>
            </a:r>
            <a:r>
              <a:rPr lang="en-US" dirty="0"/>
              <a:t> </a:t>
            </a:r>
            <a:r>
              <a:rPr lang="en-US" dirty="0" err="1"/>
              <a:t>ScalabilityModular</a:t>
            </a:r>
            <a:r>
              <a:rPr lang="en-US" dirty="0"/>
              <a:t> Architecture</a:t>
            </a:r>
          </a:p>
          <a:p>
            <a:br>
              <a:rPr lang="en-US" dirty="0"/>
            </a:br>
            <a:endParaRPr lang="en-US" dirty="0"/>
          </a:p>
          <a:p>
            <a:r>
              <a:rPr lang="en-US" b="1" dirty="0"/>
              <a:t>Key Learning Outcomes</a:t>
            </a:r>
          </a:p>
          <a:p>
            <a:r>
              <a:rPr lang="en-US" b="1" dirty="0"/>
              <a:t>Technical Skills</a:t>
            </a:r>
          </a:p>
          <a:p>
            <a:r>
              <a:rPr lang="en-US" dirty="0"/>
              <a:t>React Router</a:t>
            </a:r>
          </a:p>
          <a:p>
            <a:r>
              <a:rPr lang="en-US" dirty="0"/>
              <a:t>Context API</a:t>
            </a:r>
          </a:p>
          <a:p>
            <a:r>
              <a:rPr lang="en-US" dirty="0"/>
              <a:t>Custom Hooks</a:t>
            </a:r>
          </a:p>
          <a:p>
            <a:r>
              <a:rPr lang="en-US" dirty="0"/>
              <a:t>Component Reusability</a:t>
            </a:r>
          </a:p>
          <a:p>
            <a:r>
              <a:rPr lang="en-US" dirty="0"/>
              <a:t>Modular Architecture</a:t>
            </a:r>
          </a:p>
          <a:p>
            <a:r>
              <a:rPr lang="en-US" b="1" dirty="0"/>
              <a:t>Engineering Skills</a:t>
            </a:r>
          </a:p>
          <a:p>
            <a:r>
              <a:rPr lang="en-US" dirty="0"/>
              <a:t>Problem Solving</a:t>
            </a:r>
          </a:p>
          <a:p>
            <a:r>
              <a:rPr lang="en-US" dirty="0"/>
              <a:t>Code Organization</a:t>
            </a:r>
          </a:p>
          <a:p>
            <a:r>
              <a:rPr lang="en-US" dirty="0"/>
              <a:t>Maintainability Planning</a:t>
            </a:r>
          </a:p>
          <a:p>
            <a:r>
              <a:rPr lang="en-US" dirty="0"/>
              <a:t>Scalability Design</a:t>
            </a:r>
          </a:p>
          <a:p>
            <a:br>
              <a:rPr lang="en-US" dirty="0"/>
            </a:br>
            <a:endParaRPr lang="en-US" dirty="0"/>
          </a:p>
          <a:p>
            <a:r>
              <a:rPr lang="en-US" b="1" dirty="0"/>
              <a:t>Speaker Notes</a:t>
            </a:r>
          </a:p>
          <a:p>
            <a:r>
              <a:rPr lang="en-US" dirty="0"/>
              <a:t>During development, several challenges were encountered related to reusability, authentication, state management, and project organization. These challenges were addressed through reusable components, custom hooks, Context API, and modular architecture. The solutions not only resolved immediate issues but also improved the long-term maintainability and scalability of the application.</a:t>
            </a:r>
          </a:p>
          <a:p>
            <a:br>
              <a:rPr lang="en-US" dirty="0"/>
            </a:br>
            <a:endParaRPr lang="en-US" dirty="0"/>
          </a:p>
          <a:p>
            <a:r>
              <a:rPr lang="en-US" b="1" dirty="0"/>
              <a:t>Slide 18: Results &amp; SMART Objective Achievement</a:t>
            </a:r>
          </a:p>
          <a:p>
            <a:r>
              <a:rPr lang="en-US" dirty="0"/>
              <a:t>This is one of the most important closing slides because it explicitly proves that the project met the objectives shown in your SMART objective document.</a:t>
            </a:r>
          </a:p>
          <a:p>
            <a:r>
              <a:rPr lang="en-US" dirty="0"/>
              <a:t>We'll map:</a:t>
            </a:r>
          </a:p>
          <a:p>
            <a:r>
              <a:rPr lang="en-US" dirty="0"/>
              <a:t>Objective → Implementation → Result</a:t>
            </a:r>
          </a:p>
          <a:p>
            <a:r>
              <a:rPr lang="en-US" dirty="0"/>
              <a:t>Reusable Components → Achieved</a:t>
            </a:r>
          </a:p>
          <a:p>
            <a:r>
              <a:rPr lang="en-US" dirty="0"/>
              <a:t>Routing → Achieved</a:t>
            </a:r>
          </a:p>
          <a:p>
            <a:r>
              <a:rPr lang="en-US" dirty="0"/>
              <a:t>Context API → Achieved</a:t>
            </a:r>
          </a:p>
          <a:p>
            <a:r>
              <a:rPr lang="en-US" dirty="0"/>
              <a:t>Hooks → Achieved</a:t>
            </a:r>
          </a:p>
          <a:p>
            <a:r>
              <a:rPr lang="en-US" dirty="0"/>
              <a:t>Maintainability → Achieved</a:t>
            </a:r>
          </a:p>
          <a:p>
            <a:r>
              <a:rPr lang="en-US" dirty="0"/>
              <a:t>This slide serves as your "evidence of success" before the conclusion and demo slides.</a:t>
            </a:r>
          </a:p>
        </p:txBody>
      </p:sp>
      <p:sp>
        <p:nvSpPr>
          <p:cNvPr id="4" name="Slide Number Placeholder 3">
            <a:extLst>
              <a:ext uri="{FF2B5EF4-FFF2-40B4-BE49-F238E27FC236}">
                <a16:creationId xmlns:a16="http://schemas.microsoft.com/office/drawing/2014/main" id="{999DBA97-5314-5757-0DA3-5950E3949D2B}"/>
              </a:ext>
            </a:extLst>
          </p:cNvPr>
          <p:cNvSpPr>
            <a:spLocks noGrp="1"/>
          </p:cNvSpPr>
          <p:nvPr>
            <p:ph type="sldNum" sz="quarter" idx="5"/>
          </p:nvPr>
        </p:nvSpPr>
        <p:spPr/>
        <p:txBody>
          <a:bodyPr/>
          <a:lstStyle/>
          <a:p>
            <a:fld id="{F27E4F37-7821-48E6-91AC-01ECF9D61796}" type="slidenum">
              <a:rPr lang="en-IN" smtClean="0"/>
              <a:t>17</a:t>
            </a:fld>
            <a:endParaRPr lang="en-IN"/>
          </a:p>
        </p:txBody>
      </p:sp>
    </p:spTree>
    <p:extLst>
      <p:ext uri="{BB962C8B-B14F-4D97-AF65-F5344CB8AC3E}">
        <p14:creationId xmlns:p14="http://schemas.microsoft.com/office/powerpoint/2010/main" val="38507657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8596D-C49A-86B1-61A6-A69D867AC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958C2-4BD3-2077-77C7-175715A38D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AEBF61-4B38-5A2A-8887-3CCA34826683}"/>
              </a:ext>
            </a:extLst>
          </p:cNvPr>
          <p:cNvSpPr>
            <a:spLocks noGrp="1"/>
          </p:cNvSpPr>
          <p:nvPr>
            <p:ph type="body" idx="1"/>
          </p:nvPr>
        </p:nvSpPr>
        <p:spPr/>
        <p:txBody>
          <a:bodyPr/>
          <a:lstStyle/>
          <a:p>
            <a:r>
              <a:rPr lang="en-IN" b="1" dirty="0"/>
              <a:t>Slide 18: Results &amp; SMART Objective Achievement</a:t>
            </a:r>
          </a:p>
          <a:p>
            <a:r>
              <a:rPr lang="en-IN" b="1" dirty="0"/>
              <a:t>Title</a:t>
            </a:r>
          </a:p>
          <a:p>
            <a:r>
              <a:rPr lang="en-IN" b="1" dirty="0"/>
              <a:t>Results &amp; SMART Objective Achievement</a:t>
            </a:r>
            <a:endParaRPr lang="en-IN" dirty="0"/>
          </a:p>
          <a:p>
            <a:br>
              <a:rPr lang="en-IN" dirty="0"/>
            </a:br>
            <a:endParaRPr lang="en-IN" dirty="0"/>
          </a:p>
          <a:p>
            <a:r>
              <a:rPr lang="en-IN" b="1" dirty="0"/>
              <a:t>SMART Objective</a:t>
            </a:r>
          </a:p>
          <a:p>
            <a:r>
              <a:rPr lang="en-IN" dirty="0"/>
              <a:t>Improve the quality and maintainability of the React application by developing reusable components and following coding standards.</a:t>
            </a:r>
          </a:p>
          <a:p>
            <a:br>
              <a:rPr lang="en-IN" dirty="0"/>
            </a:br>
            <a:endParaRPr lang="en-IN" dirty="0"/>
          </a:p>
          <a:p>
            <a:r>
              <a:rPr lang="en-IN" b="1" dirty="0"/>
              <a:t>Objective vs Achievement</a:t>
            </a:r>
          </a:p>
          <a:p>
            <a:r>
              <a:rPr lang="en-IN" dirty="0" err="1"/>
              <a:t>ObjectiveImplementationStatusCreate</a:t>
            </a:r>
            <a:r>
              <a:rPr lang="en-IN" dirty="0"/>
              <a:t> reusable </a:t>
            </a:r>
            <a:r>
              <a:rPr lang="en-IN" dirty="0" err="1"/>
              <a:t>componentsHeader</a:t>
            </a:r>
            <a:r>
              <a:rPr lang="en-IN" dirty="0"/>
              <a:t>, Sidebar, </a:t>
            </a:r>
            <a:r>
              <a:rPr lang="en-IN" dirty="0" err="1"/>
              <a:t>DataTable</a:t>
            </a:r>
            <a:r>
              <a:rPr lang="en-IN" dirty="0"/>
              <a:t>, Filters, </a:t>
            </a:r>
            <a:r>
              <a:rPr lang="en-IN" dirty="0" err="1"/>
              <a:t>InfoCard</a:t>
            </a:r>
            <a:r>
              <a:rPr lang="en-IN" dirty="0"/>
              <a:t>, Breadcrumb, </a:t>
            </a:r>
            <a:r>
              <a:rPr lang="en-IN" dirty="0" err="1"/>
              <a:t>PageLoader</a:t>
            </a:r>
            <a:r>
              <a:rPr lang="en-IN" dirty="0"/>
              <a:t>, </a:t>
            </a:r>
            <a:r>
              <a:rPr lang="en-IN" dirty="0" err="1"/>
              <a:t>EmptyState</a:t>
            </a:r>
            <a:r>
              <a:rPr lang="en-IN" dirty="0"/>
              <a:t>✅ </a:t>
            </a:r>
            <a:r>
              <a:rPr lang="en-IN" dirty="0" err="1"/>
              <a:t>AchievedDemonstrate</a:t>
            </a:r>
            <a:r>
              <a:rPr lang="en-IN" dirty="0"/>
              <a:t> React </a:t>
            </a:r>
            <a:r>
              <a:rPr lang="en-IN" dirty="0" err="1"/>
              <a:t>RouterRouter</a:t>
            </a:r>
            <a:r>
              <a:rPr lang="en-IN" dirty="0"/>
              <a:t> configuration and navigation✅ </a:t>
            </a:r>
            <a:r>
              <a:rPr lang="en-IN" dirty="0" err="1"/>
              <a:t>AchievedImplement</a:t>
            </a:r>
            <a:r>
              <a:rPr lang="en-IN" dirty="0"/>
              <a:t> protected </a:t>
            </a:r>
            <a:r>
              <a:rPr lang="en-IN" dirty="0" err="1"/>
              <a:t>routingProtectedRoute</a:t>
            </a:r>
            <a:r>
              <a:rPr lang="en-IN" dirty="0"/>
              <a:t> + Context API✅ </a:t>
            </a:r>
            <a:r>
              <a:rPr lang="en-IN" dirty="0" err="1"/>
              <a:t>AchievedImprove</a:t>
            </a:r>
            <a:r>
              <a:rPr lang="en-IN" dirty="0"/>
              <a:t> </a:t>
            </a:r>
            <a:r>
              <a:rPr lang="en-IN" dirty="0" err="1"/>
              <a:t>maintainabilityModular</a:t>
            </a:r>
            <a:r>
              <a:rPr lang="en-IN" dirty="0"/>
              <a:t> folder structure✅ </a:t>
            </a:r>
            <a:r>
              <a:rPr lang="en-IN" dirty="0" err="1"/>
              <a:t>AchievedReduce</a:t>
            </a:r>
            <a:r>
              <a:rPr lang="en-IN" dirty="0"/>
              <a:t> code </a:t>
            </a:r>
            <a:r>
              <a:rPr lang="en-IN" dirty="0" err="1"/>
              <a:t>duplicationReusable</a:t>
            </a:r>
            <a:r>
              <a:rPr lang="en-IN" dirty="0"/>
              <a:t> components + custom hooks✅ </a:t>
            </a:r>
            <a:r>
              <a:rPr lang="en-IN" dirty="0" err="1"/>
              <a:t>AchievedFollow</a:t>
            </a:r>
            <a:r>
              <a:rPr lang="en-IN" dirty="0"/>
              <a:t> React best </a:t>
            </a:r>
            <a:r>
              <a:rPr lang="en-IN" dirty="0" err="1"/>
              <a:t>practicesHooks</a:t>
            </a:r>
            <a:r>
              <a:rPr lang="en-IN" dirty="0"/>
              <a:t>, Context API, </a:t>
            </a:r>
            <a:r>
              <a:rPr lang="en-IN" dirty="0" err="1"/>
              <a:t>PropTypes</a:t>
            </a:r>
            <a:r>
              <a:rPr lang="en-IN" dirty="0"/>
              <a:t>✅ </a:t>
            </a:r>
            <a:r>
              <a:rPr lang="en-IN" dirty="0" err="1"/>
              <a:t>AchievedEnhance</a:t>
            </a:r>
            <a:r>
              <a:rPr lang="en-IN" dirty="0"/>
              <a:t> </a:t>
            </a:r>
            <a:r>
              <a:rPr lang="en-IN" dirty="0" err="1"/>
              <a:t>scalabilityLayered</a:t>
            </a:r>
            <a:r>
              <a:rPr lang="en-IN" dirty="0"/>
              <a:t> architecture✅ Achieved</a:t>
            </a:r>
          </a:p>
          <a:p>
            <a:br>
              <a:rPr lang="en-IN" dirty="0"/>
            </a:br>
            <a:endParaRPr lang="en-IN" dirty="0"/>
          </a:p>
          <a:p>
            <a:r>
              <a:rPr lang="en-IN" b="1" dirty="0"/>
              <a:t>Key Deliverables Completed</a:t>
            </a:r>
          </a:p>
          <a:p>
            <a:r>
              <a:rPr lang="en-IN" b="1" dirty="0"/>
              <a:t>Authentication System</a:t>
            </a:r>
          </a:p>
          <a:p>
            <a:r>
              <a:rPr lang="en-IN" dirty="0"/>
              <a:t>✅ Login Page</a:t>
            </a:r>
          </a:p>
          <a:p>
            <a:r>
              <a:rPr lang="en-IN" dirty="0"/>
              <a:t>✅ Context API</a:t>
            </a:r>
          </a:p>
          <a:p>
            <a:r>
              <a:rPr lang="en-IN" dirty="0"/>
              <a:t>✅ Protected Routes</a:t>
            </a:r>
          </a:p>
          <a:p>
            <a:br>
              <a:rPr lang="en-IN" dirty="0"/>
            </a:br>
            <a:endParaRPr lang="en-IN" dirty="0"/>
          </a:p>
          <a:p>
            <a:r>
              <a:rPr lang="en-IN" b="1" dirty="0"/>
              <a:t>Routing System</a:t>
            </a:r>
          </a:p>
          <a:p>
            <a:r>
              <a:rPr lang="en-IN" dirty="0"/>
              <a:t>✅ Dashboard</a:t>
            </a:r>
          </a:p>
          <a:p>
            <a:r>
              <a:rPr lang="en-IN" dirty="0"/>
              <a:t>✅ Employees</a:t>
            </a:r>
          </a:p>
          <a:p>
            <a:r>
              <a:rPr lang="en-IN" dirty="0"/>
              <a:t>✅ Departments</a:t>
            </a:r>
          </a:p>
          <a:p>
            <a:r>
              <a:rPr lang="en-IN" dirty="0"/>
              <a:t>✅ Attendance</a:t>
            </a:r>
          </a:p>
          <a:p>
            <a:r>
              <a:rPr lang="en-IN" dirty="0"/>
              <a:t>✅ Payroll</a:t>
            </a:r>
          </a:p>
          <a:p>
            <a:br>
              <a:rPr lang="en-IN" dirty="0"/>
            </a:br>
            <a:endParaRPr lang="en-IN" dirty="0"/>
          </a:p>
          <a:p>
            <a:r>
              <a:rPr lang="en-IN" b="1" dirty="0"/>
              <a:t>Reusable Components</a:t>
            </a:r>
          </a:p>
          <a:p>
            <a:r>
              <a:rPr lang="en-IN" sz="1200" kern="1200" dirty="0">
                <a:solidFill>
                  <a:schemeClr val="tx1"/>
                </a:solidFill>
                <a:latin typeface="+mn-lt"/>
                <a:ea typeface="+mn-ea"/>
                <a:cs typeface="+mn-cs"/>
              </a:rPr>
              <a:t>Header</a:t>
            </a:r>
          </a:p>
          <a:p>
            <a:r>
              <a:rPr lang="en-IN" sz="1200" kern="1200" dirty="0">
                <a:solidFill>
                  <a:schemeClr val="tx1"/>
                </a:solidFill>
                <a:latin typeface="+mn-lt"/>
                <a:ea typeface="+mn-ea"/>
                <a:cs typeface="+mn-cs"/>
              </a:rPr>
              <a:t>Sidebar</a:t>
            </a:r>
          </a:p>
          <a:p>
            <a:r>
              <a:rPr lang="en-IN" sz="1200" kern="1200" dirty="0" err="1">
                <a:solidFill>
                  <a:schemeClr val="tx1"/>
                </a:solidFill>
                <a:latin typeface="+mn-lt"/>
                <a:ea typeface="+mn-ea"/>
                <a:cs typeface="+mn-cs"/>
              </a:rPr>
              <a:t>DataTable</a:t>
            </a:r>
            <a:endParaRPr lang="en-IN" sz="1200" kern="1200" dirty="0">
              <a:solidFill>
                <a:schemeClr val="tx1"/>
              </a:solidFill>
              <a:latin typeface="+mn-lt"/>
              <a:ea typeface="+mn-ea"/>
              <a:cs typeface="+mn-cs"/>
            </a:endParaRPr>
          </a:p>
          <a:p>
            <a:r>
              <a:rPr lang="en-IN" sz="1200" kern="1200" dirty="0">
                <a:solidFill>
                  <a:schemeClr val="tx1"/>
                </a:solidFill>
                <a:latin typeface="+mn-lt"/>
                <a:ea typeface="+mn-ea"/>
                <a:cs typeface="+mn-cs"/>
              </a:rPr>
              <a:t>Filters</a:t>
            </a:r>
          </a:p>
          <a:p>
            <a:r>
              <a:rPr lang="en-IN" sz="1200" kern="1200" dirty="0">
                <a:solidFill>
                  <a:schemeClr val="tx1"/>
                </a:solidFill>
                <a:latin typeface="+mn-lt"/>
                <a:ea typeface="+mn-ea"/>
                <a:cs typeface="+mn-cs"/>
              </a:rPr>
              <a:t>Breadcrumb</a:t>
            </a:r>
          </a:p>
          <a:p>
            <a:r>
              <a:rPr lang="en-IN" sz="1200" kern="1200" dirty="0" err="1">
                <a:solidFill>
                  <a:schemeClr val="tx1"/>
                </a:solidFill>
                <a:latin typeface="+mn-lt"/>
                <a:ea typeface="+mn-ea"/>
                <a:cs typeface="+mn-cs"/>
              </a:rPr>
              <a:t>InfoCard</a:t>
            </a:r>
            <a:endParaRPr lang="en-IN" sz="1200" kern="1200" dirty="0">
              <a:solidFill>
                <a:schemeClr val="tx1"/>
              </a:solidFill>
              <a:latin typeface="+mn-lt"/>
              <a:ea typeface="+mn-ea"/>
              <a:cs typeface="+mn-cs"/>
            </a:endParaRPr>
          </a:p>
          <a:p>
            <a:r>
              <a:rPr lang="en-IN" sz="1200" kern="1200" dirty="0" err="1">
                <a:solidFill>
                  <a:schemeClr val="tx1"/>
                </a:solidFill>
                <a:latin typeface="+mn-lt"/>
                <a:ea typeface="+mn-ea"/>
                <a:cs typeface="+mn-cs"/>
              </a:rPr>
              <a:t>PageLoader</a:t>
            </a:r>
            <a:endParaRPr lang="en-IN" sz="1200" kern="1200" dirty="0">
              <a:solidFill>
                <a:schemeClr val="tx1"/>
              </a:solidFill>
              <a:latin typeface="+mn-lt"/>
              <a:ea typeface="+mn-ea"/>
              <a:cs typeface="+mn-cs"/>
            </a:endParaRPr>
          </a:p>
          <a:p>
            <a:r>
              <a:rPr lang="en-IN" sz="1200" kern="1200" dirty="0" err="1">
                <a:solidFill>
                  <a:schemeClr val="tx1"/>
                </a:solidFill>
                <a:latin typeface="+mn-lt"/>
                <a:ea typeface="+mn-ea"/>
                <a:cs typeface="+mn-cs"/>
              </a:rPr>
              <a:t>EmptyState</a:t>
            </a:r>
            <a:endParaRPr lang="en-IN" sz="1200" kern="1200" dirty="0">
              <a:solidFill>
                <a:schemeClr val="tx1"/>
              </a:solidFill>
              <a:latin typeface="+mn-lt"/>
              <a:ea typeface="+mn-ea"/>
              <a:cs typeface="+mn-cs"/>
            </a:endParaRPr>
          </a:p>
          <a:p>
            <a:br>
              <a:rPr lang="en-IN" dirty="0"/>
            </a:br>
            <a:endParaRPr lang="en-IN" dirty="0"/>
          </a:p>
          <a:p>
            <a:r>
              <a:rPr lang="en-IN" b="1" dirty="0"/>
              <a:t>Custom Hooks</a:t>
            </a:r>
          </a:p>
          <a:p>
            <a:r>
              <a:rPr lang="en-IN" sz="1200" kern="1200" dirty="0" err="1">
                <a:solidFill>
                  <a:schemeClr val="tx1"/>
                </a:solidFill>
                <a:latin typeface="+mn-lt"/>
                <a:ea typeface="+mn-ea"/>
                <a:cs typeface="+mn-cs"/>
              </a:rPr>
              <a:t>useDashboardSummary</a:t>
            </a:r>
            <a:r>
              <a:rPr lang="en-IN" sz="1200" kern="1200" dirty="0">
                <a:solidFill>
                  <a:schemeClr val="tx1"/>
                </a:solidFill>
                <a:latin typeface="+mn-lt"/>
                <a:ea typeface="+mn-ea"/>
                <a:cs typeface="+mn-cs"/>
              </a:rPr>
              <a:t>()</a:t>
            </a:r>
          </a:p>
          <a:p>
            <a:r>
              <a:rPr lang="en-IN" sz="1200" kern="1200" dirty="0" err="1">
                <a:solidFill>
                  <a:schemeClr val="tx1"/>
                </a:solidFill>
                <a:latin typeface="+mn-lt"/>
                <a:ea typeface="+mn-ea"/>
                <a:cs typeface="+mn-cs"/>
              </a:rPr>
              <a:t>useEmployeeFilters</a:t>
            </a:r>
            <a:r>
              <a:rPr lang="en-IN" sz="1200" kern="1200" dirty="0">
                <a:solidFill>
                  <a:schemeClr val="tx1"/>
                </a:solidFill>
                <a:latin typeface="+mn-lt"/>
                <a:ea typeface="+mn-ea"/>
                <a:cs typeface="+mn-cs"/>
              </a:rPr>
              <a:t>()</a:t>
            </a:r>
          </a:p>
          <a:p>
            <a:r>
              <a:rPr lang="en-IN" sz="1200" kern="1200" dirty="0" err="1">
                <a:solidFill>
                  <a:schemeClr val="tx1"/>
                </a:solidFill>
                <a:latin typeface="+mn-lt"/>
                <a:ea typeface="+mn-ea"/>
                <a:cs typeface="+mn-cs"/>
              </a:rPr>
              <a:t>useDepartmentSummary</a:t>
            </a:r>
            <a:r>
              <a:rPr lang="en-IN" sz="1200" kern="1200" dirty="0">
                <a:solidFill>
                  <a:schemeClr val="tx1"/>
                </a:solidFill>
                <a:latin typeface="+mn-lt"/>
                <a:ea typeface="+mn-ea"/>
                <a:cs typeface="+mn-cs"/>
              </a:rPr>
              <a:t>()</a:t>
            </a:r>
          </a:p>
          <a:p>
            <a:r>
              <a:rPr lang="en-IN" sz="1200" kern="1200" dirty="0" err="1">
                <a:solidFill>
                  <a:schemeClr val="tx1"/>
                </a:solidFill>
                <a:latin typeface="+mn-lt"/>
                <a:ea typeface="+mn-ea"/>
                <a:cs typeface="+mn-cs"/>
              </a:rPr>
              <a:t>useAttendanceFilter</a:t>
            </a:r>
            <a:r>
              <a:rPr lang="en-IN" sz="1200" kern="1200" dirty="0">
                <a:solidFill>
                  <a:schemeClr val="tx1"/>
                </a:solidFill>
                <a:latin typeface="+mn-lt"/>
                <a:ea typeface="+mn-ea"/>
                <a:cs typeface="+mn-cs"/>
              </a:rPr>
              <a:t>()</a:t>
            </a:r>
          </a:p>
          <a:p>
            <a:r>
              <a:rPr lang="en-IN" sz="1200" kern="1200" dirty="0" err="1">
                <a:solidFill>
                  <a:schemeClr val="tx1"/>
                </a:solidFill>
                <a:latin typeface="+mn-lt"/>
                <a:ea typeface="+mn-ea"/>
                <a:cs typeface="+mn-cs"/>
              </a:rPr>
              <a:t>useAttendanceDetailsFilter</a:t>
            </a:r>
            <a:r>
              <a:rPr lang="en-IN" sz="1200" kern="1200" dirty="0">
                <a:solidFill>
                  <a:schemeClr val="tx1"/>
                </a:solidFill>
                <a:latin typeface="+mn-lt"/>
                <a:ea typeface="+mn-ea"/>
                <a:cs typeface="+mn-cs"/>
              </a:rPr>
              <a:t>()</a:t>
            </a:r>
          </a:p>
          <a:p>
            <a:r>
              <a:rPr lang="en-IN" sz="1200" kern="1200" dirty="0" err="1">
                <a:solidFill>
                  <a:schemeClr val="tx1"/>
                </a:solidFill>
                <a:latin typeface="+mn-lt"/>
                <a:ea typeface="+mn-ea"/>
                <a:cs typeface="+mn-cs"/>
              </a:rPr>
              <a:t>useAttendanceSummary</a:t>
            </a:r>
            <a:r>
              <a:rPr lang="en-IN" sz="1200" kern="1200" dirty="0">
                <a:solidFill>
                  <a:schemeClr val="tx1"/>
                </a:solidFill>
                <a:latin typeface="+mn-lt"/>
                <a:ea typeface="+mn-ea"/>
                <a:cs typeface="+mn-cs"/>
              </a:rPr>
              <a:t>()</a:t>
            </a:r>
          </a:p>
          <a:p>
            <a:r>
              <a:rPr lang="en-IN" sz="1200" kern="1200" dirty="0" err="1">
                <a:solidFill>
                  <a:schemeClr val="tx1"/>
                </a:solidFill>
                <a:latin typeface="+mn-lt"/>
                <a:ea typeface="+mn-ea"/>
                <a:cs typeface="+mn-cs"/>
              </a:rPr>
              <a:t>usePayRollFilters</a:t>
            </a:r>
            <a:r>
              <a:rPr lang="en-IN" sz="1200" kern="1200" dirty="0">
                <a:solidFill>
                  <a:schemeClr val="tx1"/>
                </a:solidFill>
                <a:latin typeface="+mn-lt"/>
                <a:ea typeface="+mn-ea"/>
                <a:cs typeface="+mn-cs"/>
              </a:rPr>
              <a:t>()</a:t>
            </a:r>
          </a:p>
          <a:p>
            <a:br>
              <a:rPr lang="en-IN" dirty="0"/>
            </a:br>
            <a:endParaRPr lang="en-IN" dirty="0"/>
          </a:p>
          <a:p>
            <a:r>
              <a:rPr lang="en-IN" b="1" dirty="0"/>
              <a:t>Project Metrics</a:t>
            </a:r>
          </a:p>
          <a:p>
            <a:r>
              <a:rPr lang="en-IN" dirty="0"/>
              <a:t>Based on your structure:</a:t>
            </a:r>
          </a:p>
          <a:p>
            <a:r>
              <a:rPr lang="en-IN" dirty="0"/>
              <a:t>CategoryCountPages6API Files3Custom Hooks7Layouts5Reusable Components20+Context Providers1Protected Routes1</a:t>
            </a:r>
          </a:p>
          <a:p>
            <a:r>
              <a:rPr lang="en-IN" i="1" dirty="0"/>
              <a:t>(These numbers make the project look substantial and measurable.)</a:t>
            </a:r>
            <a:endParaRPr lang="en-IN" dirty="0"/>
          </a:p>
          <a:p>
            <a:br>
              <a:rPr lang="en-IN" dirty="0"/>
            </a:br>
            <a:endParaRPr lang="en-IN" dirty="0"/>
          </a:p>
          <a:p>
            <a:r>
              <a:rPr lang="en-IN" b="1" dirty="0"/>
              <a:t>Architectural Improvements Achieved</a:t>
            </a:r>
          </a:p>
          <a:p>
            <a:r>
              <a:rPr lang="en-IN" b="1" dirty="0"/>
              <a:t>Before</a:t>
            </a:r>
          </a:p>
          <a:p>
            <a:r>
              <a:rPr lang="en-IN" sz="1200" kern="1200" dirty="0">
                <a:solidFill>
                  <a:schemeClr val="tx1"/>
                </a:solidFill>
                <a:latin typeface="+mn-lt"/>
                <a:ea typeface="+mn-ea"/>
                <a:cs typeface="+mn-cs"/>
              </a:rPr>
              <a:t>UI + Logic + Data</a:t>
            </a:r>
          </a:p>
          <a:p>
            <a:r>
              <a:rPr lang="en-IN" sz="1200" kern="1200" dirty="0">
                <a:solidFill>
                  <a:schemeClr val="tx1"/>
                </a:solidFill>
                <a:latin typeface="+mn-lt"/>
                <a:ea typeface="+mn-ea"/>
                <a:cs typeface="+mn-cs"/>
              </a:rPr>
              <a:t>All mixed together</a:t>
            </a:r>
          </a:p>
          <a:p>
            <a:r>
              <a:rPr lang="en-IN" dirty="0"/>
              <a:t>Problems:</a:t>
            </a:r>
          </a:p>
          <a:p>
            <a:r>
              <a:rPr lang="en-IN" dirty="0"/>
              <a:t>Difficult maintenance</a:t>
            </a:r>
          </a:p>
          <a:p>
            <a:r>
              <a:rPr lang="en-IN" dirty="0"/>
              <a:t>Duplicate code</a:t>
            </a:r>
          </a:p>
          <a:p>
            <a:r>
              <a:rPr lang="en-IN" dirty="0"/>
              <a:t>Hard scalability</a:t>
            </a:r>
          </a:p>
          <a:p>
            <a:br>
              <a:rPr lang="en-IN" dirty="0"/>
            </a:br>
            <a:endParaRPr lang="en-IN" dirty="0"/>
          </a:p>
          <a:p>
            <a:r>
              <a:rPr lang="en-IN" b="1" dirty="0"/>
              <a:t>After</a:t>
            </a:r>
          </a:p>
          <a:p>
            <a:r>
              <a:rPr lang="en-IN" sz="1200" kern="1200" dirty="0">
                <a:solidFill>
                  <a:schemeClr val="tx1"/>
                </a:solidFill>
                <a:latin typeface="+mn-lt"/>
                <a:ea typeface="+mn-ea"/>
                <a:cs typeface="+mn-cs"/>
              </a:rPr>
              <a:t>Pages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Components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Hooks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API Layer</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Utilities</a:t>
            </a:r>
          </a:p>
          <a:p>
            <a:r>
              <a:rPr lang="en-IN" dirty="0"/>
              <a:t>Benefits:</a:t>
            </a:r>
          </a:p>
          <a:p>
            <a:r>
              <a:rPr lang="en-IN" dirty="0"/>
              <a:t>Clean architecture</a:t>
            </a:r>
          </a:p>
          <a:p>
            <a:r>
              <a:rPr lang="en-IN" dirty="0"/>
              <a:t>Easier maintenance</a:t>
            </a:r>
          </a:p>
          <a:p>
            <a:r>
              <a:rPr lang="en-IN" dirty="0"/>
              <a:t>Better scalability</a:t>
            </a:r>
          </a:p>
          <a:p>
            <a:br>
              <a:rPr lang="en-IN" dirty="0"/>
            </a:br>
            <a:endParaRPr lang="en-IN" dirty="0"/>
          </a:p>
          <a:p>
            <a:r>
              <a:rPr lang="en-IN" b="1" dirty="0"/>
              <a:t>Overall Impact</a:t>
            </a:r>
          </a:p>
          <a:p>
            <a:r>
              <a:rPr lang="en-IN" b="1" dirty="0"/>
              <a:t>Code Quality</a:t>
            </a:r>
          </a:p>
          <a:p>
            <a:r>
              <a:rPr lang="en-IN" dirty="0"/>
              <a:t>⬆ Improved</a:t>
            </a:r>
          </a:p>
          <a:p>
            <a:r>
              <a:rPr lang="en-IN" b="1" dirty="0"/>
              <a:t>Reusability</a:t>
            </a:r>
          </a:p>
          <a:p>
            <a:r>
              <a:rPr lang="en-IN" dirty="0"/>
              <a:t>⬆ Increased</a:t>
            </a:r>
          </a:p>
          <a:p>
            <a:r>
              <a:rPr lang="en-IN" b="1" dirty="0"/>
              <a:t>Maintainability</a:t>
            </a:r>
          </a:p>
          <a:p>
            <a:r>
              <a:rPr lang="en-IN" dirty="0"/>
              <a:t>⬆ Enhanced</a:t>
            </a:r>
          </a:p>
          <a:p>
            <a:r>
              <a:rPr lang="en-IN" b="1" dirty="0"/>
              <a:t>Scalability</a:t>
            </a:r>
          </a:p>
          <a:p>
            <a:r>
              <a:rPr lang="en-IN" dirty="0"/>
              <a:t>⬆ Improved</a:t>
            </a:r>
          </a:p>
          <a:p>
            <a:r>
              <a:rPr lang="en-IN" b="1" dirty="0"/>
              <a:t>User Experience</a:t>
            </a:r>
          </a:p>
          <a:p>
            <a:r>
              <a:rPr lang="en-IN" dirty="0"/>
              <a:t>⬆ Better Navigation &amp; Organization</a:t>
            </a:r>
          </a:p>
          <a:p>
            <a:br>
              <a:rPr lang="en-IN" dirty="0"/>
            </a:br>
            <a:endParaRPr lang="en-IN" dirty="0"/>
          </a:p>
          <a:p>
            <a:r>
              <a:rPr lang="en-IN" b="1" dirty="0"/>
              <a:t>Success Summary</a:t>
            </a:r>
          </a:p>
          <a:p>
            <a:r>
              <a:rPr lang="en-IN" sz="1200" kern="1200" dirty="0">
                <a:solidFill>
                  <a:schemeClr val="tx1"/>
                </a:solidFill>
                <a:latin typeface="+mn-lt"/>
                <a:ea typeface="+mn-ea"/>
                <a:cs typeface="+mn-cs"/>
              </a:rPr>
              <a:t>SMART Objective</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Reusable Components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Custom Hooks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Protected Routes</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Clean Architecture</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        ▼</a:t>
            </a:r>
          </a:p>
          <a:p>
            <a:r>
              <a:rPr lang="en-IN" sz="1200" kern="1200" dirty="0">
                <a:solidFill>
                  <a:schemeClr val="tx1"/>
                </a:solidFill>
                <a:latin typeface="+mn-lt"/>
                <a:ea typeface="+mn-ea"/>
                <a:cs typeface="+mn-cs"/>
              </a:rPr>
              <a:t>Maintainable React Application</a:t>
            </a:r>
          </a:p>
          <a:p>
            <a:br>
              <a:rPr lang="en-IN" dirty="0"/>
            </a:br>
            <a:endParaRPr lang="en-IN" dirty="0"/>
          </a:p>
          <a:p>
            <a:r>
              <a:rPr lang="en-IN" b="1" dirty="0"/>
              <a:t>Speaker Notes</a:t>
            </a:r>
          </a:p>
          <a:p>
            <a:r>
              <a:rPr lang="en-IN" dirty="0"/>
              <a:t>All SMART objective requirements were successfully achieved. Reusable components were implemented across multiple modules, React Router and protected navigation were integrated, authentication was managed using Context API, and business logic was extracted into custom hooks. These improvements significantly enhanced the maintainability, scalability, and overall quality of the application.</a:t>
            </a:r>
          </a:p>
          <a:p>
            <a:br>
              <a:rPr lang="en-IN" dirty="0"/>
            </a:br>
            <a:endParaRPr lang="en-IN" dirty="0"/>
          </a:p>
          <a:p>
            <a:r>
              <a:rPr lang="en-IN" b="1" dirty="0"/>
              <a:t>Slide 19: Future Enhancements</a:t>
            </a:r>
          </a:p>
          <a:p>
            <a:r>
              <a:rPr lang="en-IN" dirty="0"/>
              <a:t>This is a short but very professional slide. It shows that you understand how the project could evolve beyond its current scope and demonstrates architectural thinking.</a:t>
            </a:r>
          </a:p>
        </p:txBody>
      </p:sp>
      <p:sp>
        <p:nvSpPr>
          <p:cNvPr id="4" name="Slide Number Placeholder 3">
            <a:extLst>
              <a:ext uri="{FF2B5EF4-FFF2-40B4-BE49-F238E27FC236}">
                <a16:creationId xmlns:a16="http://schemas.microsoft.com/office/drawing/2014/main" id="{34DD2F15-8221-D6E3-8E16-2FF301E1BCA6}"/>
              </a:ext>
            </a:extLst>
          </p:cNvPr>
          <p:cNvSpPr>
            <a:spLocks noGrp="1"/>
          </p:cNvSpPr>
          <p:nvPr>
            <p:ph type="sldNum" sz="quarter" idx="5"/>
          </p:nvPr>
        </p:nvSpPr>
        <p:spPr/>
        <p:txBody>
          <a:bodyPr/>
          <a:lstStyle/>
          <a:p>
            <a:fld id="{F27E4F37-7821-48E6-91AC-01ECF9D61796}" type="slidenum">
              <a:rPr lang="en-IN" smtClean="0"/>
              <a:t>18</a:t>
            </a:fld>
            <a:endParaRPr lang="en-IN"/>
          </a:p>
        </p:txBody>
      </p:sp>
    </p:spTree>
    <p:extLst>
      <p:ext uri="{BB962C8B-B14F-4D97-AF65-F5344CB8AC3E}">
        <p14:creationId xmlns:p14="http://schemas.microsoft.com/office/powerpoint/2010/main" val="17657517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C62F8-5D00-B3E6-5F69-85B066411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92E95-B11B-390C-C310-143A492377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C3817E-135A-CD72-E51B-DD472DC3B4B8}"/>
              </a:ext>
            </a:extLst>
          </p:cNvPr>
          <p:cNvSpPr>
            <a:spLocks noGrp="1"/>
          </p:cNvSpPr>
          <p:nvPr>
            <p:ph type="body" idx="1"/>
          </p:nvPr>
        </p:nvSpPr>
        <p:spPr/>
        <p:txBody>
          <a:bodyPr/>
          <a:lstStyle/>
          <a:p>
            <a:r>
              <a:rPr lang="en-US" b="1" dirty="0"/>
              <a:t>Slide 19: Future Enhancements</a:t>
            </a:r>
          </a:p>
          <a:p>
            <a:r>
              <a:rPr lang="en-US" b="1" dirty="0"/>
              <a:t>Title</a:t>
            </a:r>
          </a:p>
          <a:p>
            <a:r>
              <a:rPr lang="en-US" b="1" dirty="0"/>
              <a:t>Future Enhancements</a:t>
            </a:r>
            <a:endParaRPr lang="en-US" dirty="0"/>
          </a:p>
          <a:p>
            <a:br>
              <a:rPr lang="en-US" dirty="0"/>
            </a:br>
            <a:endParaRPr lang="en-US" dirty="0"/>
          </a:p>
          <a:p>
            <a:r>
              <a:rPr lang="en-US" b="1" dirty="0"/>
              <a:t>Purpose</a:t>
            </a:r>
          </a:p>
          <a:p>
            <a:r>
              <a:rPr lang="en-US" dirty="0"/>
              <a:t>The current Employee Management System provides a strong foundation and can be extended with additional enterprise-level features.</a:t>
            </a:r>
          </a:p>
          <a:p>
            <a:br>
              <a:rPr lang="en-US" dirty="0"/>
            </a:br>
            <a:endParaRPr lang="en-US" dirty="0"/>
          </a:p>
          <a:p>
            <a:r>
              <a:rPr lang="en-US" b="1" dirty="0"/>
              <a:t>Planned Enhancements</a:t>
            </a:r>
          </a:p>
          <a:p>
            <a:r>
              <a:rPr lang="en-US" b="1" dirty="0"/>
              <a:t>Role-Based Access Control (RBAC)</a:t>
            </a:r>
          </a:p>
          <a:p>
            <a:r>
              <a:rPr lang="en-US" dirty="0"/>
              <a:t>Current:</a:t>
            </a:r>
          </a:p>
          <a:p>
            <a:r>
              <a:rPr lang="en-US" dirty="0"/>
              <a:t>Authentication-based access</a:t>
            </a:r>
          </a:p>
          <a:p>
            <a:r>
              <a:rPr lang="en-US" dirty="0"/>
              <a:t>Future:</a:t>
            </a:r>
          </a:p>
          <a:p>
            <a:r>
              <a:rPr lang="en-US" dirty="0"/>
              <a:t>Admin</a:t>
            </a:r>
          </a:p>
          <a:p>
            <a:r>
              <a:rPr lang="en-US" dirty="0"/>
              <a:t>HR Manager</a:t>
            </a:r>
          </a:p>
          <a:p>
            <a:r>
              <a:rPr lang="en-US" dirty="0"/>
              <a:t>Employee</a:t>
            </a:r>
          </a:p>
          <a:p>
            <a:r>
              <a:rPr lang="en-US" dirty="0"/>
              <a:t>Benefits:</a:t>
            </a:r>
          </a:p>
          <a:p>
            <a:r>
              <a:rPr lang="en-US" dirty="0"/>
              <a:t>✅ Better security</a:t>
            </a:r>
          </a:p>
          <a:p>
            <a:r>
              <a:rPr lang="en-US" dirty="0"/>
              <a:t>✅ Fine-grained permissions</a:t>
            </a:r>
          </a:p>
          <a:p>
            <a:br>
              <a:rPr lang="en-US" dirty="0"/>
            </a:br>
            <a:endParaRPr lang="en-US" dirty="0"/>
          </a:p>
          <a:p>
            <a:r>
              <a:rPr lang="en-US" b="1" dirty="0"/>
              <a:t>Real Backend Integration</a:t>
            </a:r>
          </a:p>
          <a:p>
            <a:r>
              <a:rPr lang="en-US" dirty="0"/>
              <a:t>Current:</a:t>
            </a:r>
          </a:p>
          <a:p>
            <a:r>
              <a:rPr lang="en-US" dirty="0"/>
              <a:t>API layer abstraction</a:t>
            </a:r>
          </a:p>
          <a:p>
            <a:r>
              <a:rPr lang="en-US" dirty="0"/>
              <a:t>Future:</a:t>
            </a:r>
          </a:p>
          <a:p>
            <a:r>
              <a:rPr lang="en-US" dirty="0"/>
              <a:t>REST APIs</a:t>
            </a:r>
          </a:p>
          <a:p>
            <a:r>
              <a:rPr lang="en-US" dirty="0"/>
              <a:t>Node.js / Spring Boot backend</a:t>
            </a:r>
          </a:p>
          <a:p>
            <a:r>
              <a:rPr lang="en-US" dirty="0"/>
              <a:t>Database integration</a:t>
            </a:r>
          </a:p>
          <a:p>
            <a:r>
              <a:rPr lang="en-US" dirty="0"/>
              <a:t>Benefits:</a:t>
            </a:r>
          </a:p>
          <a:p>
            <a:r>
              <a:rPr lang="en-US" dirty="0"/>
              <a:t>✅ Real-time data management</a:t>
            </a:r>
          </a:p>
          <a:p>
            <a:r>
              <a:rPr lang="en-US" dirty="0"/>
              <a:t>✅ Persistent storage</a:t>
            </a:r>
          </a:p>
          <a:p>
            <a:br>
              <a:rPr lang="en-US" dirty="0"/>
            </a:br>
            <a:endParaRPr lang="en-US" dirty="0"/>
          </a:p>
          <a:p>
            <a:r>
              <a:rPr lang="en-US" b="1" dirty="0"/>
              <a:t>Advanced Reporting</a:t>
            </a:r>
          </a:p>
          <a:p>
            <a:r>
              <a:rPr lang="en-US" dirty="0"/>
              <a:t>Future Features:</a:t>
            </a:r>
          </a:p>
          <a:p>
            <a:r>
              <a:rPr lang="en-US" dirty="0"/>
              <a:t>Attendance reports</a:t>
            </a:r>
          </a:p>
          <a:p>
            <a:r>
              <a:rPr lang="en-US" dirty="0"/>
              <a:t>Payroll reports</a:t>
            </a:r>
          </a:p>
          <a:p>
            <a:r>
              <a:rPr lang="en-US" dirty="0"/>
              <a:t>Department analytics</a:t>
            </a:r>
          </a:p>
          <a:p>
            <a:r>
              <a:rPr lang="en-US" dirty="0"/>
              <a:t>Employee performance reports</a:t>
            </a:r>
          </a:p>
          <a:p>
            <a:r>
              <a:rPr lang="en-US" dirty="0"/>
              <a:t>Benefits:</a:t>
            </a:r>
          </a:p>
          <a:p>
            <a:r>
              <a:rPr lang="en-US" dirty="0"/>
              <a:t>✅ Better decision-making</a:t>
            </a:r>
          </a:p>
          <a:p>
            <a:r>
              <a:rPr lang="en-US" dirty="0"/>
              <a:t>✅ Improved insights</a:t>
            </a:r>
          </a:p>
          <a:p>
            <a:br>
              <a:rPr lang="en-US" dirty="0"/>
            </a:br>
            <a:endParaRPr lang="en-US" dirty="0"/>
          </a:p>
          <a:p>
            <a:r>
              <a:rPr lang="en-US" b="1" dirty="0"/>
              <a:t>Data Visualization</a:t>
            </a:r>
          </a:p>
          <a:p>
            <a:r>
              <a:rPr lang="en-US" dirty="0"/>
              <a:t>Add:</a:t>
            </a:r>
          </a:p>
          <a:p>
            <a:r>
              <a:rPr lang="en-US" dirty="0"/>
              <a:t>Charts</a:t>
            </a:r>
          </a:p>
          <a:p>
            <a:r>
              <a:rPr lang="en-US" dirty="0"/>
              <a:t>Graphs</a:t>
            </a:r>
          </a:p>
          <a:p>
            <a:r>
              <a:rPr lang="en-US" dirty="0"/>
              <a:t>Trend analysis</a:t>
            </a:r>
          </a:p>
          <a:p>
            <a:r>
              <a:rPr lang="en-US" dirty="0"/>
              <a:t>Examples:</a:t>
            </a:r>
          </a:p>
          <a:p>
            <a:r>
              <a:rPr lang="en-US" sz="1200" kern="1200" dirty="0">
                <a:solidFill>
                  <a:schemeClr val="tx1"/>
                </a:solidFill>
                <a:latin typeface="+mn-lt"/>
                <a:ea typeface="+mn-ea"/>
                <a:cs typeface="+mn-cs"/>
              </a:rPr>
              <a:t>Employee Growth</a:t>
            </a:r>
          </a:p>
          <a:p>
            <a:r>
              <a:rPr lang="en-US" sz="1200" kern="1200" dirty="0">
                <a:solidFill>
                  <a:schemeClr val="tx1"/>
                </a:solidFill>
                <a:latin typeface="+mn-lt"/>
                <a:ea typeface="+mn-ea"/>
                <a:cs typeface="+mn-cs"/>
              </a:rPr>
              <a:t>Attendance Trends</a:t>
            </a:r>
          </a:p>
          <a:p>
            <a:r>
              <a:rPr lang="en-US" sz="1200" kern="1200" dirty="0">
                <a:solidFill>
                  <a:schemeClr val="tx1"/>
                </a:solidFill>
                <a:latin typeface="+mn-lt"/>
                <a:ea typeface="+mn-ea"/>
                <a:cs typeface="+mn-cs"/>
              </a:rPr>
              <a:t>Payroll Distribution</a:t>
            </a:r>
          </a:p>
          <a:p>
            <a:r>
              <a:rPr lang="en-US" sz="1200" kern="1200" dirty="0">
                <a:solidFill>
                  <a:schemeClr val="tx1"/>
                </a:solidFill>
                <a:latin typeface="+mn-lt"/>
                <a:ea typeface="+mn-ea"/>
                <a:cs typeface="+mn-cs"/>
              </a:rPr>
              <a:t>Department Statistics</a:t>
            </a:r>
          </a:p>
          <a:p>
            <a:r>
              <a:rPr lang="en-US" dirty="0"/>
              <a:t>Benefits:</a:t>
            </a:r>
          </a:p>
          <a:p>
            <a:r>
              <a:rPr lang="en-US" dirty="0"/>
              <a:t>✅ Better dashboard experience</a:t>
            </a:r>
          </a:p>
          <a:p>
            <a:r>
              <a:rPr lang="en-US" dirty="0"/>
              <a:t>✅ Enhanced analytics</a:t>
            </a:r>
          </a:p>
          <a:p>
            <a:br>
              <a:rPr lang="en-US" dirty="0"/>
            </a:br>
            <a:endParaRPr lang="en-US" dirty="0"/>
          </a:p>
          <a:p>
            <a:r>
              <a:rPr lang="en-US" b="1" dirty="0"/>
              <a:t>Export Functionality</a:t>
            </a:r>
          </a:p>
          <a:p>
            <a:r>
              <a:rPr lang="en-US" dirty="0"/>
              <a:t>Support:</a:t>
            </a:r>
          </a:p>
          <a:p>
            <a:r>
              <a:rPr lang="en-US" dirty="0"/>
              <a:t>PDF Export</a:t>
            </a:r>
          </a:p>
          <a:p>
            <a:r>
              <a:rPr lang="en-US" dirty="0"/>
              <a:t>Excel Export</a:t>
            </a:r>
          </a:p>
          <a:p>
            <a:r>
              <a:rPr lang="en-US" dirty="0"/>
              <a:t>CSV Download</a:t>
            </a:r>
          </a:p>
          <a:p>
            <a:r>
              <a:rPr lang="en-US" dirty="0"/>
              <a:t>Use Cases:</a:t>
            </a:r>
          </a:p>
          <a:p>
            <a:r>
              <a:rPr lang="en-US" dirty="0"/>
              <a:t>Attendance Reports</a:t>
            </a:r>
          </a:p>
          <a:p>
            <a:r>
              <a:rPr lang="en-US" dirty="0"/>
              <a:t>Payroll Reports</a:t>
            </a:r>
          </a:p>
          <a:p>
            <a:r>
              <a:rPr lang="en-US" dirty="0"/>
              <a:t>Employee Lists</a:t>
            </a:r>
          </a:p>
          <a:p>
            <a:br>
              <a:rPr lang="en-US" dirty="0"/>
            </a:br>
            <a:endParaRPr lang="en-US" dirty="0"/>
          </a:p>
          <a:p>
            <a:r>
              <a:rPr lang="en-US" b="1" dirty="0"/>
              <a:t>Notification System</a:t>
            </a:r>
          </a:p>
          <a:p>
            <a:r>
              <a:rPr lang="en-US" dirty="0"/>
              <a:t>Future Features:</a:t>
            </a:r>
          </a:p>
          <a:p>
            <a:r>
              <a:rPr lang="en-US" dirty="0"/>
              <a:t>Attendance alerts</a:t>
            </a:r>
          </a:p>
          <a:p>
            <a:r>
              <a:rPr lang="en-US" dirty="0"/>
              <a:t>Payroll notifications</a:t>
            </a:r>
          </a:p>
          <a:p>
            <a:r>
              <a:rPr lang="en-US" dirty="0"/>
              <a:t>Employee updates</a:t>
            </a:r>
          </a:p>
          <a:p>
            <a:r>
              <a:rPr lang="en-US" dirty="0"/>
              <a:t>Department announcements</a:t>
            </a:r>
          </a:p>
          <a:p>
            <a:r>
              <a:rPr lang="en-US" dirty="0"/>
              <a:t>Benefits:</a:t>
            </a:r>
          </a:p>
          <a:p>
            <a:r>
              <a:rPr lang="en-US" dirty="0"/>
              <a:t>✅ Improved communication</a:t>
            </a:r>
          </a:p>
          <a:p>
            <a:br>
              <a:rPr lang="en-US" dirty="0"/>
            </a:br>
            <a:endParaRPr lang="en-US" dirty="0"/>
          </a:p>
          <a:p>
            <a:r>
              <a:rPr lang="en-US" b="1" dirty="0"/>
              <a:t>Responsive Mobile Experience</a:t>
            </a:r>
          </a:p>
          <a:p>
            <a:r>
              <a:rPr lang="en-US" dirty="0"/>
              <a:t>Enhancements:</a:t>
            </a:r>
          </a:p>
          <a:p>
            <a:r>
              <a:rPr lang="en-US" dirty="0"/>
              <a:t>Mobile-first optimization</a:t>
            </a:r>
          </a:p>
          <a:p>
            <a:r>
              <a:rPr lang="en-US" dirty="0"/>
              <a:t>Tablet support</a:t>
            </a:r>
          </a:p>
          <a:p>
            <a:r>
              <a:rPr lang="en-US" dirty="0"/>
              <a:t>Progressive Web App (PWA)</a:t>
            </a:r>
          </a:p>
          <a:p>
            <a:r>
              <a:rPr lang="en-US" dirty="0"/>
              <a:t>Benefits:</a:t>
            </a:r>
          </a:p>
          <a:p>
            <a:r>
              <a:rPr lang="en-US" dirty="0"/>
              <a:t>✅ Better accessibility</a:t>
            </a:r>
          </a:p>
          <a:p>
            <a:r>
              <a:rPr lang="en-US" dirty="0"/>
              <a:t>✅ Anywhere access</a:t>
            </a:r>
          </a:p>
          <a:p>
            <a:br>
              <a:rPr lang="en-US" dirty="0"/>
            </a:br>
            <a:endParaRPr lang="en-US" dirty="0"/>
          </a:p>
          <a:p>
            <a:r>
              <a:rPr lang="en-US" b="1" dirty="0"/>
              <a:t>Future Architecture Vision</a:t>
            </a:r>
          </a:p>
          <a:p>
            <a:r>
              <a:rPr lang="en-US" sz="1200" kern="1200" dirty="0">
                <a:solidFill>
                  <a:schemeClr val="tx1"/>
                </a:solidFill>
                <a:latin typeface="+mn-lt"/>
                <a:ea typeface="+mn-ea"/>
                <a:cs typeface="+mn-cs"/>
              </a:rPr>
              <a:t>EMS Application</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    ▼    ▼</a:t>
            </a:r>
          </a:p>
          <a:p>
            <a:r>
              <a:rPr lang="en-US" sz="1200" kern="1200" dirty="0">
                <a:solidFill>
                  <a:schemeClr val="tx1"/>
                </a:solidFill>
                <a:latin typeface="+mn-lt"/>
                <a:ea typeface="+mn-ea"/>
                <a:cs typeface="+mn-cs"/>
              </a:rPr>
              <a:t>Backend Database Analytics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Reporting &amp; Insights</a:t>
            </a:r>
          </a:p>
          <a:p>
            <a:br>
              <a:rPr lang="en-US" dirty="0"/>
            </a:br>
            <a:endParaRPr lang="en-US" dirty="0"/>
          </a:p>
          <a:p>
            <a:r>
              <a:rPr lang="en-US" b="1" dirty="0"/>
              <a:t>Benefits of Current Architecture</a:t>
            </a:r>
          </a:p>
          <a:p>
            <a:r>
              <a:rPr lang="en-US" dirty="0"/>
              <a:t>Because the project already follows:</a:t>
            </a:r>
          </a:p>
          <a:p>
            <a:r>
              <a:rPr lang="en-US" dirty="0"/>
              <a:t>✅ Reusable Components</a:t>
            </a:r>
          </a:p>
          <a:p>
            <a:r>
              <a:rPr lang="en-US" dirty="0"/>
              <a:t>✅ Custom Hooks</a:t>
            </a:r>
          </a:p>
          <a:p>
            <a:r>
              <a:rPr lang="en-US" dirty="0"/>
              <a:t>✅ Context API</a:t>
            </a:r>
          </a:p>
          <a:p>
            <a:r>
              <a:rPr lang="en-US" dirty="0"/>
              <a:t>✅ Modular Structure</a:t>
            </a:r>
          </a:p>
          <a:p>
            <a:r>
              <a:rPr lang="en-US" dirty="0"/>
              <a:t>New features can be added with minimal changes to existing code.</a:t>
            </a:r>
          </a:p>
          <a:p>
            <a:br>
              <a:rPr lang="en-US" dirty="0"/>
            </a:br>
            <a:endParaRPr lang="en-US" dirty="0"/>
          </a:p>
          <a:p>
            <a:r>
              <a:rPr lang="en-US" b="1" dirty="0"/>
              <a:t>Speaker Notes</a:t>
            </a:r>
          </a:p>
          <a:p>
            <a:r>
              <a:rPr lang="en-US" dirty="0"/>
              <a:t>The application has been designed with scalability in mind. Future enhancements may include role-based access control, backend integration, advanced reporting, data visualization, export functionality, and mobile optimization. The modular architecture adopted during development makes it easier to introduce these features without significant restructuring.</a:t>
            </a:r>
          </a:p>
          <a:p>
            <a:br>
              <a:rPr lang="en-US" dirty="0"/>
            </a:br>
            <a:endParaRPr lang="en-US" dirty="0"/>
          </a:p>
          <a:p>
            <a:r>
              <a:rPr lang="en-US" b="1" dirty="0"/>
              <a:t>Slide 20: Conclusion</a:t>
            </a:r>
          </a:p>
          <a:p>
            <a:r>
              <a:rPr lang="en-US" dirty="0"/>
              <a:t>This should be your final content slide before the Q&amp;A/demo. It summarizes the entire project in one concise, professional slide and leaves a strong final impression. After that, we'll do a simple </a:t>
            </a:r>
            <a:r>
              <a:rPr lang="en-US" b="1" dirty="0"/>
              <a:t>Slide 21: Thank You &amp; Questions</a:t>
            </a:r>
            <a:r>
              <a:rPr lang="en-US" dirty="0"/>
              <a:t>.</a:t>
            </a:r>
          </a:p>
        </p:txBody>
      </p:sp>
      <p:sp>
        <p:nvSpPr>
          <p:cNvPr id="4" name="Slide Number Placeholder 3">
            <a:extLst>
              <a:ext uri="{FF2B5EF4-FFF2-40B4-BE49-F238E27FC236}">
                <a16:creationId xmlns:a16="http://schemas.microsoft.com/office/drawing/2014/main" id="{C711E778-213D-DC3B-D685-FA1B2DED6EBA}"/>
              </a:ext>
            </a:extLst>
          </p:cNvPr>
          <p:cNvSpPr>
            <a:spLocks noGrp="1"/>
          </p:cNvSpPr>
          <p:nvPr>
            <p:ph type="sldNum" sz="quarter" idx="5"/>
          </p:nvPr>
        </p:nvSpPr>
        <p:spPr/>
        <p:txBody>
          <a:bodyPr/>
          <a:lstStyle/>
          <a:p>
            <a:fld id="{F27E4F37-7821-48E6-91AC-01ECF9D61796}" type="slidenum">
              <a:rPr lang="en-IN" smtClean="0"/>
              <a:t>19</a:t>
            </a:fld>
            <a:endParaRPr lang="en-IN"/>
          </a:p>
        </p:txBody>
      </p:sp>
    </p:spTree>
    <p:extLst>
      <p:ext uri="{BB962C8B-B14F-4D97-AF65-F5344CB8AC3E}">
        <p14:creationId xmlns:p14="http://schemas.microsoft.com/office/powerpoint/2010/main" val="3110156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11E6D-DDBE-0B96-E04D-F5E381BD2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AB8A09-6368-5011-D170-0DFD831E8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C8791B-A9E0-41ED-4780-D7409CF10D6C}"/>
              </a:ext>
            </a:extLst>
          </p:cNvPr>
          <p:cNvSpPr>
            <a:spLocks noGrp="1"/>
          </p:cNvSpPr>
          <p:nvPr>
            <p:ph type="body" idx="1"/>
          </p:nvPr>
        </p:nvSpPr>
        <p:spPr/>
        <p:txBody>
          <a:bodyPr/>
          <a:lstStyle/>
          <a:p>
            <a:r>
              <a:rPr lang="en-US" b="1" dirty="0"/>
              <a:t>Slide 20: Conclusion</a:t>
            </a:r>
          </a:p>
          <a:p>
            <a:r>
              <a:rPr lang="en-US" b="1" dirty="0"/>
              <a:t>Title</a:t>
            </a:r>
          </a:p>
          <a:p>
            <a:r>
              <a:rPr lang="en-US" b="1" dirty="0"/>
              <a:t>Conclusion</a:t>
            </a:r>
            <a:endParaRPr lang="en-US" dirty="0"/>
          </a:p>
          <a:p>
            <a:br>
              <a:rPr lang="en-US" dirty="0"/>
            </a:br>
            <a:endParaRPr lang="en-US" dirty="0"/>
          </a:p>
          <a:p>
            <a:r>
              <a:rPr lang="en-US" b="1" dirty="0"/>
              <a:t>Project Summary</a:t>
            </a:r>
          </a:p>
          <a:p>
            <a:r>
              <a:rPr lang="en-US" dirty="0"/>
              <a:t>The </a:t>
            </a:r>
            <a:r>
              <a:rPr lang="en-US" b="1" dirty="0"/>
              <a:t>Employee Management System (EMS)</a:t>
            </a:r>
            <a:r>
              <a:rPr lang="en-US" dirty="0"/>
              <a:t> was successfully developed using modern React technologies and best practices.</a:t>
            </a:r>
          </a:p>
          <a:p>
            <a:r>
              <a:rPr lang="en-US" dirty="0"/>
              <a:t>The application provides:</a:t>
            </a:r>
          </a:p>
          <a:p>
            <a:r>
              <a:rPr lang="en-US" dirty="0"/>
              <a:t>Employee Management</a:t>
            </a:r>
          </a:p>
          <a:p>
            <a:r>
              <a:rPr lang="en-US" dirty="0"/>
              <a:t>Department Management</a:t>
            </a:r>
          </a:p>
          <a:p>
            <a:r>
              <a:rPr lang="en-US" dirty="0"/>
              <a:t>Attendance Tracking</a:t>
            </a:r>
          </a:p>
          <a:p>
            <a:r>
              <a:rPr lang="en-US" dirty="0"/>
              <a:t>Payroll Management</a:t>
            </a:r>
          </a:p>
          <a:p>
            <a:r>
              <a:rPr lang="en-US" dirty="0"/>
              <a:t>Secure Authentication</a:t>
            </a:r>
          </a:p>
          <a:p>
            <a:r>
              <a:rPr lang="en-US" dirty="0"/>
              <a:t>Protected Navigation</a:t>
            </a:r>
          </a:p>
          <a:p>
            <a:br>
              <a:rPr lang="en-US" dirty="0"/>
            </a:br>
            <a:endParaRPr lang="en-US" dirty="0"/>
          </a:p>
          <a:p>
            <a:r>
              <a:rPr lang="en-US" b="1" dirty="0"/>
              <a:t>Technologies Utilized</a:t>
            </a:r>
          </a:p>
          <a:p>
            <a:r>
              <a:rPr lang="en-US" sz="1200" kern="1200" dirty="0">
                <a:solidFill>
                  <a:schemeClr val="tx1"/>
                </a:solidFill>
                <a:latin typeface="+mn-lt"/>
                <a:ea typeface="+mn-ea"/>
                <a:cs typeface="+mn-cs"/>
              </a:rPr>
              <a:t>React</a:t>
            </a:r>
          </a:p>
          <a:p>
            <a:r>
              <a:rPr lang="en-US" sz="1200" kern="1200" dirty="0">
                <a:solidFill>
                  <a:schemeClr val="tx1"/>
                </a:solidFill>
                <a:latin typeface="+mn-lt"/>
                <a:ea typeface="+mn-ea"/>
                <a:cs typeface="+mn-cs"/>
              </a:rPr>
              <a:t>Vite</a:t>
            </a:r>
          </a:p>
          <a:p>
            <a:r>
              <a:rPr lang="en-US" sz="1200" kern="1200" dirty="0">
                <a:solidFill>
                  <a:schemeClr val="tx1"/>
                </a:solidFill>
                <a:latin typeface="+mn-lt"/>
                <a:ea typeface="+mn-ea"/>
                <a:cs typeface="+mn-cs"/>
              </a:rPr>
              <a:t>Tailwind CSS</a:t>
            </a:r>
          </a:p>
          <a:p>
            <a:r>
              <a:rPr lang="en-US" sz="1200" kern="1200" dirty="0">
                <a:solidFill>
                  <a:schemeClr val="tx1"/>
                </a:solidFill>
                <a:latin typeface="+mn-lt"/>
                <a:ea typeface="+mn-ea"/>
                <a:cs typeface="+mn-cs"/>
              </a:rPr>
              <a:t>React Router</a:t>
            </a:r>
          </a:p>
          <a:p>
            <a:r>
              <a:rPr lang="en-US" sz="1200" kern="1200" dirty="0">
                <a:solidFill>
                  <a:schemeClr val="tx1"/>
                </a:solidFill>
                <a:latin typeface="+mn-lt"/>
                <a:ea typeface="+mn-ea"/>
                <a:cs typeface="+mn-cs"/>
              </a:rPr>
              <a:t>Context API</a:t>
            </a:r>
          </a:p>
          <a:p>
            <a:r>
              <a:rPr lang="en-US" sz="1200" kern="1200" dirty="0">
                <a:solidFill>
                  <a:schemeClr val="tx1"/>
                </a:solidFill>
                <a:latin typeface="+mn-lt"/>
                <a:ea typeface="+mn-ea"/>
                <a:cs typeface="+mn-cs"/>
              </a:rPr>
              <a:t>Custom Hooks</a:t>
            </a:r>
          </a:p>
          <a:p>
            <a:r>
              <a:rPr lang="en-US" sz="1200" kern="1200" dirty="0" err="1">
                <a:solidFill>
                  <a:schemeClr val="tx1"/>
                </a:solidFill>
                <a:latin typeface="+mn-lt"/>
                <a:ea typeface="+mn-ea"/>
                <a:cs typeface="+mn-cs"/>
              </a:rPr>
              <a:t>PropTypes</a:t>
            </a:r>
            <a:endParaRPr lang="en-US" sz="1200" kern="1200" dirty="0">
              <a:solidFill>
                <a:schemeClr val="tx1"/>
              </a:solidFill>
              <a:latin typeface="+mn-lt"/>
              <a:ea typeface="+mn-ea"/>
              <a:cs typeface="+mn-cs"/>
            </a:endParaRPr>
          </a:p>
          <a:p>
            <a:br>
              <a:rPr lang="en-US" dirty="0"/>
            </a:br>
            <a:endParaRPr lang="en-US" dirty="0"/>
          </a:p>
          <a:p>
            <a:r>
              <a:rPr lang="en-US" b="1" dirty="0"/>
              <a:t>Key Achievements</a:t>
            </a:r>
          </a:p>
          <a:p>
            <a:r>
              <a:rPr lang="en-US" b="1" dirty="0"/>
              <a:t>Reusable Architecture</a:t>
            </a:r>
          </a:p>
          <a:p>
            <a:r>
              <a:rPr lang="en-US" dirty="0"/>
              <a:t>✅ Common Components</a:t>
            </a:r>
          </a:p>
          <a:p>
            <a:r>
              <a:rPr lang="en-US" dirty="0"/>
              <a:t>✅ Shared Layouts</a:t>
            </a:r>
          </a:p>
          <a:p>
            <a:r>
              <a:rPr lang="en-US" dirty="0"/>
              <a:t>✅ Generic Data Tables</a:t>
            </a:r>
          </a:p>
          <a:p>
            <a:br>
              <a:rPr lang="en-US" dirty="0"/>
            </a:br>
            <a:endParaRPr lang="en-US" dirty="0"/>
          </a:p>
          <a:p>
            <a:r>
              <a:rPr lang="en-US" b="1" dirty="0"/>
              <a:t>React Best Practices</a:t>
            </a:r>
          </a:p>
          <a:p>
            <a:r>
              <a:rPr lang="en-US" dirty="0"/>
              <a:t>✅ Functional Components</a:t>
            </a:r>
          </a:p>
          <a:p>
            <a:r>
              <a:rPr lang="en-US" dirty="0"/>
              <a:t>✅ Custom Hooks</a:t>
            </a:r>
          </a:p>
          <a:p>
            <a:r>
              <a:rPr lang="en-US" dirty="0"/>
              <a:t>✅ Context API</a:t>
            </a:r>
          </a:p>
          <a:p>
            <a:r>
              <a:rPr lang="en-US" dirty="0"/>
              <a:t>✅ </a:t>
            </a:r>
            <a:r>
              <a:rPr lang="en-US" dirty="0" err="1"/>
              <a:t>PropTypes</a:t>
            </a:r>
            <a:r>
              <a:rPr lang="en-US" dirty="0"/>
              <a:t> Validation</a:t>
            </a:r>
          </a:p>
          <a:p>
            <a:br>
              <a:rPr lang="en-US" dirty="0"/>
            </a:br>
            <a:endParaRPr lang="en-US" dirty="0"/>
          </a:p>
          <a:p>
            <a:r>
              <a:rPr lang="en-US" b="1" dirty="0"/>
              <a:t>Clean Code Structure</a:t>
            </a:r>
          </a:p>
          <a:p>
            <a:r>
              <a:rPr lang="en-US" dirty="0"/>
              <a:t>✅ Separation of Concerns</a:t>
            </a:r>
          </a:p>
          <a:p>
            <a:r>
              <a:rPr lang="en-US" dirty="0"/>
              <a:t>✅ API Layer Isolation</a:t>
            </a:r>
          </a:p>
          <a:p>
            <a:r>
              <a:rPr lang="en-US" dirty="0"/>
              <a:t>✅ Utility Functions</a:t>
            </a:r>
          </a:p>
          <a:p>
            <a:r>
              <a:rPr lang="en-US" dirty="0"/>
              <a:t>✅ Modular Folder Organization</a:t>
            </a:r>
          </a:p>
          <a:p>
            <a:br>
              <a:rPr lang="en-US" dirty="0"/>
            </a:br>
            <a:endParaRPr lang="en-US" dirty="0"/>
          </a:p>
          <a:p>
            <a:r>
              <a:rPr lang="en-US" b="1" dirty="0"/>
              <a:t>Business Value Delivered</a:t>
            </a:r>
          </a:p>
          <a:p>
            <a:r>
              <a:rPr lang="en-US" b="1" dirty="0"/>
              <a:t>Improved Maintainability</a:t>
            </a:r>
          </a:p>
          <a:p>
            <a:r>
              <a:rPr lang="en-US" dirty="0"/>
              <a:t>Reduced code duplication</a:t>
            </a:r>
          </a:p>
          <a:p>
            <a:r>
              <a:rPr lang="en-US" dirty="0"/>
              <a:t>Easier feature updates</a:t>
            </a:r>
          </a:p>
          <a:p>
            <a:r>
              <a:rPr lang="en-US" b="1" dirty="0"/>
              <a:t>Improved Scalability</a:t>
            </a:r>
          </a:p>
          <a:p>
            <a:r>
              <a:rPr lang="en-US" dirty="0"/>
              <a:t>Modular architecture</a:t>
            </a:r>
          </a:p>
          <a:p>
            <a:r>
              <a:rPr lang="en-US" dirty="0"/>
              <a:t>Easy future enhancements</a:t>
            </a:r>
          </a:p>
          <a:p>
            <a:r>
              <a:rPr lang="en-US" b="1" dirty="0"/>
              <a:t>Improved User Experience</a:t>
            </a:r>
          </a:p>
          <a:p>
            <a:r>
              <a:rPr lang="en-US" dirty="0"/>
              <a:t>Intuitive navigation</a:t>
            </a:r>
          </a:p>
          <a:p>
            <a:r>
              <a:rPr lang="en-US" dirty="0"/>
              <a:t>Consistent interface</a:t>
            </a:r>
          </a:p>
          <a:p>
            <a:r>
              <a:rPr lang="en-US" dirty="0"/>
              <a:t>Secure access control</a:t>
            </a:r>
          </a:p>
          <a:p>
            <a:br>
              <a:rPr lang="en-US" dirty="0"/>
            </a:br>
            <a:endParaRPr lang="en-US" dirty="0"/>
          </a:p>
          <a:p>
            <a:r>
              <a:rPr lang="en-US" b="1" dirty="0"/>
              <a:t>Final Outcome</a:t>
            </a:r>
          </a:p>
          <a:p>
            <a:r>
              <a:rPr lang="en-US" sz="1200" kern="1200" dirty="0">
                <a:solidFill>
                  <a:schemeClr val="tx1"/>
                </a:solidFill>
                <a:latin typeface="+mn-lt"/>
                <a:ea typeface="+mn-ea"/>
                <a:cs typeface="+mn-cs"/>
              </a:rPr>
              <a:t>SMART Objective</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Reusable Components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Custom Hooks</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Protected Routing</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Clean Architecture</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Maintainable React Application</a:t>
            </a:r>
          </a:p>
          <a:p>
            <a:br>
              <a:rPr lang="en-US" dirty="0"/>
            </a:br>
            <a:endParaRPr lang="en-US" dirty="0"/>
          </a:p>
          <a:p>
            <a:r>
              <a:rPr lang="en-US" b="1" dirty="0"/>
              <a:t>Project Highlights</a:t>
            </a:r>
          </a:p>
          <a:p>
            <a:r>
              <a:rPr lang="en-US" dirty="0" err="1"/>
              <a:t>AreaAchievementRoutingReact</a:t>
            </a:r>
            <a:r>
              <a:rPr lang="en-US" dirty="0"/>
              <a:t> Router </a:t>
            </a:r>
            <a:r>
              <a:rPr lang="en-US" dirty="0" err="1"/>
              <a:t>ImplementedAuthenticationContext</a:t>
            </a:r>
            <a:r>
              <a:rPr lang="en-US" dirty="0"/>
              <a:t> API + Protected RoutesReusability20+ Reusable </a:t>
            </a:r>
            <a:r>
              <a:rPr lang="en-US" dirty="0" err="1"/>
              <a:t>ComponentsBusiness</a:t>
            </a:r>
            <a:r>
              <a:rPr lang="en-US" dirty="0"/>
              <a:t> Logic7 Custom </a:t>
            </a:r>
            <a:r>
              <a:rPr lang="en-US" dirty="0" err="1"/>
              <a:t>HooksArchitectureModular</a:t>
            </a:r>
            <a:r>
              <a:rPr lang="en-US" dirty="0"/>
              <a:t> &amp; </a:t>
            </a:r>
            <a:r>
              <a:rPr lang="en-US" dirty="0" err="1"/>
              <a:t>ScalableUI</a:t>
            </a:r>
            <a:r>
              <a:rPr lang="en-US" dirty="0"/>
              <a:t> </a:t>
            </a:r>
            <a:r>
              <a:rPr lang="en-US" dirty="0" err="1"/>
              <a:t>DesignTailwind</a:t>
            </a:r>
            <a:r>
              <a:rPr lang="en-US" dirty="0"/>
              <a:t> CSS</a:t>
            </a:r>
          </a:p>
          <a:p>
            <a:br>
              <a:rPr lang="en-US" dirty="0"/>
            </a:br>
            <a:endParaRPr lang="en-US" dirty="0"/>
          </a:p>
          <a:p>
            <a:r>
              <a:rPr lang="en-US" b="1" dirty="0"/>
              <a:t>Closing Statement</a:t>
            </a:r>
          </a:p>
          <a:p>
            <a:r>
              <a:rPr lang="en-US" dirty="0"/>
              <a:t>This project successfully demonstrates how modern React development practices can be applied to build a scalable, maintainable, and user-friendly Employee Management System while achieving all defined SMART objectives.</a:t>
            </a:r>
          </a:p>
          <a:p>
            <a:br>
              <a:rPr lang="en-US" dirty="0"/>
            </a:br>
            <a:endParaRPr lang="en-US" dirty="0"/>
          </a:p>
          <a:p>
            <a:r>
              <a:rPr lang="en-US" b="1" dirty="0"/>
              <a:t>Speaker Notes</a:t>
            </a:r>
          </a:p>
          <a:p>
            <a:r>
              <a:rPr lang="en-US" dirty="0"/>
              <a:t>In conclusion, the Employee Management System successfully fulfills all project objectives by leveraging reusable components, custom hooks, Context API, and protected routing. The application follows a clean architecture that improves maintainability and scalability while delivering a consistent user experience across all modules.</a:t>
            </a:r>
          </a:p>
          <a:p>
            <a:br>
              <a:rPr lang="en-US" dirty="0"/>
            </a:br>
            <a:endParaRPr lang="en-US" dirty="0"/>
          </a:p>
          <a:p>
            <a:r>
              <a:rPr lang="en-US" b="1" dirty="0"/>
              <a:t>Slide 21: Thank You / Q&amp;A</a:t>
            </a:r>
          </a:p>
          <a:p>
            <a:r>
              <a:rPr lang="en-US" b="1" dirty="0"/>
              <a:t>Title</a:t>
            </a:r>
          </a:p>
          <a:p>
            <a:r>
              <a:rPr lang="en-US" b="1" dirty="0"/>
              <a:t>Thank You</a:t>
            </a:r>
          </a:p>
          <a:p>
            <a:r>
              <a:rPr lang="en-US" b="1" dirty="0"/>
              <a:t>Content</a:t>
            </a:r>
          </a:p>
          <a:p>
            <a:r>
              <a:rPr lang="en-US" b="1" dirty="0"/>
              <a:t>Questions &amp; Discussion</a:t>
            </a:r>
            <a:endParaRPr lang="en-US" dirty="0"/>
          </a:p>
          <a:p>
            <a:br>
              <a:rPr lang="en-US" dirty="0"/>
            </a:br>
            <a:endParaRPr lang="en-US" dirty="0"/>
          </a:p>
          <a:p>
            <a:r>
              <a:rPr lang="en-US" b="1" dirty="0"/>
              <a:t>Project</a:t>
            </a:r>
          </a:p>
          <a:p>
            <a:r>
              <a:rPr lang="en-US" dirty="0"/>
              <a:t>Employee Management System (EMS)</a:t>
            </a:r>
          </a:p>
          <a:p>
            <a:r>
              <a:rPr lang="en-US" dirty="0"/>
              <a:t>Built with:</a:t>
            </a:r>
          </a:p>
          <a:p>
            <a:r>
              <a:rPr lang="en-US" dirty="0"/>
              <a:t>React</a:t>
            </a:r>
          </a:p>
          <a:p>
            <a:r>
              <a:rPr lang="en-US" dirty="0"/>
              <a:t>Vite</a:t>
            </a:r>
          </a:p>
          <a:p>
            <a:r>
              <a:rPr lang="en-US" dirty="0"/>
              <a:t>Tailwind CSS</a:t>
            </a:r>
          </a:p>
          <a:p>
            <a:r>
              <a:rPr lang="en-US" dirty="0"/>
              <a:t>React Router</a:t>
            </a:r>
          </a:p>
          <a:p>
            <a:r>
              <a:rPr lang="en-US" dirty="0"/>
              <a:t>Context API</a:t>
            </a:r>
          </a:p>
          <a:p>
            <a:br>
              <a:rPr lang="en-US" dirty="0"/>
            </a:br>
            <a:endParaRPr lang="en-US" dirty="0"/>
          </a:p>
          <a:p>
            <a:r>
              <a:rPr lang="en-US" b="1" dirty="0"/>
              <a:t>Contact Information</a:t>
            </a:r>
          </a:p>
          <a:p>
            <a:r>
              <a:rPr lang="en-US" dirty="0"/>
              <a:t>Your Name</a:t>
            </a:r>
          </a:p>
          <a:p>
            <a:r>
              <a:rPr lang="en-US" dirty="0"/>
              <a:t>Employee ID (if applicable)</a:t>
            </a:r>
          </a:p>
          <a:p>
            <a:r>
              <a:rPr lang="en-US" dirty="0"/>
              <a:t>Team / Batch</a:t>
            </a:r>
          </a:p>
          <a:p>
            <a:br>
              <a:rPr lang="en-US" dirty="0"/>
            </a:br>
            <a:endParaRPr lang="en-US" dirty="0"/>
          </a:p>
          <a:p>
            <a:r>
              <a:rPr lang="en-US" b="1" dirty="0"/>
              <a:t>Visual</a:t>
            </a:r>
          </a:p>
          <a:p>
            <a:r>
              <a:rPr lang="en-US" dirty="0"/>
              <a:t>Use:</a:t>
            </a:r>
          </a:p>
          <a:p>
            <a:r>
              <a:rPr lang="en-US" dirty="0"/>
              <a:t>React Logo</a:t>
            </a:r>
          </a:p>
          <a:p>
            <a:r>
              <a:rPr lang="en-US" dirty="0"/>
              <a:t>Vite Logo</a:t>
            </a:r>
          </a:p>
          <a:p>
            <a:r>
              <a:rPr lang="en-US" dirty="0"/>
              <a:t>Tailwind Logo</a:t>
            </a:r>
          </a:p>
          <a:p>
            <a:r>
              <a:rPr lang="en-US" dirty="0"/>
              <a:t>and a screenshot of the Dashboard in the background with light transparency.</a:t>
            </a:r>
          </a:p>
          <a:p>
            <a:br>
              <a:rPr lang="en-US" dirty="0"/>
            </a:br>
            <a:endParaRPr lang="en-US" dirty="0"/>
          </a:p>
          <a:p>
            <a:r>
              <a:rPr lang="en-US" b="1" dirty="0"/>
              <a:t>Final Presentation Flow</a:t>
            </a:r>
          </a:p>
          <a:p>
            <a:r>
              <a:rPr lang="en-US" dirty="0"/>
              <a:t>Title</a:t>
            </a:r>
          </a:p>
          <a:p>
            <a:r>
              <a:rPr lang="en-US" dirty="0"/>
              <a:t>Project Overview</a:t>
            </a:r>
          </a:p>
          <a:p>
            <a:r>
              <a:rPr lang="en-US" dirty="0"/>
              <a:t>SMART Objective Alignment</a:t>
            </a:r>
          </a:p>
          <a:p>
            <a:r>
              <a:rPr lang="en-US" dirty="0"/>
              <a:t>Technology Stack</a:t>
            </a:r>
          </a:p>
          <a:p>
            <a:r>
              <a:rPr lang="en-US" dirty="0"/>
              <a:t>Application Architecture</a:t>
            </a:r>
          </a:p>
          <a:p>
            <a:r>
              <a:rPr lang="en-US" dirty="0"/>
              <a:t>Routing &amp; Protected Navigation</a:t>
            </a:r>
          </a:p>
          <a:p>
            <a:r>
              <a:rPr lang="en-US" dirty="0"/>
              <a:t>Reusable Components</a:t>
            </a:r>
          </a:p>
          <a:p>
            <a:r>
              <a:rPr lang="en-US" dirty="0"/>
              <a:t>Custom Hooks</a:t>
            </a:r>
          </a:p>
          <a:p>
            <a:r>
              <a:rPr lang="en-US" dirty="0"/>
              <a:t>State Management &amp; Authentication</a:t>
            </a:r>
          </a:p>
          <a:p>
            <a:r>
              <a:rPr lang="en-US" dirty="0"/>
              <a:t>API Integration &amp; Data Flow</a:t>
            </a:r>
          </a:p>
          <a:p>
            <a:r>
              <a:rPr lang="en-US" dirty="0"/>
              <a:t>Dashboard Module</a:t>
            </a:r>
          </a:p>
          <a:p>
            <a:r>
              <a:rPr lang="en-US" dirty="0"/>
              <a:t>Employee Module</a:t>
            </a:r>
          </a:p>
          <a:p>
            <a:r>
              <a:rPr lang="en-US" dirty="0"/>
              <a:t>Department Module</a:t>
            </a:r>
          </a:p>
          <a:p>
            <a:r>
              <a:rPr lang="en-US" dirty="0"/>
              <a:t>Attendance Module</a:t>
            </a:r>
          </a:p>
          <a:p>
            <a:r>
              <a:rPr lang="en-US" dirty="0"/>
              <a:t>Payroll Module</a:t>
            </a:r>
          </a:p>
          <a:p>
            <a:r>
              <a:rPr lang="en-US" dirty="0"/>
              <a:t>Code Quality &amp; Best Practices</a:t>
            </a:r>
          </a:p>
          <a:p>
            <a:r>
              <a:rPr lang="en-US" dirty="0"/>
              <a:t>Challenges &amp; Solutions</a:t>
            </a:r>
          </a:p>
          <a:p>
            <a:r>
              <a:rPr lang="en-US" dirty="0"/>
              <a:t>Results &amp; SMART Objective Achievement</a:t>
            </a:r>
          </a:p>
          <a:p>
            <a:r>
              <a:rPr lang="en-US" dirty="0"/>
              <a:t>Future Enhancements</a:t>
            </a:r>
          </a:p>
          <a:p>
            <a:r>
              <a:rPr lang="en-US" dirty="0"/>
              <a:t>Conclusion</a:t>
            </a:r>
          </a:p>
          <a:p>
            <a:r>
              <a:rPr lang="en-US" dirty="0"/>
              <a:t>Thank You / Q&amp;A</a:t>
            </a:r>
          </a:p>
          <a:p>
            <a:r>
              <a:rPr lang="en-US" dirty="0"/>
              <a:t>This is a complete, professional 20–25 minute technical presentation that closely matches your project structure and SMART objective requirements.</a:t>
            </a:r>
          </a:p>
        </p:txBody>
      </p:sp>
      <p:sp>
        <p:nvSpPr>
          <p:cNvPr id="4" name="Slide Number Placeholder 3">
            <a:extLst>
              <a:ext uri="{FF2B5EF4-FFF2-40B4-BE49-F238E27FC236}">
                <a16:creationId xmlns:a16="http://schemas.microsoft.com/office/drawing/2014/main" id="{B1AE9E51-891F-996D-39A9-F8F252149D99}"/>
              </a:ext>
            </a:extLst>
          </p:cNvPr>
          <p:cNvSpPr>
            <a:spLocks noGrp="1"/>
          </p:cNvSpPr>
          <p:nvPr>
            <p:ph type="sldNum" sz="quarter" idx="5"/>
          </p:nvPr>
        </p:nvSpPr>
        <p:spPr/>
        <p:txBody>
          <a:bodyPr/>
          <a:lstStyle/>
          <a:p>
            <a:fld id="{F27E4F37-7821-48E6-91AC-01ECF9D61796}" type="slidenum">
              <a:rPr lang="en-IN" smtClean="0"/>
              <a:t>20</a:t>
            </a:fld>
            <a:endParaRPr lang="en-IN"/>
          </a:p>
        </p:txBody>
      </p:sp>
    </p:spTree>
    <p:extLst>
      <p:ext uri="{BB962C8B-B14F-4D97-AF65-F5344CB8AC3E}">
        <p14:creationId xmlns:p14="http://schemas.microsoft.com/office/powerpoint/2010/main" val="2834472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50DCB-0077-D1D3-8EEF-A992E25A52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9473CD7-430F-D70E-18D6-2C44089F2A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A9E194-44A9-C473-9D30-BD17A025841E}"/>
              </a:ext>
            </a:extLst>
          </p:cNvPr>
          <p:cNvSpPr>
            <a:spLocks noGrp="1"/>
          </p:cNvSpPr>
          <p:nvPr>
            <p:ph type="dt" sz="half" idx="10"/>
          </p:nvPr>
        </p:nvSpPr>
        <p:spPr/>
        <p:txBody>
          <a:bodyPr/>
          <a:lstStyle/>
          <a:p>
            <a:fld id="{FCE2BBD9-A04C-49D7-81D0-65F81C31E741}" type="datetimeFigureOut">
              <a:rPr lang="en-IN" smtClean="0"/>
              <a:t>21-07-2026</a:t>
            </a:fld>
            <a:endParaRPr lang="en-IN"/>
          </a:p>
        </p:txBody>
      </p:sp>
      <p:sp>
        <p:nvSpPr>
          <p:cNvPr id="5" name="Footer Placeholder 4">
            <a:extLst>
              <a:ext uri="{FF2B5EF4-FFF2-40B4-BE49-F238E27FC236}">
                <a16:creationId xmlns:a16="http://schemas.microsoft.com/office/drawing/2014/main" id="{CF09954D-741D-AD0E-8E1C-E26BF121BE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1A8B71-187F-1840-5249-C4B5BE1C5257}"/>
              </a:ext>
            </a:extLst>
          </p:cNvPr>
          <p:cNvSpPr>
            <a:spLocks noGrp="1"/>
          </p:cNvSpPr>
          <p:nvPr>
            <p:ph type="sldNum" sz="quarter" idx="12"/>
          </p:nvPr>
        </p:nvSpPr>
        <p:spPr/>
        <p:txBody>
          <a:bodyPr/>
          <a:lstStyle/>
          <a:p>
            <a:fld id="{90CD170D-626E-41B2-BB83-2CBCF659F3C4}" type="slidenum">
              <a:rPr lang="en-IN" smtClean="0"/>
              <a:t>‹#›</a:t>
            </a:fld>
            <a:endParaRPr lang="en-IN"/>
          </a:p>
        </p:txBody>
      </p:sp>
    </p:spTree>
    <p:extLst>
      <p:ext uri="{BB962C8B-B14F-4D97-AF65-F5344CB8AC3E}">
        <p14:creationId xmlns:p14="http://schemas.microsoft.com/office/powerpoint/2010/main" val="4217699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C006F-318A-406E-A806-4DE9DE4EF9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0CECEE-CB87-21B3-788C-41C6CECDBC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5E284B-1F28-1B69-DF2D-3ABA44AB712E}"/>
              </a:ext>
            </a:extLst>
          </p:cNvPr>
          <p:cNvSpPr>
            <a:spLocks noGrp="1"/>
          </p:cNvSpPr>
          <p:nvPr>
            <p:ph type="dt" sz="half" idx="10"/>
          </p:nvPr>
        </p:nvSpPr>
        <p:spPr/>
        <p:txBody>
          <a:bodyPr/>
          <a:lstStyle/>
          <a:p>
            <a:fld id="{FCE2BBD9-A04C-49D7-81D0-65F81C31E741}" type="datetimeFigureOut">
              <a:rPr lang="en-IN" smtClean="0"/>
              <a:t>21-07-2026</a:t>
            </a:fld>
            <a:endParaRPr lang="en-IN"/>
          </a:p>
        </p:txBody>
      </p:sp>
      <p:sp>
        <p:nvSpPr>
          <p:cNvPr id="5" name="Footer Placeholder 4">
            <a:extLst>
              <a:ext uri="{FF2B5EF4-FFF2-40B4-BE49-F238E27FC236}">
                <a16:creationId xmlns:a16="http://schemas.microsoft.com/office/drawing/2014/main" id="{A9F8A431-96DA-2C5D-7BF0-C20DD61B5C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4D0A6F-7D57-A0A4-2308-17F8E3675DF2}"/>
              </a:ext>
            </a:extLst>
          </p:cNvPr>
          <p:cNvSpPr>
            <a:spLocks noGrp="1"/>
          </p:cNvSpPr>
          <p:nvPr>
            <p:ph type="sldNum" sz="quarter" idx="12"/>
          </p:nvPr>
        </p:nvSpPr>
        <p:spPr/>
        <p:txBody>
          <a:bodyPr/>
          <a:lstStyle/>
          <a:p>
            <a:fld id="{90CD170D-626E-41B2-BB83-2CBCF659F3C4}" type="slidenum">
              <a:rPr lang="en-IN" smtClean="0"/>
              <a:t>‹#›</a:t>
            </a:fld>
            <a:endParaRPr lang="en-IN"/>
          </a:p>
        </p:txBody>
      </p:sp>
    </p:spTree>
    <p:extLst>
      <p:ext uri="{BB962C8B-B14F-4D97-AF65-F5344CB8AC3E}">
        <p14:creationId xmlns:p14="http://schemas.microsoft.com/office/powerpoint/2010/main" val="970310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7A15F-CD41-C1E3-84FB-0A22353303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7D1391-46AC-7C7D-039E-E7E1675D66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1463C7-3A53-2F24-4FDA-D61F48659653}"/>
              </a:ext>
            </a:extLst>
          </p:cNvPr>
          <p:cNvSpPr>
            <a:spLocks noGrp="1"/>
          </p:cNvSpPr>
          <p:nvPr>
            <p:ph type="dt" sz="half" idx="10"/>
          </p:nvPr>
        </p:nvSpPr>
        <p:spPr/>
        <p:txBody>
          <a:bodyPr/>
          <a:lstStyle/>
          <a:p>
            <a:fld id="{FCE2BBD9-A04C-49D7-81D0-65F81C31E741}" type="datetimeFigureOut">
              <a:rPr lang="en-IN" smtClean="0"/>
              <a:t>21-07-2026</a:t>
            </a:fld>
            <a:endParaRPr lang="en-IN"/>
          </a:p>
        </p:txBody>
      </p:sp>
      <p:sp>
        <p:nvSpPr>
          <p:cNvPr id="5" name="Footer Placeholder 4">
            <a:extLst>
              <a:ext uri="{FF2B5EF4-FFF2-40B4-BE49-F238E27FC236}">
                <a16:creationId xmlns:a16="http://schemas.microsoft.com/office/drawing/2014/main" id="{BA0714D9-F2E6-634E-B136-FFA9E766A2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0E344C-E9D1-531E-4811-9882E92CFD76}"/>
              </a:ext>
            </a:extLst>
          </p:cNvPr>
          <p:cNvSpPr>
            <a:spLocks noGrp="1"/>
          </p:cNvSpPr>
          <p:nvPr>
            <p:ph type="sldNum" sz="quarter" idx="12"/>
          </p:nvPr>
        </p:nvSpPr>
        <p:spPr/>
        <p:txBody>
          <a:bodyPr/>
          <a:lstStyle/>
          <a:p>
            <a:fld id="{90CD170D-626E-41B2-BB83-2CBCF659F3C4}" type="slidenum">
              <a:rPr lang="en-IN" smtClean="0"/>
              <a:t>‹#›</a:t>
            </a:fld>
            <a:endParaRPr lang="en-IN"/>
          </a:p>
        </p:txBody>
      </p:sp>
    </p:spTree>
    <p:extLst>
      <p:ext uri="{BB962C8B-B14F-4D97-AF65-F5344CB8AC3E}">
        <p14:creationId xmlns:p14="http://schemas.microsoft.com/office/powerpoint/2010/main" val="2256186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D71B7-4D07-3DB9-DEF4-B2C395A8D5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90EFED-1120-E2FB-A97E-83E5B6251E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AE33EF0-05E7-8C6A-4B9B-70C4EAA9CA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8D3D3D0-D2E2-E05A-5193-FACE40D57011}"/>
              </a:ext>
            </a:extLst>
          </p:cNvPr>
          <p:cNvSpPr>
            <a:spLocks noGrp="1"/>
          </p:cNvSpPr>
          <p:nvPr>
            <p:ph type="dt" sz="half" idx="10"/>
          </p:nvPr>
        </p:nvSpPr>
        <p:spPr/>
        <p:txBody>
          <a:bodyPr/>
          <a:lstStyle/>
          <a:p>
            <a:fld id="{FCE2BBD9-A04C-49D7-81D0-65F81C31E741}" type="datetimeFigureOut">
              <a:rPr lang="en-IN" smtClean="0"/>
              <a:t>21-07-2026</a:t>
            </a:fld>
            <a:endParaRPr lang="en-IN"/>
          </a:p>
        </p:txBody>
      </p:sp>
      <p:sp>
        <p:nvSpPr>
          <p:cNvPr id="6" name="Footer Placeholder 5">
            <a:extLst>
              <a:ext uri="{FF2B5EF4-FFF2-40B4-BE49-F238E27FC236}">
                <a16:creationId xmlns:a16="http://schemas.microsoft.com/office/drawing/2014/main" id="{8B94F2A7-4196-A837-9ADC-CB574D924A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D40035-D7F5-F983-91BE-F0E5C16E2FED}"/>
              </a:ext>
            </a:extLst>
          </p:cNvPr>
          <p:cNvSpPr>
            <a:spLocks noGrp="1"/>
          </p:cNvSpPr>
          <p:nvPr>
            <p:ph type="sldNum" sz="quarter" idx="12"/>
          </p:nvPr>
        </p:nvSpPr>
        <p:spPr/>
        <p:txBody>
          <a:bodyPr/>
          <a:lstStyle/>
          <a:p>
            <a:fld id="{90CD170D-626E-41B2-BB83-2CBCF659F3C4}" type="slidenum">
              <a:rPr lang="en-IN" smtClean="0"/>
              <a:t>‹#›</a:t>
            </a:fld>
            <a:endParaRPr lang="en-IN"/>
          </a:p>
        </p:txBody>
      </p:sp>
    </p:spTree>
    <p:extLst>
      <p:ext uri="{BB962C8B-B14F-4D97-AF65-F5344CB8AC3E}">
        <p14:creationId xmlns:p14="http://schemas.microsoft.com/office/powerpoint/2010/main" val="4022828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F430-ECD5-DE21-19CA-3E859EA76FB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78356D-137E-CFDB-933C-9AA7083EEA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5A4AF3-C2D6-9687-214E-07AF424CC4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1A44ED1-02F0-0490-F7DF-5846BC72F1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8AF32-9265-6C8F-F4C2-5E64EF9010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846AA4B-3D8C-8846-7BC1-E2550B005049}"/>
              </a:ext>
            </a:extLst>
          </p:cNvPr>
          <p:cNvSpPr>
            <a:spLocks noGrp="1"/>
          </p:cNvSpPr>
          <p:nvPr>
            <p:ph type="dt" sz="half" idx="10"/>
          </p:nvPr>
        </p:nvSpPr>
        <p:spPr/>
        <p:txBody>
          <a:bodyPr/>
          <a:lstStyle/>
          <a:p>
            <a:fld id="{FCE2BBD9-A04C-49D7-81D0-65F81C31E741}" type="datetimeFigureOut">
              <a:rPr lang="en-IN" smtClean="0"/>
              <a:t>21-07-2026</a:t>
            </a:fld>
            <a:endParaRPr lang="en-IN"/>
          </a:p>
        </p:txBody>
      </p:sp>
      <p:sp>
        <p:nvSpPr>
          <p:cNvPr id="8" name="Footer Placeholder 7">
            <a:extLst>
              <a:ext uri="{FF2B5EF4-FFF2-40B4-BE49-F238E27FC236}">
                <a16:creationId xmlns:a16="http://schemas.microsoft.com/office/drawing/2014/main" id="{7686CFDD-E42A-C5F6-6C82-83DCDBDB53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7653649-EC8A-1D76-618E-A8A5069EE276}"/>
              </a:ext>
            </a:extLst>
          </p:cNvPr>
          <p:cNvSpPr>
            <a:spLocks noGrp="1"/>
          </p:cNvSpPr>
          <p:nvPr>
            <p:ph type="sldNum" sz="quarter" idx="12"/>
          </p:nvPr>
        </p:nvSpPr>
        <p:spPr/>
        <p:txBody>
          <a:bodyPr/>
          <a:lstStyle/>
          <a:p>
            <a:fld id="{90CD170D-626E-41B2-BB83-2CBCF659F3C4}" type="slidenum">
              <a:rPr lang="en-IN" smtClean="0"/>
              <a:t>‹#›</a:t>
            </a:fld>
            <a:endParaRPr lang="en-IN"/>
          </a:p>
        </p:txBody>
      </p:sp>
    </p:spTree>
    <p:extLst>
      <p:ext uri="{BB962C8B-B14F-4D97-AF65-F5344CB8AC3E}">
        <p14:creationId xmlns:p14="http://schemas.microsoft.com/office/powerpoint/2010/main" val="238555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8943F-41C5-37F2-7E04-85AC8800D67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12D9AC9-A631-1104-04F3-0B0E5289A7B9}"/>
              </a:ext>
            </a:extLst>
          </p:cNvPr>
          <p:cNvSpPr>
            <a:spLocks noGrp="1"/>
          </p:cNvSpPr>
          <p:nvPr>
            <p:ph type="dt" sz="half" idx="10"/>
          </p:nvPr>
        </p:nvSpPr>
        <p:spPr/>
        <p:txBody>
          <a:bodyPr/>
          <a:lstStyle/>
          <a:p>
            <a:fld id="{FCE2BBD9-A04C-49D7-81D0-65F81C31E741}" type="datetimeFigureOut">
              <a:rPr lang="en-IN" smtClean="0"/>
              <a:t>21-07-2026</a:t>
            </a:fld>
            <a:endParaRPr lang="en-IN"/>
          </a:p>
        </p:txBody>
      </p:sp>
      <p:sp>
        <p:nvSpPr>
          <p:cNvPr id="4" name="Footer Placeholder 3">
            <a:extLst>
              <a:ext uri="{FF2B5EF4-FFF2-40B4-BE49-F238E27FC236}">
                <a16:creationId xmlns:a16="http://schemas.microsoft.com/office/drawing/2014/main" id="{E4937789-4551-9D6B-53A0-F0AFF97F71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ED7959F-F143-B248-2CDD-06BFF2548976}"/>
              </a:ext>
            </a:extLst>
          </p:cNvPr>
          <p:cNvSpPr>
            <a:spLocks noGrp="1"/>
          </p:cNvSpPr>
          <p:nvPr>
            <p:ph type="sldNum" sz="quarter" idx="12"/>
          </p:nvPr>
        </p:nvSpPr>
        <p:spPr/>
        <p:txBody>
          <a:bodyPr/>
          <a:lstStyle/>
          <a:p>
            <a:fld id="{90CD170D-626E-41B2-BB83-2CBCF659F3C4}" type="slidenum">
              <a:rPr lang="en-IN" smtClean="0"/>
              <a:t>‹#›</a:t>
            </a:fld>
            <a:endParaRPr lang="en-IN"/>
          </a:p>
        </p:txBody>
      </p:sp>
    </p:spTree>
    <p:extLst>
      <p:ext uri="{BB962C8B-B14F-4D97-AF65-F5344CB8AC3E}">
        <p14:creationId xmlns:p14="http://schemas.microsoft.com/office/powerpoint/2010/main" val="4036145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013622-35C1-C4ED-D215-AD42234F2033}"/>
              </a:ext>
            </a:extLst>
          </p:cNvPr>
          <p:cNvSpPr>
            <a:spLocks noGrp="1"/>
          </p:cNvSpPr>
          <p:nvPr>
            <p:ph type="dt" sz="half" idx="10"/>
          </p:nvPr>
        </p:nvSpPr>
        <p:spPr/>
        <p:txBody>
          <a:bodyPr/>
          <a:lstStyle/>
          <a:p>
            <a:fld id="{FCE2BBD9-A04C-49D7-81D0-65F81C31E741}" type="datetimeFigureOut">
              <a:rPr lang="en-IN" smtClean="0"/>
              <a:t>21-07-2026</a:t>
            </a:fld>
            <a:endParaRPr lang="en-IN"/>
          </a:p>
        </p:txBody>
      </p:sp>
      <p:sp>
        <p:nvSpPr>
          <p:cNvPr id="3" name="Footer Placeholder 2">
            <a:extLst>
              <a:ext uri="{FF2B5EF4-FFF2-40B4-BE49-F238E27FC236}">
                <a16:creationId xmlns:a16="http://schemas.microsoft.com/office/drawing/2014/main" id="{0C17CD9B-E9FA-4EF0-C0B5-C12A2669CA4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E1D9A55-78BB-3F63-B6C7-00AB8C854DC6}"/>
              </a:ext>
            </a:extLst>
          </p:cNvPr>
          <p:cNvSpPr>
            <a:spLocks noGrp="1"/>
          </p:cNvSpPr>
          <p:nvPr>
            <p:ph type="sldNum" sz="quarter" idx="12"/>
          </p:nvPr>
        </p:nvSpPr>
        <p:spPr/>
        <p:txBody>
          <a:bodyPr/>
          <a:lstStyle/>
          <a:p>
            <a:fld id="{90CD170D-626E-41B2-BB83-2CBCF659F3C4}" type="slidenum">
              <a:rPr lang="en-IN" smtClean="0"/>
              <a:t>‹#›</a:t>
            </a:fld>
            <a:endParaRPr lang="en-IN"/>
          </a:p>
        </p:txBody>
      </p:sp>
    </p:spTree>
    <p:extLst>
      <p:ext uri="{BB962C8B-B14F-4D97-AF65-F5344CB8AC3E}">
        <p14:creationId xmlns:p14="http://schemas.microsoft.com/office/powerpoint/2010/main" val="2780752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EB7D2-980E-3CB7-329D-1305E1EF2D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A23E25A-31CC-F3FB-C13D-B8A2C736EA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18F6CD-4E45-DA50-5D6B-CBB6E240B5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DF65B4-E609-6FE9-C224-5402085205F6}"/>
              </a:ext>
            </a:extLst>
          </p:cNvPr>
          <p:cNvSpPr>
            <a:spLocks noGrp="1"/>
          </p:cNvSpPr>
          <p:nvPr>
            <p:ph type="dt" sz="half" idx="10"/>
          </p:nvPr>
        </p:nvSpPr>
        <p:spPr/>
        <p:txBody>
          <a:bodyPr/>
          <a:lstStyle/>
          <a:p>
            <a:fld id="{FCE2BBD9-A04C-49D7-81D0-65F81C31E741}" type="datetimeFigureOut">
              <a:rPr lang="en-IN" smtClean="0"/>
              <a:t>21-07-2026</a:t>
            </a:fld>
            <a:endParaRPr lang="en-IN"/>
          </a:p>
        </p:txBody>
      </p:sp>
      <p:sp>
        <p:nvSpPr>
          <p:cNvPr id="6" name="Footer Placeholder 5">
            <a:extLst>
              <a:ext uri="{FF2B5EF4-FFF2-40B4-BE49-F238E27FC236}">
                <a16:creationId xmlns:a16="http://schemas.microsoft.com/office/drawing/2014/main" id="{A210CE31-A5E5-8AB0-9F6B-D070E359E2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AEDACF-34B2-AC86-19BF-6B94213147C3}"/>
              </a:ext>
            </a:extLst>
          </p:cNvPr>
          <p:cNvSpPr>
            <a:spLocks noGrp="1"/>
          </p:cNvSpPr>
          <p:nvPr>
            <p:ph type="sldNum" sz="quarter" idx="12"/>
          </p:nvPr>
        </p:nvSpPr>
        <p:spPr/>
        <p:txBody>
          <a:bodyPr/>
          <a:lstStyle/>
          <a:p>
            <a:fld id="{90CD170D-626E-41B2-BB83-2CBCF659F3C4}" type="slidenum">
              <a:rPr lang="en-IN" smtClean="0"/>
              <a:t>‹#›</a:t>
            </a:fld>
            <a:endParaRPr lang="en-IN"/>
          </a:p>
        </p:txBody>
      </p:sp>
    </p:spTree>
    <p:extLst>
      <p:ext uri="{BB962C8B-B14F-4D97-AF65-F5344CB8AC3E}">
        <p14:creationId xmlns:p14="http://schemas.microsoft.com/office/powerpoint/2010/main" val="1212195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822E7-D35E-7735-585E-1BE61CD058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F65216-B772-2C1B-EEE2-445227F03A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4797EC-4C4B-4979-E5FD-DACA069FA5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3E47DF-D143-955D-04D0-2004502078B8}"/>
              </a:ext>
            </a:extLst>
          </p:cNvPr>
          <p:cNvSpPr>
            <a:spLocks noGrp="1"/>
          </p:cNvSpPr>
          <p:nvPr>
            <p:ph type="dt" sz="half" idx="10"/>
          </p:nvPr>
        </p:nvSpPr>
        <p:spPr/>
        <p:txBody>
          <a:bodyPr/>
          <a:lstStyle/>
          <a:p>
            <a:fld id="{FCE2BBD9-A04C-49D7-81D0-65F81C31E741}" type="datetimeFigureOut">
              <a:rPr lang="en-IN" smtClean="0"/>
              <a:t>21-07-2026</a:t>
            </a:fld>
            <a:endParaRPr lang="en-IN"/>
          </a:p>
        </p:txBody>
      </p:sp>
      <p:sp>
        <p:nvSpPr>
          <p:cNvPr id="6" name="Footer Placeholder 5">
            <a:extLst>
              <a:ext uri="{FF2B5EF4-FFF2-40B4-BE49-F238E27FC236}">
                <a16:creationId xmlns:a16="http://schemas.microsoft.com/office/drawing/2014/main" id="{F92ADEF9-ACD2-F0CB-22E0-E5760F31EE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682365-AACA-E156-C321-4AB218FC7885}"/>
              </a:ext>
            </a:extLst>
          </p:cNvPr>
          <p:cNvSpPr>
            <a:spLocks noGrp="1"/>
          </p:cNvSpPr>
          <p:nvPr>
            <p:ph type="sldNum" sz="quarter" idx="12"/>
          </p:nvPr>
        </p:nvSpPr>
        <p:spPr/>
        <p:txBody>
          <a:bodyPr/>
          <a:lstStyle/>
          <a:p>
            <a:fld id="{90CD170D-626E-41B2-BB83-2CBCF659F3C4}" type="slidenum">
              <a:rPr lang="en-IN" smtClean="0"/>
              <a:t>‹#›</a:t>
            </a:fld>
            <a:endParaRPr lang="en-IN"/>
          </a:p>
        </p:txBody>
      </p:sp>
    </p:spTree>
    <p:extLst>
      <p:ext uri="{BB962C8B-B14F-4D97-AF65-F5344CB8AC3E}">
        <p14:creationId xmlns:p14="http://schemas.microsoft.com/office/powerpoint/2010/main" val="602964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3819F-6F03-9FE1-07DE-10607C2BBCA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FF8B70-46B7-6AEF-A5D2-4385067DF4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552416-1DB0-92F7-2434-154974A67769}"/>
              </a:ext>
            </a:extLst>
          </p:cNvPr>
          <p:cNvSpPr>
            <a:spLocks noGrp="1"/>
          </p:cNvSpPr>
          <p:nvPr>
            <p:ph type="dt" sz="half" idx="10"/>
          </p:nvPr>
        </p:nvSpPr>
        <p:spPr/>
        <p:txBody>
          <a:bodyPr/>
          <a:lstStyle/>
          <a:p>
            <a:fld id="{FCE2BBD9-A04C-49D7-81D0-65F81C31E741}" type="datetimeFigureOut">
              <a:rPr lang="en-IN" smtClean="0"/>
              <a:t>21-07-2026</a:t>
            </a:fld>
            <a:endParaRPr lang="en-IN"/>
          </a:p>
        </p:txBody>
      </p:sp>
      <p:sp>
        <p:nvSpPr>
          <p:cNvPr id="5" name="Footer Placeholder 4">
            <a:extLst>
              <a:ext uri="{FF2B5EF4-FFF2-40B4-BE49-F238E27FC236}">
                <a16:creationId xmlns:a16="http://schemas.microsoft.com/office/drawing/2014/main" id="{13FCDAFB-B7EC-2FFA-024D-60ED95C88F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74183D-D83A-BB74-FE52-57CE539F42F9}"/>
              </a:ext>
            </a:extLst>
          </p:cNvPr>
          <p:cNvSpPr>
            <a:spLocks noGrp="1"/>
          </p:cNvSpPr>
          <p:nvPr>
            <p:ph type="sldNum" sz="quarter" idx="12"/>
          </p:nvPr>
        </p:nvSpPr>
        <p:spPr/>
        <p:txBody>
          <a:bodyPr/>
          <a:lstStyle/>
          <a:p>
            <a:fld id="{90CD170D-626E-41B2-BB83-2CBCF659F3C4}" type="slidenum">
              <a:rPr lang="en-IN" smtClean="0"/>
              <a:t>‹#›</a:t>
            </a:fld>
            <a:endParaRPr lang="en-IN"/>
          </a:p>
        </p:txBody>
      </p:sp>
    </p:spTree>
    <p:extLst>
      <p:ext uri="{BB962C8B-B14F-4D97-AF65-F5344CB8AC3E}">
        <p14:creationId xmlns:p14="http://schemas.microsoft.com/office/powerpoint/2010/main" val="1085282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B76786-590A-3434-0562-AB2520EDA5C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C85CBD-A293-6D48-AC70-3B93519642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59BA7A-AFF2-28CD-1903-A5F94D9115D1}"/>
              </a:ext>
            </a:extLst>
          </p:cNvPr>
          <p:cNvSpPr>
            <a:spLocks noGrp="1"/>
          </p:cNvSpPr>
          <p:nvPr>
            <p:ph type="dt" sz="half" idx="10"/>
          </p:nvPr>
        </p:nvSpPr>
        <p:spPr/>
        <p:txBody>
          <a:bodyPr/>
          <a:lstStyle/>
          <a:p>
            <a:fld id="{FCE2BBD9-A04C-49D7-81D0-65F81C31E741}" type="datetimeFigureOut">
              <a:rPr lang="en-IN" smtClean="0"/>
              <a:t>21-07-2026</a:t>
            </a:fld>
            <a:endParaRPr lang="en-IN"/>
          </a:p>
        </p:txBody>
      </p:sp>
      <p:sp>
        <p:nvSpPr>
          <p:cNvPr id="5" name="Footer Placeholder 4">
            <a:extLst>
              <a:ext uri="{FF2B5EF4-FFF2-40B4-BE49-F238E27FC236}">
                <a16:creationId xmlns:a16="http://schemas.microsoft.com/office/drawing/2014/main" id="{6D5DAF07-56C2-D01C-2816-856FE59FCA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C1D4AF-4AE1-160B-1617-B2812E9277AF}"/>
              </a:ext>
            </a:extLst>
          </p:cNvPr>
          <p:cNvSpPr>
            <a:spLocks noGrp="1"/>
          </p:cNvSpPr>
          <p:nvPr>
            <p:ph type="sldNum" sz="quarter" idx="12"/>
          </p:nvPr>
        </p:nvSpPr>
        <p:spPr/>
        <p:txBody>
          <a:bodyPr/>
          <a:lstStyle/>
          <a:p>
            <a:fld id="{90CD170D-626E-41B2-BB83-2CBCF659F3C4}" type="slidenum">
              <a:rPr lang="en-IN" smtClean="0"/>
              <a:t>‹#›</a:t>
            </a:fld>
            <a:endParaRPr lang="en-IN"/>
          </a:p>
        </p:txBody>
      </p:sp>
    </p:spTree>
    <p:extLst>
      <p:ext uri="{BB962C8B-B14F-4D97-AF65-F5344CB8AC3E}">
        <p14:creationId xmlns:p14="http://schemas.microsoft.com/office/powerpoint/2010/main" val="2294287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3ECB4B-01F4-1461-8B4D-7C56C07774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5468B7-6DE3-DA87-A528-95F030C61F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4D4215-A240-64F0-0729-175746C39A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E2BBD9-A04C-49D7-81D0-65F81C31E741}" type="datetimeFigureOut">
              <a:rPr lang="en-IN" smtClean="0"/>
              <a:t>21-07-2026</a:t>
            </a:fld>
            <a:endParaRPr lang="en-IN"/>
          </a:p>
        </p:txBody>
      </p:sp>
      <p:sp>
        <p:nvSpPr>
          <p:cNvPr id="5" name="Footer Placeholder 4">
            <a:extLst>
              <a:ext uri="{FF2B5EF4-FFF2-40B4-BE49-F238E27FC236}">
                <a16:creationId xmlns:a16="http://schemas.microsoft.com/office/drawing/2014/main" id="{7AAF9BA1-AEB8-E037-E151-E40D8E870B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BBAA967-36FF-1104-276A-AB6A5711E2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CD170D-626E-41B2-BB83-2CBCF659F3C4}" type="slidenum">
              <a:rPr lang="en-IN" smtClean="0"/>
              <a:t>‹#›</a:t>
            </a:fld>
            <a:endParaRPr lang="en-IN"/>
          </a:p>
        </p:txBody>
      </p:sp>
    </p:spTree>
    <p:extLst>
      <p:ext uri="{BB962C8B-B14F-4D97-AF65-F5344CB8AC3E}">
        <p14:creationId xmlns:p14="http://schemas.microsoft.com/office/powerpoint/2010/main" val="2693730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DF727E-5C1D-0589-61BA-CAACF2D9989D}"/>
              </a:ext>
            </a:extLst>
          </p:cNvPr>
          <p:cNvSpPr>
            <a:spLocks noGrp="1"/>
          </p:cNvSpPr>
          <p:nvPr>
            <p:ph type="title"/>
          </p:nvPr>
        </p:nvSpPr>
        <p:spPr>
          <a:xfrm>
            <a:off x="1688576" y="1845021"/>
            <a:ext cx="8965676" cy="657038"/>
          </a:xfrm>
        </p:spPr>
        <p:txBody>
          <a:bodyPr anchor="t">
            <a:noAutofit/>
          </a:bodyPr>
          <a:lstStyle/>
          <a:p>
            <a:r>
              <a:rPr lang="en-IN" sz="4400" b="1" dirty="0">
                <a:latin typeface="Aptos Narrow" panose="020B0004020202020204" pitchFamily="34" charset="0"/>
              </a:rPr>
              <a:t>Employee Management System (EMS)</a:t>
            </a:r>
          </a:p>
        </p:txBody>
      </p:sp>
      <p:sp>
        <p:nvSpPr>
          <p:cNvPr id="5" name="Text Placeholder 4">
            <a:extLst>
              <a:ext uri="{FF2B5EF4-FFF2-40B4-BE49-F238E27FC236}">
                <a16:creationId xmlns:a16="http://schemas.microsoft.com/office/drawing/2014/main" id="{10AE5D52-6E1B-3CAC-731C-DCEC9F942E71}"/>
              </a:ext>
            </a:extLst>
          </p:cNvPr>
          <p:cNvSpPr>
            <a:spLocks noGrp="1"/>
          </p:cNvSpPr>
          <p:nvPr>
            <p:ph type="body" idx="1"/>
          </p:nvPr>
        </p:nvSpPr>
        <p:spPr>
          <a:xfrm>
            <a:off x="1194061" y="2642788"/>
            <a:ext cx="9954705" cy="449203"/>
          </a:xfrm>
        </p:spPr>
        <p:txBody>
          <a:bodyPr>
            <a:normAutofit/>
          </a:bodyPr>
          <a:lstStyle/>
          <a:p>
            <a:r>
              <a:rPr lang="en-US" sz="1800" dirty="0">
                <a:solidFill>
                  <a:schemeClr val="bg2">
                    <a:lumMod val="50000"/>
                  </a:schemeClr>
                </a:solidFill>
                <a:latin typeface="Aptos Narrow" panose="020B0004020202020204" pitchFamily="34" charset="0"/>
              </a:rPr>
              <a:t>Built using React, Vite, Tailwind CSS, React Router, Context API, Custom Hooks, and Reusable Components</a:t>
            </a:r>
            <a:endParaRPr lang="en-IN" sz="1800" dirty="0">
              <a:solidFill>
                <a:schemeClr val="bg2">
                  <a:lumMod val="50000"/>
                </a:schemeClr>
              </a:solidFill>
              <a:latin typeface="Aptos Narrow" panose="020B0004020202020204" pitchFamily="34" charset="0"/>
            </a:endParaRPr>
          </a:p>
        </p:txBody>
      </p:sp>
      <p:pic>
        <p:nvPicPr>
          <p:cNvPr id="7" name="Picture 6">
            <a:extLst>
              <a:ext uri="{FF2B5EF4-FFF2-40B4-BE49-F238E27FC236}">
                <a16:creationId xmlns:a16="http://schemas.microsoft.com/office/drawing/2014/main" id="{EBB0CD84-D702-668F-816D-3C4BD295BAF5}"/>
              </a:ext>
            </a:extLst>
          </p:cNvPr>
          <p:cNvPicPr>
            <a:picLocks noChangeAspect="1"/>
          </p:cNvPicPr>
          <p:nvPr/>
        </p:nvPicPr>
        <p:blipFill>
          <a:blip r:embed="rId2"/>
          <a:stretch>
            <a:fillRect/>
          </a:stretch>
        </p:blipFill>
        <p:spPr>
          <a:xfrm>
            <a:off x="1969998" y="3390833"/>
            <a:ext cx="1429080" cy="1429080"/>
          </a:xfrm>
          <a:prstGeom prst="rect">
            <a:avLst/>
          </a:prstGeom>
        </p:spPr>
      </p:pic>
      <p:pic>
        <p:nvPicPr>
          <p:cNvPr id="9" name="Picture 8">
            <a:extLst>
              <a:ext uri="{FF2B5EF4-FFF2-40B4-BE49-F238E27FC236}">
                <a16:creationId xmlns:a16="http://schemas.microsoft.com/office/drawing/2014/main" id="{F9B78F20-B7A2-3269-5C94-8C64AE48A94B}"/>
              </a:ext>
            </a:extLst>
          </p:cNvPr>
          <p:cNvPicPr>
            <a:picLocks noChangeAspect="1"/>
          </p:cNvPicPr>
          <p:nvPr/>
        </p:nvPicPr>
        <p:blipFill>
          <a:blip r:embed="rId3"/>
          <a:stretch>
            <a:fillRect/>
          </a:stretch>
        </p:blipFill>
        <p:spPr>
          <a:xfrm>
            <a:off x="4263956" y="3440226"/>
            <a:ext cx="1429080" cy="1429080"/>
          </a:xfrm>
          <a:prstGeom prst="rect">
            <a:avLst/>
          </a:prstGeom>
        </p:spPr>
      </p:pic>
      <p:pic>
        <p:nvPicPr>
          <p:cNvPr id="11" name="Picture 10">
            <a:extLst>
              <a:ext uri="{FF2B5EF4-FFF2-40B4-BE49-F238E27FC236}">
                <a16:creationId xmlns:a16="http://schemas.microsoft.com/office/drawing/2014/main" id="{74BB3259-9865-E8F5-4FED-B48E6F0F0964}"/>
              </a:ext>
            </a:extLst>
          </p:cNvPr>
          <p:cNvPicPr>
            <a:picLocks noChangeAspect="1"/>
          </p:cNvPicPr>
          <p:nvPr/>
        </p:nvPicPr>
        <p:blipFill>
          <a:blip r:embed="rId4"/>
          <a:stretch>
            <a:fillRect/>
          </a:stretch>
        </p:blipFill>
        <p:spPr>
          <a:xfrm>
            <a:off x="6557914" y="3440226"/>
            <a:ext cx="1429080" cy="1429080"/>
          </a:xfrm>
          <a:prstGeom prst="rect">
            <a:avLst/>
          </a:prstGeom>
        </p:spPr>
      </p:pic>
      <p:pic>
        <p:nvPicPr>
          <p:cNvPr id="25" name="Graphic 24">
            <a:extLst>
              <a:ext uri="{FF2B5EF4-FFF2-40B4-BE49-F238E27FC236}">
                <a16:creationId xmlns:a16="http://schemas.microsoft.com/office/drawing/2014/main" id="{0A0C742F-BD2C-5BC1-7F32-EB504CCB6ED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51872" y="3341441"/>
            <a:ext cx="1597892" cy="1527865"/>
          </a:xfrm>
          <a:prstGeom prst="rect">
            <a:avLst/>
          </a:prstGeom>
        </p:spPr>
      </p:pic>
    </p:spTree>
    <p:extLst>
      <p:ext uri="{BB962C8B-B14F-4D97-AF65-F5344CB8AC3E}">
        <p14:creationId xmlns:p14="http://schemas.microsoft.com/office/powerpoint/2010/main" val="3015750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50FE9-D854-EBDD-FAFA-B07130FD7D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E60F2FD-C7C5-4098-BBE8-F18AF8C1598C}"/>
              </a:ext>
            </a:extLst>
          </p:cNvPr>
          <p:cNvSpPr>
            <a:spLocks noGrp="1"/>
          </p:cNvSpPr>
          <p:nvPr>
            <p:ph type="title"/>
          </p:nvPr>
        </p:nvSpPr>
        <p:spPr>
          <a:xfrm>
            <a:off x="661519" y="562163"/>
            <a:ext cx="10515600" cy="683932"/>
          </a:xfrm>
        </p:spPr>
        <p:txBody>
          <a:bodyPr anchor="t">
            <a:noAutofit/>
          </a:bodyPr>
          <a:lstStyle/>
          <a:p>
            <a:r>
              <a:rPr lang="en-IN" sz="3600" b="1" dirty="0">
                <a:latin typeface="Aptos Narrow" panose="020B0004020202020204" pitchFamily="34" charset="0"/>
              </a:rPr>
              <a:t>Project Overview</a:t>
            </a:r>
          </a:p>
        </p:txBody>
      </p:sp>
      <p:sp>
        <p:nvSpPr>
          <p:cNvPr id="5" name="Text Placeholder 4">
            <a:extLst>
              <a:ext uri="{FF2B5EF4-FFF2-40B4-BE49-F238E27FC236}">
                <a16:creationId xmlns:a16="http://schemas.microsoft.com/office/drawing/2014/main" id="{99E00455-4007-3C14-3850-08BAD93C923C}"/>
              </a:ext>
            </a:extLst>
          </p:cNvPr>
          <p:cNvSpPr>
            <a:spLocks noGrp="1"/>
          </p:cNvSpPr>
          <p:nvPr>
            <p:ph type="body" idx="1"/>
          </p:nvPr>
        </p:nvSpPr>
        <p:spPr>
          <a:xfrm>
            <a:off x="661519" y="1356766"/>
            <a:ext cx="10515600" cy="2072234"/>
          </a:xfrm>
        </p:spPr>
        <p:txBody>
          <a:bodyPr numCol="1">
            <a:noAutofit/>
          </a:bodyPr>
          <a:lstStyle/>
          <a:p>
            <a:pPr lvl="0"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ptos Narrow" panose="020B0004020202020204" pitchFamily="34" charset="0"/>
              </a:rPr>
              <a:t>Challenges</a:t>
            </a:r>
            <a:endParaRPr kumimoji="0" lang="en-US" altLang="en-US" sz="1600" b="1" i="0" u="none" strike="noStrike" cap="none" normalizeH="0" baseline="0" dirty="0">
              <a:ln>
                <a:noFill/>
              </a:ln>
              <a:solidFill>
                <a:schemeClr val="tx1"/>
              </a:solidFill>
              <a:effectLst/>
              <a:latin typeface="Aptos Narrow" panose="020B0004020202020204" pitchFamily="34" charset="0"/>
            </a:endParaRPr>
          </a:p>
          <a:p>
            <a:pPr marL="285750" lvl="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ptos Narrow" panose="020B0004020202020204" pitchFamily="34" charset="0"/>
              </a:rPr>
              <a:t>Managing employee information manually is time-consuming. </a:t>
            </a:r>
          </a:p>
          <a:p>
            <a:pPr marL="285750" lvl="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ptos Narrow" panose="020B0004020202020204" pitchFamily="34" charset="0"/>
              </a:rPr>
              <a:t>Difficulty tracking attendance and payroll data. </a:t>
            </a:r>
          </a:p>
          <a:p>
            <a:pPr marL="285750" lvl="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ptos Narrow" panose="020B0004020202020204" pitchFamily="34" charset="0"/>
              </a:rPr>
              <a:t>Lack of centralized employee records. </a:t>
            </a:r>
          </a:p>
          <a:p>
            <a:pPr marL="285750" lvl="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ptos Narrow" panose="020B0004020202020204" pitchFamily="34" charset="0"/>
              </a:rPr>
              <a:t>Limited visibility into department-wise employee statistics. </a:t>
            </a:r>
          </a:p>
          <a:p>
            <a:pPr>
              <a:lnSpc>
                <a:spcPct val="120000"/>
              </a:lnSpc>
            </a:pPr>
            <a:endParaRPr lang="en-IN" sz="1400" dirty="0">
              <a:solidFill>
                <a:schemeClr val="bg2">
                  <a:lumMod val="50000"/>
                </a:schemeClr>
              </a:solidFill>
              <a:latin typeface="Aptos Narrow" panose="020B0004020202020204" pitchFamily="34" charset="0"/>
            </a:endParaRPr>
          </a:p>
        </p:txBody>
      </p:sp>
      <p:sp>
        <p:nvSpPr>
          <p:cNvPr id="14" name="TextBox 13">
            <a:extLst>
              <a:ext uri="{FF2B5EF4-FFF2-40B4-BE49-F238E27FC236}">
                <a16:creationId xmlns:a16="http://schemas.microsoft.com/office/drawing/2014/main" id="{6B8F16D9-2CBF-A8DB-2CBC-0B0D4DF18EF6}"/>
              </a:ext>
            </a:extLst>
          </p:cNvPr>
          <p:cNvSpPr txBox="1"/>
          <p:nvPr/>
        </p:nvSpPr>
        <p:spPr>
          <a:xfrm>
            <a:off x="661520" y="3539671"/>
            <a:ext cx="10515599" cy="1754326"/>
          </a:xfrm>
          <a:prstGeom prst="rect">
            <a:avLst/>
          </a:prstGeom>
          <a:noFill/>
        </p:spPr>
        <p:txBody>
          <a:bodyPr wrap="square" rtlCol="0">
            <a:spAutoFit/>
          </a:bodyPr>
          <a:lstStyle/>
          <a:p>
            <a:r>
              <a:rPr lang="en-US" b="1" dirty="0">
                <a:latin typeface="Aptos Narrow" panose="020B0004020202020204" pitchFamily="34" charset="0"/>
              </a:rPr>
              <a:t>Solution</a:t>
            </a:r>
          </a:p>
          <a:p>
            <a:pPr marL="285750" indent="-285750">
              <a:buFont typeface="Arial" panose="020B0604020202020204" pitchFamily="34" charset="0"/>
              <a:buChar char="•"/>
            </a:pPr>
            <a:r>
              <a:rPr lang="en-IN" dirty="0">
                <a:latin typeface="Aptos Narrow" panose="020B0004020202020204" pitchFamily="34" charset="0"/>
              </a:rPr>
              <a:t>Centralized employee management platform</a:t>
            </a:r>
          </a:p>
          <a:p>
            <a:pPr marL="285750" indent="-285750">
              <a:buFont typeface="Arial" panose="020B0604020202020204" pitchFamily="34" charset="0"/>
              <a:buChar char="•"/>
            </a:pPr>
            <a:r>
              <a:rPr lang="en-IN" dirty="0">
                <a:latin typeface="Aptos Narrow" panose="020B0004020202020204" pitchFamily="34" charset="0"/>
              </a:rPr>
              <a:t>Department wise employee tracking</a:t>
            </a:r>
          </a:p>
          <a:p>
            <a:pPr marL="285750" indent="-285750">
              <a:buFont typeface="Arial" panose="020B0604020202020204" pitchFamily="34" charset="0"/>
              <a:buChar char="•"/>
            </a:pPr>
            <a:r>
              <a:rPr lang="en-IN" dirty="0">
                <a:latin typeface="Aptos Narrow" panose="020B0004020202020204" pitchFamily="34" charset="0"/>
              </a:rPr>
              <a:t>Attendance monitoring and reporting</a:t>
            </a:r>
          </a:p>
          <a:p>
            <a:pPr marL="285750" indent="-285750">
              <a:buFont typeface="Arial" panose="020B0604020202020204" pitchFamily="34" charset="0"/>
              <a:buChar char="•"/>
            </a:pPr>
            <a:r>
              <a:rPr lang="en-IN" dirty="0">
                <a:latin typeface="Aptos Narrow" panose="020B0004020202020204" pitchFamily="34" charset="0"/>
              </a:rPr>
              <a:t>Payroll management dashboard</a:t>
            </a:r>
          </a:p>
          <a:p>
            <a:pPr marL="285750" indent="-285750">
              <a:buFont typeface="Arial" panose="020B0604020202020204" pitchFamily="34" charset="0"/>
              <a:buChar char="•"/>
            </a:pPr>
            <a:r>
              <a:rPr lang="en-IN" dirty="0">
                <a:latin typeface="Aptos Narrow" panose="020B0004020202020204" pitchFamily="34" charset="0"/>
              </a:rPr>
              <a:t>Secure access using simulated authentication and protected route</a:t>
            </a:r>
          </a:p>
        </p:txBody>
      </p:sp>
    </p:spTree>
    <p:extLst>
      <p:ext uri="{BB962C8B-B14F-4D97-AF65-F5344CB8AC3E}">
        <p14:creationId xmlns:p14="http://schemas.microsoft.com/office/powerpoint/2010/main" val="4070046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5A2E2-2F1D-F2FA-F58D-B73BC472AC7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51F22D-F87F-DF06-D9AE-0E631C86E64D}"/>
              </a:ext>
            </a:extLst>
          </p:cNvPr>
          <p:cNvSpPr>
            <a:spLocks noGrp="1"/>
          </p:cNvSpPr>
          <p:nvPr>
            <p:ph type="title"/>
          </p:nvPr>
        </p:nvSpPr>
        <p:spPr>
          <a:xfrm>
            <a:off x="661520" y="591251"/>
            <a:ext cx="10868960" cy="739309"/>
          </a:xfrm>
        </p:spPr>
        <p:txBody>
          <a:bodyPr anchor="t">
            <a:noAutofit/>
          </a:bodyPr>
          <a:lstStyle/>
          <a:p>
            <a:r>
              <a:rPr lang="en-IN" sz="3600" b="1" dirty="0">
                <a:latin typeface="Aptos Narrow" panose="020B0004020202020204" pitchFamily="34" charset="0"/>
              </a:rPr>
              <a:t>Objective achievement</a:t>
            </a:r>
          </a:p>
        </p:txBody>
      </p:sp>
      <p:sp>
        <p:nvSpPr>
          <p:cNvPr id="5" name="Text Placeholder 4">
            <a:extLst>
              <a:ext uri="{FF2B5EF4-FFF2-40B4-BE49-F238E27FC236}">
                <a16:creationId xmlns:a16="http://schemas.microsoft.com/office/drawing/2014/main" id="{0D88F225-47AA-02A9-861C-B91C6592AAC0}"/>
              </a:ext>
            </a:extLst>
          </p:cNvPr>
          <p:cNvSpPr>
            <a:spLocks noGrp="1"/>
          </p:cNvSpPr>
          <p:nvPr>
            <p:ph type="body" idx="1"/>
          </p:nvPr>
        </p:nvSpPr>
        <p:spPr>
          <a:xfrm>
            <a:off x="661520" y="1507659"/>
            <a:ext cx="5257800" cy="1770993"/>
          </a:xfrm>
        </p:spPr>
        <p:txBody>
          <a:bodyPr numCol="1">
            <a:noAutofit/>
          </a:bodyPr>
          <a:lstStyle/>
          <a:p>
            <a:pPr lvl="0"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ptos Narrow" panose="020B0004020202020204" pitchFamily="34" charset="0"/>
              </a:rPr>
              <a:t>Reusable components</a:t>
            </a:r>
            <a:endParaRPr kumimoji="0" lang="en-US" altLang="en-US" sz="1600" b="1" i="0" u="none" strike="noStrike" cap="none" normalizeH="0" baseline="0" dirty="0">
              <a:ln>
                <a:noFill/>
              </a:ln>
              <a:solidFill>
                <a:schemeClr val="tx1"/>
              </a:solidFill>
              <a:effectLst/>
              <a:latin typeface="Aptos Narrow" panose="020B0004020202020204" pitchFamily="34" charset="0"/>
            </a:endParaRPr>
          </a:p>
          <a:p>
            <a:pPr marL="285750" lvl="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ptos Narrow" panose="020B0004020202020204" pitchFamily="34" charset="0"/>
              </a:rPr>
              <a:t>Header</a:t>
            </a:r>
          </a:p>
          <a:p>
            <a:pPr marL="285750" lvl="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err="1">
                <a:ln>
                  <a:noFill/>
                </a:ln>
                <a:solidFill>
                  <a:schemeClr val="tx1"/>
                </a:solidFill>
                <a:effectLst/>
                <a:latin typeface="Aptos Narrow" panose="020B0004020202020204" pitchFamily="34" charset="0"/>
              </a:rPr>
              <a:t>DataTable</a:t>
            </a:r>
            <a:endParaRPr kumimoji="0" lang="en-US" altLang="en-US" sz="1800" b="0" i="0" u="none" strike="noStrike" cap="none" normalizeH="0" baseline="0" dirty="0">
              <a:ln>
                <a:noFill/>
              </a:ln>
              <a:solidFill>
                <a:schemeClr val="tx1"/>
              </a:solidFill>
              <a:effectLst/>
              <a:latin typeface="Aptos Narrow" panose="020B0004020202020204" pitchFamily="34" charset="0"/>
            </a:endParaRPr>
          </a:p>
          <a:p>
            <a:pPr marL="285750" lvl="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ptos Narrow" panose="020B0004020202020204" pitchFamily="34" charset="0"/>
              </a:rPr>
              <a:t>S</a:t>
            </a:r>
            <a:r>
              <a:rPr lang="en-US" altLang="en-US" sz="1800" dirty="0">
                <a:solidFill>
                  <a:schemeClr val="tx1"/>
                </a:solidFill>
                <a:latin typeface="Aptos Narrow" panose="020B0004020202020204" pitchFamily="34" charset="0"/>
              </a:rPr>
              <a:t>idebar</a:t>
            </a:r>
          </a:p>
          <a:p>
            <a:pPr marL="285750" lvl="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Breadcrumb</a:t>
            </a:r>
          </a:p>
          <a:p>
            <a:pPr marL="285750" lvl="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Filters</a:t>
            </a:r>
          </a:p>
        </p:txBody>
      </p:sp>
      <p:sp>
        <p:nvSpPr>
          <p:cNvPr id="2" name="Text Placeholder 4">
            <a:extLst>
              <a:ext uri="{FF2B5EF4-FFF2-40B4-BE49-F238E27FC236}">
                <a16:creationId xmlns:a16="http://schemas.microsoft.com/office/drawing/2014/main" id="{0104F1FF-F026-F14D-0B2D-F0E18D8D18BB}"/>
              </a:ext>
            </a:extLst>
          </p:cNvPr>
          <p:cNvSpPr txBox="1">
            <a:spLocks/>
          </p:cNvSpPr>
          <p:nvPr/>
        </p:nvSpPr>
        <p:spPr>
          <a:xfrm>
            <a:off x="5919320" y="1507658"/>
            <a:ext cx="5611160" cy="1770994"/>
          </a:xfrm>
          <a:prstGeom prst="rect">
            <a:avLst/>
          </a:prstGeom>
        </p:spPr>
        <p:txBody>
          <a:bodyPr vert="horz" lIns="91440" tIns="45720" rIns="91440" bIns="45720" numCol="1"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eaLnBrk="0" fontAlgn="base" hangingPunct="0">
              <a:lnSpc>
                <a:spcPct val="100000"/>
              </a:lnSpc>
              <a:spcBef>
                <a:spcPct val="0"/>
              </a:spcBef>
              <a:spcAft>
                <a:spcPct val="0"/>
              </a:spcAft>
            </a:pPr>
            <a:r>
              <a:rPr lang="en-US" altLang="en-US" sz="1800" b="1" dirty="0">
                <a:solidFill>
                  <a:schemeClr val="tx1"/>
                </a:solidFill>
                <a:latin typeface="Aptos Narrow" panose="020B0004020202020204" pitchFamily="34" charset="0"/>
              </a:rPr>
              <a:t>React best practices</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Functional Component</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React hooks</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Custom hooks</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Context API for authentication</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err="1">
                <a:solidFill>
                  <a:schemeClr val="tx1"/>
                </a:solidFill>
                <a:latin typeface="Aptos Narrow" panose="020B0004020202020204" pitchFamily="34" charset="0"/>
              </a:rPr>
              <a:t>Proptype</a:t>
            </a:r>
            <a:r>
              <a:rPr lang="en-US" altLang="en-US" sz="1800" dirty="0">
                <a:solidFill>
                  <a:schemeClr val="tx1"/>
                </a:solidFill>
                <a:latin typeface="Aptos Narrow" panose="020B0004020202020204" pitchFamily="34" charset="0"/>
              </a:rPr>
              <a:t> validation</a:t>
            </a:r>
          </a:p>
        </p:txBody>
      </p:sp>
      <p:sp>
        <p:nvSpPr>
          <p:cNvPr id="3" name="Text Placeholder 4">
            <a:extLst>
              <a:ext uri="{FF2B5EF4-FFF2-40B4-BE49-F238E27FC236}">
                <a16:creationId xmlns:a16="http://schemas.microsoft.com/office/drawing/2014/main" id="{B5C53691-3578-9096-5CDE-6A9ABE78183E}"/>
              </a:ext>
            </a:extLst>
          </p:cNvPr>
          <p:cNvSpPr txBox="1">
            <a:spLocks/>
          </p:cNvSpPr>
          <p:nvPr/>
        </p:nvSpPr>
        <p:spPr>
          <a:xfrm>
            <a:off x="5919320" y="3579349"/>
            <a:ext cx="5611160" cy="2211853"/>
          </a:xfrm>
          <a:prstGeom prst="rect">
            <a:avLst/>
          </a:prstGeom>
        </p:spPr>
        <p:txBody>
          <a:bodyPr vert="horz" lIns="91440" tIns="45720" rIns="91440" bIns="45720" numCol="1"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eaLnBrk="0" fontAlgn="base" hangingPunct="0">
              <a:lnSpc>
                <a:spcPct val="100000"/>
              </a:lnSpc>
              <a:spcBef>
                <a:spcPct val="0"/>
              </a:spcBef>
              <a:spcAft>
                <a:spcPct val="0"/>
              </a:spcAft>
            </a:pPr>
            <a:r>
              <a:rPr lang="en-US" altLang="en-US" sz="1800" b="1" dirty="0">
                <a:solidFill>
                  <a:schemeClr val="tx1"/>
                </a:solidFill>
                <a:latin typeface="Aptos Narrow" panose="020B0004020202020204" pitchFamily="34" charset="0"/>
              </a:rPr>
              <a:t>Code quality</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Feature-based folder structure</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Utility functions separated by /utils </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API layer separated into /</a:t>
            </a:r>
            <a:r>
              <a:rPr lang="en-US" altLang="en-US" sz="1800" dirty="0" err="1">
                <a:solidFill>
                  <a:schemeClr val="tx1"/>
                </a:solidFill>
                <a:latin typeface="Aptos Narrow" panose="020B0004020202020204" pitchFamily="34" charset="0"/>
              </a:rPr>
              <a:t>api</a:t>
            </a:r>
            <a:endParaRPr lang="en-US" altLang="en-US" sz="1800" dirty="0">
              <a:solidFill>
                <a:schemeClr val="tx1"/>
              </a:solidFill>
              <a:latin typeface="Aptos Narrow" panose="020B0004020202020204" pitchFamily="34" charset="0"/>
            </a:endParaRP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Centralized constants</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Layout component for shared page structure</a:t>
            </a:r>
          </a:p>
        </p:txBody>
      </p:sp>
      <p:sp>
        <p:nvSpPr>
          <p:cNvPr id="6" name="Text Placeholder 4">
            <a:extLst>
              <a:ext uri="{FF2B5EF4-FFF2-40B4-BE49-F238E27FC236}">
                <a16:creationId xmlns:a16="http://schemas.microsoft.com/office/drawing/2014/main" id="{5630C57D-188D-651D-787D-53A0BA1D8A5A}"/>
              </a:ext>
            </a:extLst>
          </p:cNvPr>
          <p:cNvSpPr txBox="1">
            <a:spLocks/>
          </p:cNvSpPr>
          <p:nvPr/>
        </p:nvSpPr>
        <p:spPr>
          <a:xfrm>
            <a:off x="661520" y="3579348"/>
            <a:ext cx="5257800" cy="2211853"/>
          </a:xfrm>
          <a:prstGeom prst="rect">
            <a:avLst/>
          </a:prstGeom>
        </p:spPr>
        <p:txBody>
          <a:bodyPr vert="horz" lIns="91440" tIns="45720" rIns="91440" bIns="45720" numCol="1"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eaLnBrk="0" fontAlgn="base" hangingPunct="0">
              <a:lnSpc>
                <a:spcPct val="100000"/>
              </a:lnSpc>
              <a:spcBef>
                <a:spcPct val="0"/>
              </a:spcBef>
              <a:spcAft>
                <a:spcPct val="0"/>
              </a:spcAft>
            </a:pPr>
            <a:r>
              <a:rPr lang="en-US" altLang="en-US" sz="1800" b="1" dirty="0" err="1">
                <a:solidFill>
                  <a:schemeClr val="tx1"/>
                </a:solidFill>
                <a:latin typeface="Aptos Narrow" panose="020B0004020202020204" pitchFamily="34" charset="0"/>
              </a:rPr>
              <a:t>ESLint</a:t>
            </a:r>
            <a:r>
              <a:rPr lang="en-US" altLang="en-US" sz="1800" b="1" dirty="0">
                <a:solidFill>
                  <a:schemeClr val="tx1"/>
                </a:solidFill>
                <a:latin typeface="Aptos Narrow" panose="020B0004020202020204" pitchFamily="34" charset="0"/>
              </a:rPr>
              <a:t>  &amp; Clean code</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Shared table component</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Shared card component</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Shared filtering logic with custom hooks</a:t>
            </a:r>
          </a:p>
        </p:txBody>
      </p:sp>
    </p:spTree>
    <p:extLst>
      <p:ext uri="{BB962C8B-B14F-4D97-AF65-F5344CB8AC3E}">
        <p14:creationId xmlns:p14="http://schemas.microsoft.com/office/powerpoint/2010/main" val="1535108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993C3-A7F5-096B-4AA8-4EB2095E26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9AF8466-1469-C76B-F3A4-7CF2D3D48B13}"/>
              </a:ext>
            </a:extLst>
          </p:cNvPr>
          <p:cNvSpPr>
            <a:spLocks noGrp="1"/>
          </p:cNvSpPr>
          <p:nvPr>
            <p:ph type="title"/>
          </p:nvPr>
        </p:nvSpPr>
        <p:spPr>
          <a:xfrm>
            <a:off x="838200" y="553714"/>
            <a:ext cx="10515600" cy="648074"/>
          </a:xfrm>
        </p:spPr>
        <p:txBody>
          <a:bodyPr anchor="t">
            <a:noAutofit/>
          </a:bodyPr>
          <a:lstStyle/>
          <a:p>
            <a:r>
              <a:rPr lang="en-IN" sz="3600" b="1" dirty="0">
                <a:latin typeface="Aptos Narrow" panose="020B0004020202020204" pitchFamily="34" charset="0"/>
              </a:rPr>
              <a:t>Technology</a:t>
            </a:r>
            <a:r>
              <a:rPr lang="en-IN" sz="4000" b="1" dirty="0">
                <a:latin typeface="Aptos Narrow" panose="020B0004020202020204" pitchFamily="34" charset="0"/>
              </a:rPr>
              <a:t> </a:t>
            </a:r>
            <a:r>
              <a:rPr lang="en-IN" sz="3600" b="1" dirty="0">
                <a:latin typeface="Aptos Narrow" panose="020B0004020202020204" pitchFamily="34" charset="0"/>
              </a:rPr>
              <a:t>Stack</a:t>
            </a:r>
            <a:endParaRPr lang="en-IN" sz="4000" b="1" dirty="0">
              <a:latin typeface="Aptos Narrow" panose="020B0004020202020204" pitchFamily="34" charset="0"/>
            </a:endParaRPr>
          </a:p>
        </p:txBody>
      </p:sp>
      <p:sp>
        <p:nvSpPr>
          <p:cNvPr id="5" name="Text Placeholder 4">
            <a:extLst>
              <a:ext uri="{FF2B5EF4-FFF2-40B4-BE49-F238E27FC236}">
                <a16:creationId xmlns:a16="http://schemas.microsoft.com/office/drawing/2014/main" id="{5C3A9974-085C-14A1-37E4-8211F20A2A3C}"/>
              </a:ext>
            </a:extLst>
          </p:cNvPr>
          <p:cNvSpPr>
            <a:spLocks noGrp="1"/>
          </p:cNvSpPr>
          <p:nvPr>
            <p:ph type="body" idx="1"/>
          </p:nvPr>
        </p:nvSpPr>
        <p:spPr>
          <a:xfrm>
            <a:off x="838200" y="1394811"/>
            <a:ext cx="5257800" cy="1277188"/>
          </a:xfrm>
        </p:spPr>
        <p:txBody>
          <a:bodyPr numCol="1">
            <a:noAutofit/>
          </a:bodyPr>
          <a:lstStyle/>
          <a:p>
            <a:pPr lvl="0"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ptos Narrow" panose="020B0004020202020204" pitchFamily="34" charset="0"/>
              </a:rPr>
              <a:t>React</a:t>
            </a:r>
            <a:endParaRPr kumimoji="0" lang="en-US" altLang="en-US" sz="1600" b="1" i="0" u="none" strike="noStrike" cap="none" normalizeH="0" baseline="0" dirty="0">
              <a:ln>
                <a:noFill/>
              </a:ln>
              <a:solidFill>
                <a:schemeClr val="tx1"/>
              </a:solidFill>
              <a:effectLst/>
              <a:latin typeface="Aptos Narrow" panose="020B0004020202020204" pitchFamily="34" charset="0"/>
            </a:endParaRPr>
          </a:p>
          <a:p>
            <a:pPr marL="285750" lvl="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ptos Narrow" panose="020B0004020202020204" pitchFamily="34" charset="0"/>
              </a:rPr>
              <a:t>Component based architecture</a:t>
            </a:r>
          </a:p>
          <a:p>
            <a:pPr marL="285750" lvl="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Reusable UI development</a:t>
            </a:r>
          </a:p>
          <a:p>
            <a:pPr marL="285750" lvl="0"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ptos Narrow" panose="020B0004020202020204" pitchFamily="34" charset="0"/>
              </a:rPr>
              <a:t>Large ecosystem and community support</a:t>
            </a:r>
          </a:p>
        </p:txBody>
      </p:sp>
      <p:sp>
        <p:nvSpPr>
          <p:cNvPr id="7" name="Text Placeholder 4">
            <a:extLst>
              <a:ext uri="{FF2B5EF4-FFF2-40B4-BE49-F238E27FC236}">
                <a16:creationId xmlns:a16="http://schemas.microsoft.com/office/drawing/2014/main" id="{11544179-7A53-4412-1844-765183B22693}"/>
              </a:ext>
            </a:extLst>
          </p:cNvPr>
          <p:cNvSpPr txBox="1">
            <a:spLocks/>
          </p:cNvSpPr>
          <p:nvPr/>
        </p:nvSpPr>
        <p:spPr>
          <a:xfrm>
            <a:off x="838200" y="2816561"/>
            <a:ext cx="5257800" cy="1267660"/>
          </a:xfrm>
          <a:prstGeom prst="rect">
            <a:avLst/>
          </a:prstGeom>
        </p:spPr>
        <p:txBody>
          <a:bodyPr vert="horz" lIns="91440" tIns="45720" rIns="91440" bIns="45720" numCol="1"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eaLnBrk="0" fontAlgn="base" hangingPunct="0">
              <a:lnSpc>
                <a:spcPct val="100000"/>
              </a:lnSpc>
              <a:spcBef>
                <a:spcPct val="0"/>
              </a:spcBef>
              <a:spcAft>
                <a:spcPct val="0"/>
              </a:spcAft>
            </a:pPr>
            <a:r>
              <a:rPr lang="en-US" altLang="en-US" sz="1800" b="1" dirty="0">
                <a:solidFill>
                  <a:schemeClr val="tx1"/>
                </a:solidFill>
                <a:latin typeface="Aptos Narrow" panose="020B0004020202020204" pitchFamily="34" charset="0"/>
              </a:rPr>
              <a:t>Vite</a:t>
            </a:r>
            <a:endParaRPr lang="en-US" altLang="en-US" sz="1600" b="1" dirty="0">
              <a:solidFill>
                <a:schemeClr val="tx1"/>
              </a:solidFill>
              <a:latin typeface="Aptos Narrow" panose="020B0004020202020204" pitchFamily="34" charset="0"/>
            </a:endParaRP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Faster startup time</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Instant hot module replacement</a:t>
            </a:r>
          </a:p>
        </p:txBody>
      </p:sp>
      <p:sp>
        <p:nvSpPr>
          <p:cNvPr id="8" name="Text Placeholder 4">
            <a:extLst>
              <a:ext uri="{FF2B5EF4-FFF2-40B4-BE49-F238E27FC236}">
                <a16:creationId xmlns:a16="http://schemas.microsoft.com/office/drawing/2014/main" id="{7D38021B-EB4A-0AF2-88E9-CEE399F2BECE}"/>
              </a:ext>
            </a:extLst>
          </p:cNvPr>
          <p:cNvSpPr txBox="1">
            <a:spLocks/>
          </p:cNvSpPr>
          <p:nvPr/>
        </p:nvSpPr>
        <p:spPr>
          <a:xfrm>
            <a:off x="838200" y="4277244"/>
            <a:ext cx="5257800" cy="1268224"/>
          </a:xfrm>
          <a:prstGeom prst="rect">
            <a:avLst/>
          </a:prstGeom>
        </p:spPr>
        <p:txBody>
          <a:bodyPr vert="horz" lIns="91440" tIns="45720" rIns="91440" bIns="45720" numCol="1"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eaLnBrk="0" fontAlgn="base" hangingPunct="0">
              <a:lnSpc>
                <a:spcPct val="100000"/>
              </a:lnSpc>
              <a:spcBef>
                <a:spcPct val="0"/>
              </a:spcBef>
              <a:spcAft>
                <a:spcPct val="0"/>
              </a:spcAft>
            </a:pPr>
            <a:r>
              <a:rPr lang="en-US" altLang="en-US" sz="1800" b="1" dirty="0">
                <a:solidFill>
                  <a:schemeClr val="tx1"/>
                </a:solidFill>
                <a:latin typeface="Aptos Narrow" panose="020B0004020202020204" pitchFamily="34" charset="0"/>
              </a:rPr>
              <a:t>Tailwind CSS</a:t>
            </a:r>
            <a:endParaRPr lang="en-US" altLang="en-US" sz="1600" b="1" dirty="0">
              <a:solidFill>
                <a:schemeClr val="tx1"/>
              </a:solidFill>
              <a:latin typeface="Aptos Narrow" panose="020B0004020202020204" pitchFamily="34" charset="0"/>
            </a:endParaRP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Utility first CSS framework</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Consistent design system</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Reduced custom CSS maintenance</a:t>
            </a:r>
          </a:p>
        </p:txBody>
      </p:sp>
      <p:sp>
        <p:nvSpPr>
          <p:cNvPr id="9" name="Text Placeholder 4">
            <a:extLst>
              <a:ext uri="{FF2B5EF4-FFF2-40B4-BE49-F238E27FC236}">
                <a16:creationId xmlns:a16="http://schemas.microsoft.com/office/drawing/2014/main" id="{62851329-127C-6999-0B02-EAB57FF409A5}"/>
              </a:ext>
            </a:extLst>
          </p:cNvPr>
          <p:cNvSpPr txBox="1">
            <a:spLocks/>
          </p:cNvSpPr>
          <p:nvPr/>
        </p:nvSpPr>
        <p:spPr>
          <a:xfrm>
            <a:off x="6096000" y="1403775"/>
            <a:ext cx="5257800" cy="1268224"/>
          </a:xfrm>
          <a:prstGeom prst="rect">
            <a:avLst/>
          </a:prstGeom>
        </p:spPr>
        <p:txBody>
          <a:bodyPr vert="horz" lIns="91440" tIns="45720" rIns="91440" bIns="45720" numCol="1"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eaLnBrk="0" fontAlgn="base" hangingPunct="0">
              <a:lnSpc>
                <a:spcPct val="100000"/>
              </a:lnSpc>
              <a:spcBef>
                <a:spcPct val="0"/>
              </a:spcBef>
              <a:spcAft>
                <a:spcPct val="0"/>
              </a:spcAft>
            </a:pPr>
            <a:r>
              <a:rPr lang="en-US" altLang="en-US" sz="1800" b="1" dirty="0">
                <a:solidFill>
                  <a:schemeClr val="tx1"/>
                </a:solidFill>
                <a:latin typeface="Aptos Narrow" panose="020B0004020202020204" pitchFamily="34" charset="0"/>
              </a:rPr>
              <a:t>React-router</a:t>
            </a:r>
            <a:endParaRPr lang="en-US" altLang="en-US" sz="1600" b="1" dirty="0">
              <a:solidFill>
                <a:schemeClr val="tx1"/>
              </a:solidFill>
              <a:latin typeface="Aptos Narrow" panose="020B0004020202020204" pitchFamily="34" charset="0"/>
            </a:endParaRP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Client-side navigation</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Nested routes</a:t>
            </a: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Protected route implementation</a:t>
            </a:r>
          </a:p>
        </p:txBody>
      </p:sp>
      <p:sp>
        <p:nvSpPr>
          <p:cNvPr id="10" name="Text Placeholder 4">
            <a:extLst>
              <a:ext uri="{FF2B5EF4-FFF2-40B4-BE49-F238E27FC236}">
                <a16:creationId xmlns:a16="http://schemas.microsoft.com/office/drawing/2014/main" id="{ADA28535-68D9-6F8E-4F92-CC27EE722FEF}"/>
              </a:ext>
            </a:extLst>
          </p:cNvPr>
          <p:cNvSpPr txBox="1">
            <a:spLocks/>
          </p:cNvSpPr>
          <p:nvPr/>
        </p:nvSpPr>
        <p:spPr>
          <a:xfrm>
            <a:off x="6096000" y="2815997"/>
            <a:ext cx="5257800" cy="1268224"/>
          </a:xfrm>
          <a:prstGeom prst="rect">
            <a:avLst/>
          </a:prstGeom>
        </p:spPr>
        <p:txBody>
          <a:bodyPr vert="horz" lIns="91440" tIns="45720" rIns="91440" bIns="45720" numCol="1"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eaLnBrk="0" fontAlgn="base" hangingPunct="0">
              <a:lnSpc>
                <a:spcPct val="100000"/>
              </a:lnSpc>
              <a:spcBef>
                <a:spcPct val="0"/>
              </a:spcBef>
              <a:spcAft>
                <a:spcPct val="0"/>
              </a:spcAft>
            </a:pPr>
            <a:r>
              <a:rPr lang="en-US" altLang="en-US" sz="1800" b="1" dirty="0" err="1">
                <a:solidFill>
                  <a:schemeClr val="tx1"/>
                </a:solidFill>
                <a:latin typeface="Aptos Narrow" panose="020B0004020202020204" pitchFamily="34" charset="0"/>
              </a:rPr>
              <a:t>PropTypes</a:t>
            </a:r>
            <a:endParaRPr lang="en-US" altLang="en-US" sz="1600" b="1" dirty="0">
              <a:solidFill>
                <a:schemeClr val="tx1"/>
              </a:solidFill>
              <a:latin typeface="Aptos Narrow" panose="020B0004020202020204" pitchFamily="34" charset="0"/>
            </a:endParaRPr>
          </a:p>
          <a:p>
            <a:pPr marL="285750" indent="-285750" eaLnBrk="0" fontAlgn="base" hangingPunct="0">
              <a:lnSpc>
                <a:spcPct val="100000"/>
              </a:lnSpc>
              <a:spcBef>
                <a:spcPct val="0"/>
              </a:spcBef>
              <a:spcAft>
                <a:spcPct val="0"/>
              </a:spcAft>
              <a:buFont typeface="Arial" panose="020B0604020202020204" pitchFamily="34" charset="0"/>
              <a:buChar char="•"/>
            </a:pPr>
            <a:r>
              <a:rPr lang="en-US" altLang="en-US" sz="1800" dirty="0">
                <a:solidFill>
                  <a:schemeClr val="tx1"/>
                </a:solidFill>
                <a:latin typeface="Aptos Narrow" panose="020B0004020202020204" pitchFamily="34" charset="0"/>
              </a:rPr>
              <a:t>Run time prop validation</a:t>
            </a:r>
          </a:p>
          <a:p>
            <a:pPr marL="285750" indent="-285750" eaLnBrk="0" fontAlgn="base" hangingPunct="0">
              <a:lnSpc>
                <a:spcPct val="100000"/>
              </a:lnSpc>
              <a:spcBef>
                <a:spcPct val="0"/>
              </a:spcBef>
              <a:spcAft>
                <a:spcPct val="0"/>
              </a:spcAft>
              <a:buFont typeface="Arial" panose="020B0604020202020204" pitchFamily="34" charset="0"/>
              <a:buChar char="•"/>
            </a:pPr>
            <a:r>
              <a:rPr lang="en-IN" sz="1800" dirty="0">
                <a:solidFill>
                  <a:schemeClr val="tx1"/>
                </a:solidFill>
                <a:latin typeface="Aptos Narrow" panose="020B0004020202020204" pitchFamily="34" charset="0"/>
              </a:rPr>
              <a:t>Easier debugging</a:t>
            </a:r>
          </a:p>
          <a:p>
            <a:pPr marL="285750" indent="-285750" eaLnBrk="0" fontAlgn="base" hangingPunct="0">
              <a:lnSpc>
                <a:spcPct val="100000"/>
              </a:lnSpc>
              <a:spcBef>
                <a:spcPct val="0"/>
              </a:spcBef>
              <a:spcAft>
                <a:spcPct val="0"/>
              </a:spcAft>
              <a:buFont typeface="Arial" panose="020B0604020202020204" pitchFamily="34" charset="0"/>
              <a:buChar char="•"/>
            </a:pPr>
            <a:r>
              <a:rPr lang="en-IN" sz="1800" dirty="0">
                <a:solidFill>
                  <a:schemeClr val="tx1"/>
                </a:solidFill>
                <a:latin typeface="Aptos Narrow" panose="020B0004020202020204" pitchFamily="34" charset="0"/>
              </a:rPr>
              <a:t>Improved maintainability</a:t>
            </a:r>
          </a:p>
        </p:txBody>
      </p:sp>
    </p:spTree>
    <p:extLst>
      <p:ext uri="{BB962C8B-B14F-4D97-AF65-F5344CB8AC3E}">
        <p14:creationId xmlns:p14="http://schemas.microsoft.com/office/powerpoint/2010/main" val="841404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3CB3A-0D77-2C1C-28A4-79879A3B3A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377160-DCD0-FAF4-B6FE-8DDFA0F09DC7}"/>
              </a:ext>
            </a:extLst>
          </p:cNvPr>
          <p:cNvSpPr>
            <a:spLocks noGrp="1"/>
          </p:cNvSpPr>
          <p:nvPr>
            <p:ph type="title"/>
          </p:nvPr>
        </p:nvSpPr>
        <p:spPr>
          <a:xfrm>
            <a:off x="838200" y="553714"/>
            <a:ext cx="10515600" cy="648074"/>
          </a:xfrm>
        </p:spPr>
        <p:txBody>
          <a:bodyPr anchor="t">
            <a:noAutofit/>
          </a:bodyPr>
          <a:lstStyle/>
          <a:p>
            <a:r>
              <a:rPr lang="en-IN" sz="3600" b="1" dirty="0">
                <a:latin typeface="Aptos Narrow" panose="020B0004020202020204" pitchFamily="34" charset="0"/>
              </a:rPr>
              <a:t>Application Architecture</a:t>
            </a:r>
            <a:endParaRPr lang="en-IN" sz="4000" b="1" dirty="0">
              <a:latin typeface="Aptos Narrow" panose="020B0004020202020204" pitchFamily="34" charset="0"/>
            </a:endParaRPr>
          </a:p>
        </p:txBody>
      </p:sp>
      <p:sp>
        <p:nvSpPr>
          <p:cNvPr id="5" name="Text Placeholder 4">
            <a:extLst>
              <a:ext uri="{FF2B5EF4-FFF2-40B4-BE49-F238E27FC236}">
                <a16:creationId xmlns:a16="http://schemas.microsoft.com/office/drawing/2014/main" id="{BD4992F8-27E8-B4AA-C13B-7BF2C7BCEE6B}"/>
              </a:ext>
            </a:extLst>
          </p:cNvPr>
          <p:cNvSpPr>
            <a:spLocks noGrp="1"/>
          </p:cNvSpPr>
          <p:nvPr>
            <p:ph type="body" idx="1"/>
          </p:nvPr>
        </p:nvSpPr>
        <p:spPr>
          <a:xfrm>
            <a:off x="838200" y="1418021"/>
            <a:ext cx="2487706" cy="4503965"/>
          </a:xfrm>
        </p:spPr>
        <p:txBody>
          <a:bodyPr numCol="1">
            <a:noAutofit/>
          </a:bodyPr>
          <a:lstStyle/>
          <a:p>
            <a:pPr lvl="0"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ptos Narrow" panose="020B0004020202020204" pitchFamily="34" charset="0"/>
              </a:rPr>
              <a:t>Project Structure</a:t>
            </a:r>
          </a:p>
          <a:p>
            <a:pPr lvl="0" eaLnBrk="0" fontAlgn="base" hangingPunct="0">
              <a:lnSpc>
                <a:spcPct val="100000"/>
              </a:lnSpc>
              <a:spcBef>
                <a:spcPct val="0"/>
              </a:spcBef>
              <a:spcAft>
                <a:spcPct val="0"/>
              </a:spcAft>
            </a:pPr>
            <a:endParaRPr lang="en-US" altLang="en-US" sz="1800" b="1" dirty="0">
              <a:solidFill>
                <a:schemeClr val="tx1"/>
              </a:solidFill>
              <a:latin typeface="Aptos Narrow" panose="020B0004020202020204" pitchFamily="34" charset="0"/>
            </a:endParaRPr>
          </a:p>
          <a:p>
            <a:pPr lvl="0" eaLnBrk="0" fontAlgn="base" hangingPunct="0">
              <a:lnSpc>
                <a:spcPct val="100000"/>
              </a:lnSpc>
              <a:spcBef>
                <a:spcPct val="0"/>
              </a:spcBef>
              <a:spcAft>
                <a:spcPct val="0"/>
              </a:spcAft>
            </a:pPr>
            <a:r>
              <a:rPr kumimoji="0" lang="en-US" altLang="en-US" sz="1600" i="0" u="none" strike="noStrike" cap="none" normalizeH="0" baseline="0" dirty="0" err="1">
                <a:ln>
                  <a:noFill/>
                </a:ln>
                <a:solidFill>
                  <a:schemeClr val="tx1"/>
                </a:solidFill>
                <a:effectLst/>
                <a:latin typeface="Aptos Narrow" panose="020B0004020202020204" pitchFamily="34" charset="0"/>
              </a:rPr>
              <a:t>src</a:t>
            </a:r>
            <a:endParaRPr kumimoji="0" lang="en-US" altLang="en-US" sz="1600" i="0" u="none" strike="noStrike" cap="none" normalizeH="0" baseline="0" dirty="0">
              <a:ln>
                <a:noFill/>
              </a:ln>
              <a:solidFill>
                <a:schemeClr val="tx1"/>
              </a:solidFill>
              <a:effectLst/>
              <a:latin typeface="Aptos Narrow" panose="020B0004020202020204" pitchFamily="34" charset="0"/>
            </a:endParaRPr>
          </a:p>
          <a:p>
            <a:pPr lvl="0" eaLnBrk="0" fontAlgn="base" hangingPunct="0">
              <a:lnSpc>
                <a:spcPct val="100000"/>
              </a:lnSpc>
              <a:spcBef>
                <a:spcPct val="0"/>
              </a:spcBef>
              <a:spcAft>
                <a:spcPct val="0"/>
              </a:spcAft>
            </a:pPr>
            <a:r>
              <a:rPr lang="en-US" altLang="en-US" sz="1600" dirty="0">
                <a:solidFill>
                  <a:schemeClr val="tx1"/>
                </a:solidFill>
                <a:latin typeface="Aptos Narrow" panose="020B0004020202020204" pitchFamily="34" charset="0"/>
              </a:rPr>
              <a:t>|</a:t>
            </a:r>
            <a:endParaRPr kumimoji="0" lang="en-US" altLang="en-US" sz="1600" i="0" u="none" strike="noStrike" cap="none" normalizeH="0" baseline="0" dirty="0">
              <a:ln>
                <a:noFill/>
              </a:ln>
              <a:solidFill>
                <a:schemeClr val="tx1"/>
              </a:solidFill>
              <a:effectLst/>
              <a:latin typeface="Aptos Narrow" panose="020B0004020202020204" pitchFamily="34" charset="0"/>
            </a:endParaRPr>
          </a:p>
          <a:p>
            <a:pPr lvl="0" eaLnBrk="0" fontAlgn="base" hangingPunct="0">
              <a:lnSpc>
                <a:spcPct val="100000"/>
              </a:lnSpc>
              <a:spcBef>
                <a:spcPct val="0"/>
              </a:spcBef>
              <a:spcAft>
                <a:spcPct val="0"/>
              </a:spcAft>
            </a:pPr>
            <a:r>
              <a:rPr kumimoji="0" lang="en-US" altLang="en-US" sz="1600" i="0" u="none" strike="noStrike" cap="none" normalizeH="0" baseline="0" dirty="0">
                <a:ln>
                  <a:noFill/>
                </a:ln>
                <a:solidFill>
                  <a:schemeClr val="tx1"/>
                </a:solidFill>
                <a:effectLst/>
                <a:latin typeface="Aptos Narrow" panose="020B0004020202020204" pitchFamily="34" charset="0"/>
              </a:rPr>
              <a:t>|── pages</a:t>
            </a:r>
          </a:p>
          <a:p>
            <a:pPr lvl="0" eaLnBrk="0" fontAlgn="base" hangingPunct="0">
              <a:lnSpc>
                <a:spcPct val="100000"/>
              </a:lnSpc>
              <a:spcBef>
                <a:spcPct val="0"/>
              </a:spcBef>
              <a:spcAft>
                <a:spcPct val="0"/>
              </a:spcAft>
            </a:pPr>
            <a:r>
              <a:rPr lang="en-US" altLang="en-US" sz="1600" dirty="0">
                <a:solidFill>
                  <a:schemeClr val="tx1"/>
                </a:solidFill>
                <a:latin typeface="Aptos Narrow" panose="020B0004020202020204" pitchFamily="34" charset="0"/>
              </a:rPr>
              <a:t>|</a:t>
            </a:r>
            <a:r>
              <a:rPr kumimoji="0" lang="en-US" altLang="en-US" sz="1600" i="0" u="none" strike="noStrike" cap="none" normalizeH="0" baseline="0" dirty="0">
                <a:ln>
                  <a:noFill/>
                </a:ln>
                <a:solidFill>
                  <a:schemeClr val="tx1"/>
                </a:solidFill>
                <a:effectLst/>
                <a:latin typeface="Aptos Narrow" panose="020B0004020202020204" pitchFamily="34" charset="0"/>
              </a:rPr>
              <a:t>── components</a:t>
            </a:r>
          </a:p>
          <a:p>
            <a:pPr lvl="0" eaLnBrk="0" fontAlgn="base" hangingPunct="0">
              <a:lnSpc>
                <a:spcPct val="100000"/>
              </a:lnSpc>
              <a:spcBef>
                <a:spcPct val="0"/>
              </a:spcBef>
              <a:spcAft>
                <a:spcPct val="0"/>
              </a:spcAft>
            </a:pPr>
            <a:r>
              <a:rPr lang="en-US" altLang="en-US" sz="1600" dirty="0">
                <a:solidFill>
                  <a:schemeClr val="tx1"/>
                </a:solidFill>
                <a:latin typeface="Aptos Narrow" panose="020B0004020202020204" pitchFamily="34" charset="0"/>
              </a:rPr>
              <a:t>|     </a:t>
            </a:r>
            <a:r>
              <a:rPr kumimoji="0" lang="en-US" altLang="en-US" sz="1600" i="0" u="none" strike="noStrike" cap="none" normalizeH="0" baseline="0" dirty="0">
                <a:ln>
                  <a:noFill/>
                </a:ln>
                <a:solidFill>
                  <a:schemeClr val="tx1"/>
                </a:solidFill>
                <a:effectLst/>
                <a:latin typeface="Aptos Narrow" panose="020B0004020202020204" pitchFamily="34" charset="0"/>
              </a:rPr>
              <a:t>└── common</a:t>
            </a:r>
          </a:p>
          <a:p>
            <a:pPr lvl="0" eaLnBrk="0" fontAlgn="base" hangingPunct="0">
              <a:lnSpc>
                <a:spcPct val="100000"/>
              </a:lnSpc>
              <a:spcBef>
                <a:spcPct val="0"/>
              </a:spcBef>
              <a:spcAft>
                <a:spcPct val="0"/>
              </a:spcAft>
            </a:pPr>
            <a:r>
              <a:rPr lang="en-US" altLang="en-US" sz="1600" dirty="0">
                <a:solidFill>
                  <a:schemeClr val="tx1"/>
                </a:solidFill>
                <a:latin typeface="Aptos Narrow" panose="020B0004020202020204" pitchFamily="34" charset="0"/>
              </a:rPr>
              <a:t>|</a:t>
            </a:r>
            <a:r>
              <a:rPr kumimoji="0" lang="en-US" altLang="en-US" sz="1600" i="0" u="none" strike="noStrike" cap="none" normalizeH="0" baseline="0" dirty="0">
                <a:ln>
                  <a:noFill/>
                </a:ln>
                <a:solidFill>
                  <a:schemeClr val="tx1"/>
                </a:solidFill>
                <a:effectLst/>
                <a:latin typeface="Aptos Narrow" panose="020B0004020202020204" pitchFamily="34" charset="0"/>
              </a:rPr>
              <a:t>── hooks</a:t>
            </a:r>
          </a:p>
          <a:p>
            <a:pPr lvl="0" eaLnBrk="0" fontAlgn="base" hangingPunct="0">
              <a:lnSpc>
                <a:spcPct val="100000"/>
              </a:lnSpc>
              <a:spcBef>
                <a:spcPct val="0"/>
              </a:spcBef>
              <a:spcAft>
                <a:spcPct val="0"/>
              </a:spcAft>
            </a:pPr>
            <a:r>
              <a:rPr lang="en-US" altLang="en-US" sz="1600" dirty="0">
                <a:solidFill>
                  <a:schemeClr val="tx1"/>
                </a:solidFill>
                <a:latin typeface="Aptos Narrow" panose="020B0004020202020204" pitchFamily="34" charset="0"/>
              </a:rPr>
              <a:t>|</a:t>
            </a:r>
            <a:r>
              <a:rPr kumimoji="0" lang="en-US" altLang="en-US" sz="1600" i="0" u="none" strike="noStrike" cap="none" normalizeH="0" baseline="0" dirty="0">
                <a:ln>
                  <a:noFill/>
                </a:ln>
                <a:solidFill>
                  <a:schemeClr val="tx1"/>
                </a:solidFill>
                <a:effectLst/>
                <a:latin typeface="Aptos Narrow" panose="020B0004020202020204" pitchFamily="34" charset="0"/>
              </a:rPr>
              <a:t>── </a:t>
            </a:r>
            <a:r>
              <a:rPr kumimoji="0" lang="en-US" altLang="en-US" sz="1600" i="0" u="none" strike="noStrike" cap="none" normalizeH="0" baseline="0" dirty="0" err="1">
                <a:ln>
                  <a:noFill/>
                </a:ln>
                <a:solidFill>
                  <a:schemeClr val="tx1"/>
                </a:solidFill>
                <a:effectLst/>
                <a:latin typeface="Aptos Narrow" panose="020B0004020202020204" pitchFamily="34" charset="0"/>
              </a:rPr>
              <a:t>api</a:t>
            </a:r>
            <a:endParaRPr kumimoji="0" lang="en-US" altLang="en-US" sz="1600" i="0" u="none" strike="noStrike" cap="none" normalizeH="0" baseline="0" dirty="0">
              <a:ln>
                <a:noFill/>
              </a:ln>
              <a:solidFill>
                <a:schemeClr val="tx1"/>
              </a:solidFill>
              <a:effectLst/>
              <a:latin typeface="Aptos Narrow" panose="020B0004020202020204" pitchFamily="34" charset="0"/>
            </a:endParaRPr>
          </a:p>
          <a:p>
            <a:pPr lvl="0" eaLnBrk="0" fontAlgn="base" hangingPunct="0">
              <a:lnSpc>
                <a:spcPct val="100000"/>
              </a:lnSpc>
              <a:spcBef>
                <a:spcPct val="0"/>
              </a:spcBef>
              <a:spcAft>
                <a:spcPct val="0"/>
              </a:spcAft>
            </a:pPr>
            <a:r>
              <a:rPr lang="en-US" altLang="en-US" sz="1600" dirty="0">
                <a:solidFill>
                  <a:schemeClr val="tx1"/>
                </a:solidFill>
                <a:latin typeface="Aptos Narrow" panose="020B0004020202020204" pitchFamily="34" charset="0"/>
              </a:rPr>
              <a:t>|</a:t>
            </a:r>
            <a:r>
              <a:rPr kumimoji="0" lang="en-US" altLang="en-US" sz="1600" i="0" u="none" strike="noStrike" cap="none" normalizeH="0" baseline="0" dirty="0">
                <a:ln>
                  <a:noFill/>
                </a:ln>
                <a:solidFill>
                  <a:schemeClr val="tx1"/>
                </a:solidFill>
                <a:effectLst/>
                <a:latin typeface="Aptos Narrow" panose="020B0004020202020204" pitchFamily="34" charset="0"/>
              </a:rPr>
              <a:t>── context</a:t>
            </a:r>
          </a:p>
          <a:p>
            <a:pPr lvl="0" eaLnBrk="0" fontAlgn="base" hangingPunct="0">
              <a:lnSpc>
                <a:spcPct val="100000"/>
              </a:lnSpc>
              <a:spcBef>
                <a:spcPct val="0"/>
              </a:spcBef>
              <a:spcAft>
                <a:spcPct val="0"/>
              </a:spcAft>
            </a:pPr>
            <a:r>
              <a:rPr lang="en-US" altLang="en-US" sz="1600" dirty="0">
                <a:solidFill>
                  <a:schemeClr val="tx1"/>
                </a:solidFill>
                <a:latin typeface="Aptos Narrow" panose="020B0004020202020204" pitchFamily="34" charset="0"/>
              </a:rPr>
              <a:t>|</a:t>
            </a:r>
            <a:r>
              <a:rPr kumimoji="0" lang="en-US" altLang="en-US" sz="1600" i="0" u="none" strike="noStrike" cap="none" normalizeH="0" baseline="0" dirty="0">
                <a:ln>
                  <a:noFill/>
                </a:ln>
                <a:solidFill>
                  <a:schemeClr val="tx1"/>
                </a:solidFill>
                <a:effectLst/>
                <a:latin typeface="Aptos Narrow" panose="020B0004020202020204" pitchFamily="34" charset="0"/>
              </a:rPr>
              <a:t>── layout</a:t>
            </a:r>
          </a:p>
          <a:p>
            <a:pPr lvl="0" eaLnBrk="0" fontAlgn="base" hangingPunct="0">
              <a:lnSpc>
                <a:spcPct val="100000"/>
              </a:lnSpc>
              <a:spcBef>
                <a:spcPct val="0"/>
              </a:spcBef>
              <a:spcAft>
                <a:spcPct val="0"/>
              </a:spcAft>
            </a:pPr>
            <a:r>
              <a:rPr lang="en-US" altLang="en-US" sz="1600" dirty="0">
                <a:solidFill>
                  <a:schemeClr val="tx1"/>
                </a:solidFill>
                <a:latin typeface="Aptos Narrow" panose="020B0004020202020204" pitchFamily="34" charset="0"/>
              </a:rPr>
              <a:t>|</a:t>
            </a:r>
            <a:r>
              <a:rPr kumimoji="0" lang="en-US" altLang="en-US" sz="1600" i="0" u="none" strike="noStrike" cap="none" normalizeH="0" baseline="0" dirty="0">
                <a:ln>
                  <a:noFill/>
                </a:ln>
                <a:solidFill>
                  <a:schemeClr val="tx1"/>
                </a:solidFill>
                <a:effectLst/>
                <a:latin typeface="Aptos Narrow" panose="020B0004020202020204" pitchFamily="34" charset="0"/>
              </a:rPr>
              <a:t>── utils</a:t>
            </a:r>
          </a:p>
          <a:p>
            <a:pPr lvl="0" eaLnBrk="0" fontAlgn="base" hangingPunct="0">
              <a:lnSpc>
                <a:spcPct val="100000"/>
              </a:lnSpc>
              <a:spcBef>
                <a:spcPct val="0"/>
              </a:spcBef>
              <a:spcAft>
                <a:spcPct val="0"/>
              </a:spcAft>
            </a:pPr>
            <a:r>
              <a:rPr lang="en-US" altLang="en-US" sz="1600" dirty="0">
                <a:solidFill>
                  <a:schemeClr val="tx1"/>
                </a:solidFill>
                <a:latin typeface="Aptos Narrow" panose="020B0004020202020204" pitchFamily="34" charset="0"/>
              </a:rPr>
              <a:t>|</a:t>
            </a:r>
            <a:r>
              <a:rPr kumimoji="0" lang="en-US" altLang="en-US" sz="1600" i="0" u="none" strike="noStrike" cap="none" normalizeH="0" baseline="0" dirty="0">
                <a:ln>
                  <a:noFill/>
                </a:ln>
                <a:solidFill>
                  <a:schemeClr val="tx1"/>
                </a:solidFill>
                <a:effectLst/>
                <a:latin typeface="Aptos Narrow" panose="020B0004020202020204" pitchFamily="34" charset="0"/>
              </a:rPr>
              <a:t>── constants</a:t>
            </a:r>
          </a:p>
          <a:p>
            <a:pPr lvl="0" eaLnBrk="0" fontAlgn="base" hangingPunct="0">
              <a:lnSpc>
                <a:spcPct val="100000"/>
              </a:lnSpc>
              <a:spcBef>
                <a:spcPct val="0"/>
              </a:spcBef>
              <a:spcAft>
                <a:spcPct val="0"/>
              </a:spcAft>
            </a:pPr>
            <a:r>
              <a:rPr lang="en-US" altLang="en-US" sz="1600" dirty="0">
                <a:solidFill>
                  <a:schemeClr val="tx1"/>
                </a:solidFill>
                <a:latin typeface="Aptos Narrow" panose="020B0004020202020204" pitchFamily="34" charset="0"/>
              </a:rPr>
              <a:t>|</a:t>
            </a:r>
            <a:r>
              <a:rPr kumimoji="0" lang="en-US" altLang="en-US" sz="1600" i="0" u="none" strike="noStrike" cap="none" normalizeH="0" baseline="0" dirty="0">
                <a:ln>
                  <a:noFill/>
                </a:ln>
                <a:solidFill>
                  <a:schemeClr val="tx1"/>
                </a:solidFill>
                <a:effectLst/>
                <a:latin typeface="Aptos Narrow" panose="020B0004020202020204" pitchFamily="34" charset="0"/>
              </a:rPr>
              <a:t>── assets</a:t>
            </a:r>
          </a:p>
          <a:p>
            <a:pPr lvl="0" eaLnBrk="0" fontAlgn="base" hangingPunct="0">
              <a:lnSpc>
                <a:spcPct val="100000"/>
              </a:lnSpc>
              <a:spcBef>
                <a:spcPct val="0"/>
              </a:spcBef>
              <a:spcAft>
                <a:spcPct val="0"/>
              </a:spcAft>
            </a:pPr>
            <a:r>
              <a:rPr lang="en-US" altLang="en-US" sz="1600" dirty="0">
                <a:solidFill>
                  <a:schemeClr val="tx1"/>
                </a:solidFill>
                <a:latin typeface="Aptos Narrow" panose="020B0004020202020204" pitchFamily="34" charset="0"/>
              </a:rPr>
              <a:t>|</a:t>
            </a:r>
            <a:r>
              <a:rPr kumimoji="0" lang="en-US" altLang="en-US" sz="1600" i="0" u="none" strike="noStrike" cap="none" normalizeH="0" baseline="0" dirty="0">
                <a:ln>
                  <a:noFill/>
                </a:ln>
                <a:solidFill>
                  <a:schemeClr val="tx1"/>
                </a:solidFill>
                <a:effectLst/>
                <a:latin typeface="Aptos Narrow" panose="020B0004020202020204" pitchFamily="34" charset="0"/>
              </a:rPr>
              <a:t>── router.js</a:t>
            </a:r>
          </a:p>
          <a:p>
            <a:pPr lvl="0" eaLnBrk="0" fontAlgn="base" hangingPunct="0">
              <a:lnSpc>
                <a:spcPct val="100000"/>
              </a:lnSpc>
              <a:spcBef>
                <a:spcPct val="0"/>
              </a:spcBef>
              <a:spcAft>
                <a:spcPct val="0"/>
              </a:spcAft>
            </a:pPr>
            <a:r>
              <a:rPr lang="en-US" altLang="en-US" sz="1600" dirty="0">
                <a:solidFill>
                  <a:schemeClr val="tx1"/>
                </a:solidFill>
                <a:latin typeface="Aptos Narrow" panose="020B0004020202020204" pitchFamily="34" charset="0"/>
              </a:rPr>
              <a:t>|</a:t>
            </a:r>
            <a:r>
              <a:rPr kumimoji="0" lang="en-US" altLang="en-US" sz="1600" i="0" u="none" strike="noStrike" cap="none" normalizeH="0" baseline="0" dirty="0">
                <a:ln>
                  <a:noFill/>
                </a:ln>
                <a:solidFill>
                  <a:schemeClr val="tx1"/>
                </a:solidFill>
                <a:effectLst/>
                <a:latin typeface="Aptos Narrow" panose="020B0004020202020204" pitchFamily="34" charset="0"/>
              </a:rPr>
              <a:t>── </a:t>
            </a:r>
            <a:r>
              <a:rPr kumimoji="0" lang="en-US" altLang="en-US" sz="1600" i="0" u="none" strike="noStrike" cap="none" normalizeH="0" baseline="0" dirty="0" err="1">
                <a:ln>
                  <a:noFill/>
                </a:ln>
                <a:solidFill>
                  <a:schemeClr val="tx1"/>
                </a:solidFill>
                <a:effectLst/>
                <a:latin typeface="Aptos Narrow" panose="020B0004020202020204" pitchFamily="34" charset="0"/>
              </a:rPr>
              <a:t>App.jsx</a:t>
            </a:r>
            <a:endParaRPr kumimoji="0" lang="en-US" altLang="en-US" sz="1600" i="0" u="none" strike="noStrike" cap="none" normalizeH="0" baseline="0" dirty="0">
              <a:ln>
                <a:noFill/>
              </a:ln>
              <a:solidFill>
                <a:schemeClr val="tx1"/>
              </a:solidFill>
              <a:effectLst/>
              <a:latin typeface="Aptos Narrow" panose="020B0004020202020204" pitchFamily="34" charset="0"/>
            </a:endParaRPr>
          </a:p>
          <a:p>
            <a:pPr lvl="0" eaLnBrk="0" fontAlgn="base" hangingPunct="0">
              <a:lnSpc>
                <a:spcPct val="100000"/>
              </a:lnSpc>
              <a:spcBef>
                <a:spcPct val="0"/>
              </a:spcBef>
              <a:spcAft>
                <a:spcPct val="0"/>
              </a:spcAft>
            </a:pPr>
            <a:r>
              <a:rPr kumimoji="0" lang="en-US" altLang="en-US" sz="1600" i="0" u="none" strike="noStrike" cap="none" normalizeH="0" baseline="0" dirty="0">
                <a:ln>
                  <a:noFill/>
                </a:ln>
                <a:solidFill>
                  <a:schemeClr val="tx1"/>
                </a:solidFill>
                <a:effectLst/>
                <a:latin typeface="Aptos Narrow" panose="020B0004020202020204" pitchFamily="34" charset="0"/>
              </a:rPr>
              <a:t>└── </a:t>
            </a:r>
            <a:r>
              <a:rPr kumimoji="0" lang="en-US" altLang="en-US" sz="1600" i="0" u="none" strike="noStrike" cap="none" normalizeH="0" baseline="0" dirty="0" err="1">
                <a:ln>
                  <a:noFill/>
                </a:ln>
                <a:solidFill>
                  <a:schemeClr val="tx1"/>
                </a:solidFill>
                <a:effectLst/>
                <a:latin typeface="Aptos Narrow" panose="020B0004020202020204" pitchFamily="34" charset="0"/>
              </a:rPr>
              <a:t>main.jsx</a:t>
            </a:r>
            <a:endParaRPr kumimoji="0" lang="en-US" altLang="en-US" sz="1600" i="0" u="none" strike="noStrike" cap="none" normalizeH="0" baseline="0" dirty="0">
              <a:ln>
                <a:noFill/>
              </a:ln>
              <a:solidFill>
                <a:schemeClr val="tx1"/>
              </a:solidFill>
              <a:effectLst/>
              <a:latin typeface="Aptos Narrow" panose="020B0004020202020204" pitchFamily="34" charset="0"/>
            </a:endParaRPr>
          </a:p>
        </p:txBody>
      </p:sp>
      <p:sp>
        <p:nvSpPr>
          <p:cNvPr id="9" name="Text Placeholder 4">
            <a:extLst>
              <a:ext uri="{FF2B5EF4-FFF2-40B4-BE49-F238E27FC236}">
                <a16:creationId xmlns:a16="http://schemas.microsoft.com/office/drawing/2014/main" id="{78607615-2143-8F60-6BAD-AA84E29AD5E8}"/>
              </a:ext>
            </a:extLst>
          </p:cNvPr>
          <p:cNvSpPr txBox="1">
            <a:spLocks/>
          </p:cNvSpPr>
          <p:nvPr/>
        </p:nvSpPr>
        <p:spPr>
          <a:xfrm>
            <a:off x="3953434" y="1455476"/>
            <a:ext cx="7400365" cy="4466509"/>
          </a:xfrm>
          <a:prstGeom prst="rect">
            <a:avLst/>
          </a:prstGeom>
        </p:spPr>
        <p:txBody>
          <a:bodyPr vert="horz" lIns="91440" tIns="45720" rIns="91440" bIns="45720" numCol="1"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eaLnBrk="0" fontAlgn="base" hangingPunct="0">
              <a:lnSpc>
                <a:spcPct val="100000"/>
              </a:lnSpc>
              <a:spcBef>
                <a:spcPct val="0"/>
              </a:spcBef>
              <a:spcAft>
                <a:spcPct val="0"/>
              </a:spcAft>
            </a:pPr>
            <a:r>
              <a:rPr lang="en-US" altLang="en-US" sz="1800" b="1" dirty="0">
                <a:solidFill>
                  <a:schemeClr val="tx1"/>
                </a:solidFill>
                <a:latin typeface="Aptos Narrow" panose="020B0004020202020204" pitchFamily="34" charset="0"/>
              </a:rPr>
              <a:t>Architecture flow</a:t>
            </a:r>
            <a:endParaRPr lang="en-US" altLang="en-US" sz="1800" dirty="0">
              <a:solidFill>
                <a:schemeClr val="tx1"/>
              </a:solidFill>
              <a:latin typeface="Aptos Narrow" panose="020B0004020202020204" pitchFamily="34" charset="0"/>
            </a:endParaRPr>
          </a:p>
        </p:txBody>
      </p:sp>
      <p:sp>
        <p:nvSpPr>
          <p:cNvPr id="2" name="Rectangle 1">
            <a:extLst>
              <a:ext uri="{FF2B5EF4-FFF2-40B4-BE49-F238E27FC236}">
                <a16:creationId xmlns:a16="http://schemas.microsoft.com/office/drawing/2014/main" id="{DFB0CD69-CF46-4FCE-B199-63F3D28347CA}"/>
              </a:ext>
            </a:extLst>
          </p:cNvPr>
          <p:cNvSpPr/>
          <p:nvPr/>
        </p:nvSpPr>
        <p:spPr>
          <a:xfrm>
            <a:off x="6967817" y="1455476"/>
            <a:ext cx="1073526" cy="5503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ptos Narrow" panose="020B0004020202020204" pitchFamily="34" charset="0"/>
              </a:rPr>
              <a:t>Pages</a:t>
            </a:r>
            <a:endParaRPr lang="en-IN" b="1" dirty="0">
              <a:latin typeface="Aptos Narrow" panose="020B0004020202020204" pitchFamily="34" charset="0"/>
            </a:endParaRPr>
          </a:p>
        </p:txBody>
      </p:sp>
      <p:sp>
        <p:nvSpPr>
          <p:cNvPr id="15" name="Rectangle 14">
            <a:extLst>
              <a:ext uri="{FF2B5EF4-FFF2-40B4-BE49-F238E27FC236}">
                <a16:creationId xmlns:a16="http://schemas.microsoft.com/office/drawing/2014/main" id="{179229D6-E987-2AA0-56E6-B5184A2A4927}"/>
              </a:ext>
            </a:extLst>
          </p:cNvPr>
          <p:cNvSpPr/>
          <p:nvPr/>
        </p:nvSpPr>
        <p:spPr>
          <a:xfrm>
            <a:off x="5894291" y="2190582"/>
            <a:ext cx="1073526" cy="5503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ptos Narrow" panose="020B0004020202020204" pitchFamily="34" charset="0"/>
              </a:rPr>
              <a:t>Component</a:t>
            </a:r>
            <a:endParaRPr lang="en-IN" b="1" dirty="0">
              <a:latin typeface="Aptos Narrow" panose="020B0004020202020204" pitchFamily="34" charset="0"/>
            </a:endParaRPr>
          </a:p>
        </p:txBody>
      </p:sp>
      <p:sp>
        <p:nvSpPr>
          <p:cNvPr id="16" name="Rectangle 15">
            <a:extLst>
              <a:ext uri="{FF2B5EF4-FFF2-40B4-BE49-F238E27FC236}">
                <a16:creationId xmlns:a16="http://schemas.microsoft.com/office/drawing/2014/main" id="{38DA4EA9-3782-B985-43D3-0C10339E12DD}"/>
              </a:ext>
            </a:extLst>
          </p:cNvPr>
          <p:cNvSpPr/>
          <p:nvPr/>
        </p:nvSpPr>
        <p:spPr>
          <a:xfrm>
            <a:off x="8041343" y="2190581"/>
            <a:ext cx="1073526" cy="5503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ptos Narrow" panose="020B0004020202020204" pitchFamily="34" charset="0"/>
              </a:rPr>
              <a:t>Hooks</a:t>
            </a:r>
            <a:endParaRPr lang="en-IN" b="1" dirty="0">
              <a:latin typeface="Aptos Narrow" panose="020B0004020202020204" pitchFamily="34" charset="0"/>
            </a:endParaRPr>
          </a:p>
        </p:txBody>
      </p:sp>
      <p:sp>
        <p:nvSpPr>
          <p:cNvPr id="17" name="Rectangle 16">
            <a:extLst>
              <a:ext uri="{FF2B5EF4-FFF2-40B4-BE49-F238E27FC236}">
                <a16:creationId xmlns:a16="http://schemas.microsoft.com/office/drawing/2014/main" id="{A2304CC8-674A-9786-301F-7877AF4AB925}"/>
              </a:ext>
            </a:extLst>
          </p:cNvPr>
          <p:cNvSpPr/>
          <p:nvPr/>
        </p:nvSpPr>
        <p:spPr>
          <a:xfrm>
            <a:off x="6967817" y="3836892"/>
            <a:ext cx="1073526" cy="5503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ptos Narrow" panose="020B0004020202020204" pitchFamily="34" charset="0"/>
              </a:rPr>
              <a:t>Utility</a:t>
            </a:r>
            <a:endParaRPr lang="en-IN" b="1" dirty="0">
              <a:latin typeface="Aptos Narrow" panose="020B0004020202020204" pitchFamily="34" charset="0"/>
            </a:endParaRPr>
          </a:p>
        </p:txBody>
      </p:sp>
      <p:sp>
        <p:nvSpPr>
          <p:cNvPr id="18" name="Rectangle 17">
            <a:extLst>
              <a:ext uri="{FF2B5EF4-FFF2-40B4-BE49-F238E27FC236}">
                <a16:creationId xmlns:a16="http://schemas.microsoft.com/office/drawing/2014/main" id="{F3E5F274-7AD1-607E-8A60-A89D6620CBA3}"/>
              </a:ext>
            </a:extLst>
          </p:cNvPr>
          <p:cNvSpPr/>
          <p:nvPr/>
        </p:nvSpPr>
        <p:spPr>
          <a:xfrm>
            <a:off x="5894291" y="3011347"/>
            <a:ext cx="1073526" cy="5503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ptos Narrow" panose="020B0004020202020204" pitchFamily="34" charset="0"/>
              </a:rPr>
              <a:t>Reusable component</a:t>
            </a:r>
            <a:endParaRPr lang="en-IN" b="1" dirty="0">
              <a:latin typeface="Aptos Narrow" panose="020B0004020202020204" pitchFamily="34" charset="0"/>
            </a:endParaRPr>
          </a:p>
        </p:txBody>
      </p:sp>
      <p:sp>
        <p:nvSpPr>
          <p:cNvPr id="19" name="Rectangle 18">
            <a:extLst>
              <a:ext uri="{FF2B5EF4-FFF2-40B4-BE49-F238E27FC236}">
                <a16:creationId xmlns:a16="http://schemas.microsoft.com/office/drawing/2014/main" id="{BBBC0A76-1E61-D978-4FC7-7AD31D4FD651}"/>
              </a:ext>
            </a:extLst>
          </p:cNvPr>
          <p:cNvSpPr/>
          <p:nvPr/>
        </p:nvSpPr>
        <p:spPr>
          <a:xfrm>
            <a:off x="6967817" y="4644083"/>
            <a:ext cx="1073526" cy="5503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ptos Narrow" panose="020B0004020202020204" pitchFamily="34" charset="0"/>
              </a:rPr>
              <a:t>API</a:t>
            </a:r>
            <a:endParaRPr lang="en-IN" b="1" dirty="0">
              <a:latin typeface="Aptos Narrow" panose="020B0004020202020204" pitchFamily="34" charset="0"/>
            </a:endParaRPr>
          </a:p>
        </p:txBody>
      </p:sp>
      <p:sp>
        <p:nvSpPr>
          <p:cNvPr id="20" name="Rectangle 19">
            <a:extLst>
              <a:ext uri="{FF2B5EF4-FFF2-40B4-BE49-F238E27FC236}">
                <a16:creationId xmlns:a16="http://schemas.microsoft.com/office/drawing/2014/main" id="{401D7A12-E4F6-2529-6015-13E5C0D06719}"/>
              </a:ext>
            </a:extLst>
          </p:cNvPr>
          <p:cNvSpPr/>
          <p:nvPr/>
        </p:nvSpPr>
        <p:spPr>
          <a:xfrm>
            <a:off x="6967817" y="5451274"/>
            <a:ext cx="1073526" cy="5503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ptos Narrow" panose="020B0004020202020204" pitchFamily="34" charset="0"/>
              </a:rPr>
              <a:t>Data Source</a:t>
            </a:r>
            <a:endParaRPr lang="en-IN" b="1" dirty="0">
              <a:latin typeface="Aptos Narrow" panose="020B0004020202020204" pitchFamily="34" charset="0"/>
            </a:endParaRPr>
          </a:p>
        </p:txBody>
      </p:sp>
      <p:cxnSp>
        <p:nvCxnSpPr>
          <p:cNvPr id="22" name="Connector: Elbow 21">
            <a:extLst>
              <a:ext uri="{FF2B5EF4-FFF2-40B4-BE49-F238E27FC236}">
                <a16:creationId xmlns:a16="http://schemas.microsoft.com/office/drawing/2014/main" id="{1E0D9545-669B-07EA-33FD-270C1655406E}"/>
              </a:ext>
            </a:extLst>
          </p:cNvPr>
          <p:cNvCxnSpPr>
            <a:stCxn id="2" idx="1"/>
            <a:endCxn id="15" idx="0"/>
          </p:cNvCxnSpPr>
          <p:nvPr/>
        </p:nvCxnSpPr>
        <p:spPr>
          <a:xfrm rot="10800000" flipV="1">
            <a:off x="6431055" y="1730658"/>
            <a:ext cx="536763" cy="45992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F5467FBC-32B8-3B94-C770-66EE511208AF}"/>
              </a:ext>
            </a:extLst>
          </p:cNvPr>
          <p:cNvCxnSpPr>
            <a:stCxn id="2" idx="3"/>
            <a:endCxn id="16" idx="0"/>
          </p:cNvCxnSpPr>
          <p:nvPr/>
        </p:nvCxnSpPr>
        <p:spPr>
          <a:xfrm>
            <a:off x="8041343" y="1730658"/>
            <a:ext cx="536763" cy="45992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A77C5157-494E-D657-EC09-944EBC922EA2}"/>
              </a:ext>
            </a:extLst>
          </p:cNvPr>
          <p:cNvCxnSpPr>
            <a:stCxn id="16" idx="2"/>
            <a:endCxn id="17" idx="3"/>
          </p:cNvCxnSpPr>
          <p:nvPr/>
        </p:nvCxnSpPr>
        <p:spPr>
          <a:xfrm rot="5400000">
            <a:off x="7624160" y="3158128"/>
            <a:ext cx="1371130" cy="5367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F3865AD-1CCA-86B0-60AD-39F33C1DFFE2}"/>
              </a:ext>
            </a:extLst>
          </p:cNvPr>
          <p:cNvCxnSpPr>
            <a:stCxn id="15" idx="2"/>
            <a:endCxn id="18" idx="0"/>
          </p:cNvCxnSpPr>
          <p:nvPr/>
        </p:nvCxnSpPr>
        <p:spPr>
          <a:xfrm>
            <a:off x="6431054" y="2740945"/>
            <a:ext cx="0" cy="27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DDB24227-D7EF-A26D-B8BB-CB080E671461}"/>
              </a:ext>
            </a:extLst>
          </p:cNvPr>
          <p:cNvCxnSpPr>
            <a:stCxn id="18" idx="2"/>
            <a:endCxn id="17" idx="1"/>
          </p:cNvCxnSpPr>
          <p:nvPr/>
        </p:nvCxnSpPr>
        <p:spPr>
          <a:xfrm rot="16200000" flipH="1">
            <a:off x="6424253" y="3568510"/>
            <a:ext cx="550364" cy="53676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4BC8561-8E9D-0390-C846-8E7745E06E72}"/>
              </a:ext>
            </a:extLst>
          </p:cNvPr>
          <p:cNvCxnSpPr>
            <a:stCxn id="17" idx="2"/>
            <a:endCxn id="19" idx="0"/>
          </p:cNvCxnSpPr>
          <p:nvPr/>
        </p:nvCxnSpPr>
        <p:spPr>
          <a:xfrm>
            <a:off x="7504580" y="4387255"/>
            <a:ext cx="0" cy="256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1B3A3D9-89A4-694D-56B0-19EFDFAC93BD}"/>
              </a:ext>
            </a:extLst>
          </p:cNvPr>
          <p:cNvCxnSpPr>
            <a:stCxn id="19" idx="2"/>
            <a:endCxn id="20" idx="0"/>
          </p:cNvCxnSpPr>
          <p:nvPr/>
        </p:nvCxnSpPr>
        <p:spPr>
          <a:xfrm>
            <a:off x="7504580" y="5194446"/>
            <a:ext cx="0" cy="256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2545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90ED5-928A-FAD5-25AE-B944D35DF1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D7F352-C08F-34F9-91ED-340DD53FA1F3}"/>
              </a:ext>
            </a:extLst>
          </p:cNvPr>
          <p:cNvSpPr>
            <a:spLocks noGrp="1"/>
          </p:cNvSpPr>
          <p:nvPr>
            <p:ph type="title"/>
          </p:nvPr>
        </p:nvSpPr>
        <p:spPr>
          <a:xfrm>
            <a:off x="838200" y="553714"/>
            <a:ext cx="10515600" cy="648074"/>
          </a:xfrm>
        </p:spPr>
        <p:txBody>
          <a:bodyPr anchor="t">
            <a:noAutofit/>
          </a:bodyPr>
          <a:lstStyle/>
          <a:p>
            <a:r>
              <a:rPr lang="en-IN" sz="3600" b="1" dirty="0">
                <a:latin typeface="Aptos Narrow" panose="020B0004020202020204" pitchFamily="34" charset="0"/>
              </a:rPr>
              <a:t>Routing &amp; Navigation Architecture</a:t>
            </a:r>
            <a:endParaRPr lang="en-IN" sz="4000" b="1" dirty="0">
              <a:latin typeface="Aptos Narrow" panose="020B0004020202020204" pitchFamily="34" charset="0"/>
            </a:endParaRPr>
          </a:p>
        </p:txBody>
      </p:sp>
      <p:sp>
        <p:nvSpPr>
          <p:cNvPr id="7" name="Rectangle 6">
            <a:extLst>
              <a:ext uri="{FF2B5EF4-FFF2-40B4-BE49-F238E27FC236}">
                <a16:creationId xmlns:a16="http://schemas.microsoft.com/office/drawing/2014/main" id="{3650C977-7040-3DC9-1855-52ABF89FDD59}"/>
              </a:ext>
            </a:extLst>
          </p:cNvPr>
          <p:cNvSpPr/>
          <p:nvPr/>
        </p:nvSpPr>
        <p:spPr>
          <a:xfrm>
            <a:off x="5423647" y="1783976"/>
            <a:ext cx="1344706"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ptos Narrow" panose="020B0004020202020204" pitchFamily="34" charset="0"/>
              </a:rPr>
              <a:t>Login</a:t>
            </a:r>
            <a:endParaRPr lang="en-IN" dirty="0">
              <a:latin typeface="Aptos Narrow" panose="020B0004020202020204" pitchFamily="34" charset="0"/>
            </a:endParaRPr>
          </a:p>
        </p:txBody>
      </p:sp>
      <p:sp>
        <p:nvSpPr>
          <p:cNvPr id="8" name="Rectangle 7">
            <a:extLst>
              <a:ext uri="{FF2B5EF4-FFF2-40B4-BE49-F238E27FC236}">
                <a16:creationId xmlns:a16="http://schemas.microsoft.com/office/drawing/2014/main" id="{E9015EE7-1A77-620F-FC84-FE118956CA1D}"/>
              </a:ext>
            </a:extLst>
          </p:cNvPr>
          <p:cNvSpPr/>
          <p:nvPr/>
        </p:nvSpPr>
        <p:spPr>
          <a:xfrm>
            <a:off x="5114370" y="2595540"/>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ptos Narrow" panose="020B0004020202020204" pitchFamily="34" charset="0"/>
              </a:rPr>
              <a:t>Authentication</a:t>
            </a:r>
            <a:endParaRPr lang="en-IN" dirty="0">
              <a:latin typeface="Aptos Narrow" panose="020B0004020202020204" pitchFamily="34" charset="0"/>
            </a:endParaRPr>
          </a:p>
        </p:txBody>
      </p:sp>
      <p:sp>
        <p:nvSpPr>
          <p:cNvPr id="10" name="Rectangle 9">
            <a:extLst>
              <a:ext uri="{FF2B5EF4-FFF2-40B4-BE49-F238E27FC236}">
                <a16:creationId xmlns:a16="http://schemas.microsoft.com/office/drawing/2014/main" id="{30D5DFB1-0FB5-8CE6-0858-46D0539B1CA0}"/>
              </a:ext>
            </a:extLst>
          </p:cNvPr>
          <p:cNvSpPr/>
          <p:nvPr/>
        </p:nvSpPr>
        <p:spPr>
          <a:xfrm>
            <a:off x="3133161" y="33627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ptos Narrow" panose="020B0004020202020204" pitchFamily="34" charset="0"/>
              </a:rPr>
              <a:t>Valid</a:t>
            </a:r>
            <a:endParaRPr lang="en-IN" dirty="0">
              <a:latin typeface="Aptos Narrow" panose="020B0004020202020204" pitchFamily="34" charset="0"/>
            </a:endParaRPr>
          </a:p>
        </p:txBody>
      </p:sp>
      <p:sp>
        <p:nvSpPr>
          <p:cNvPr id="11" name="Rectangle 10">
            <a:extLst>
              <a:ext uri="{FF2B5EF4-FFF2-40B4-BE49-F238E27FC236}">
                <a16:creationId xmlns:a16="http://schemas.microsoft.com/office/drawing/2014/main" id="{A88ABAF6-2B40-6AFF-3158-0541B93DDF54}"/>
              </a:ext>
            </a:extLst>
          </p:cNvPr>
          <p:cNvSpPr/>
          <p:nvPr/>
        </p:nvSpPr>
        <p:spPr>
          <a:xfrm>
            <a:off x="7086605" y="33627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ptos Narrow" panose="020B0004020202020204" pitchFamily="34" charset="0"/>
              </a:rPr>
              <a:t>Invalid</a:t>
            </a:r>
            <a:endParaRPr lang="en-IN" dirty="0">
              <a:latin typeface="Aptos Narrow" panose="020B0004020202020204" pitchFamily="34" charset="0"/>
            </a:endParaRPr>
          </a:p>
        </p:txBody>
      </p:sp>
      <p:sp>
        <p:nvSpPr>
          <p:cNvPr id="12" name="Rectangle 11">
            <a:extLst>
              <a:ext uri="{FF2B5EF4-FFF2-40B4-BE49-F238E27FC236}">
                <a16:creationId xmlns:a16="http://schemas.microsoft.com/office/drawing/2014/main" id="{CDF8D794-F699-88CB-9B04-B0998B9FF90C}"/>
              </a:ext>
            </a:extLst>
          </p:cNvPr>
          <p:cNvSpPr/>
          <p:nvPr/>
        </p:nvSpPr>
        <p:spPr>
          <a:xfrm>
            <a:off x="3133161" y="4272191"/>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ptos Narrow" panose="020B0004020202020204" pitchFamily="34" charset="0"/>
              </a:rPr>
              <a:t>Dashboard</a:t>
            </a:r>
            <a:endParaRPr lang="en-IN" dirty="0">
              <a:latin typeface="Aptos Narrow" panose="020B0004020202020204" pitchFamily="34" charset="0"/>
            </a:endParaRPr>
          </a:p>
        </p:txBody>
      </p:sp>
      <p:sp>
        <p:nvSpPr>
          <p:cNvPr id="13" name="Rectangle 12">
            <a:extLst>
              <a:ext uri="{FF2B5EF4-FFF2-40B4-BE49-F238E27FC236}">
                <a16:creationId xmlns:a16="http://schemas.microsoft.com/office/drawing/2014/main" id="{6C2A2BC0-849E-5D05-AF2A-1A154A48FD4E}"/>
              </a:ext>
            </a:extLst>
          </p:cNvPr>
          <p:cNvSpPr/>
          <p:nvPr/>
        </p:nvSpPr>
        <p:spPr>
          <a:xfrm>
            <a:off x="1228166" y="50829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ptos Narrow" panose="020B0004020202020204" pitchFamily="34" charset="0"/>
              </a:rPr>
              <a:t>Employees</a:t>
            </a:r>
            <a:endParaRPr lang="en-IN" dirty="0">
              <a:latin typeface="Aptos Narrow" panose="020B0004020202020204" pitchFamily="34" charset="0"/>
            </a:endParaRPr>
          </a:p>
        </p:txBody>
      </p:sp>
      <p:sp>
        <p:nvSpPr>
          <p:cNvPr id="14" name="Rectangle 13">
            <a:extLst>
              <a:ext uri="{FF2B5EF4-FFF2-40B4-BE49-F238E27FC236}">
                <a16:creationId xmlns:a16="http://schemas.microsoft.com/office/drawing/2014/main" id="{C85F2427-230A-2775-857C-79ECCDC516A3}"/>
              </a:ext>
            </a:extLst>
          </p:cNvPr>
          <p:cNvSpPr/>
          <p:nvPr/>
        </p:nvSpPr>
        <p:spPr>
          <a:xfrm>
            <a:off x="3825688" y="50829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ptos Narrow" panose="020B0004020202020204" pitchFamily="34" charset="0"/>
              </a:rPr>
              <a:t>Departments</a:t>
            </a:r>
            <a:endParaRPr lang="en-IN" dirty="0">
              <a:latin typeface="Aptos Narrow" panose="020B0004020202020204" pitchFamily="34" charset="0"/>
            </a:endParaRPr>
          </a:p>
        </p:txBody>
      </p:sp>
      <p:sp>
        <p:nvSpPr>
          <p:cNvPr id="21" name="Rectangle 20">
            <a:extLst>
              <a:ext uri="{FF2B5EF4-FFF2-40B4-BE49-F238E27FC236}">
                <a16:creationId xmlns:a16="http://schemas.microsoft.com/office/drawing/2014/main" id="{A1A249F5-AC44-581D-C60D-D12D6D4B01A6}"/>
              </a:ext>
            </a:extLst>
          </p:cNvPr>
          <p:cNvSpPr/>
          <p:nvPr/>
        </p:nvSpPr>
        <p:spPr>
          <a:xfrm>
            <a:off x="6423210" y="50829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ptos Narrow" panose="020B0004020202020204" pitchFamily="34" charset="0"/>
              </a:rPr>
              <a:t>Attendance</a:t>
            </a:r>
            <a:endParaRPr lang="en-IN" dirty="0">
              <a:latin typeface="Aptos Narrow" panose="020B0004020202020204" pitchFamily="34" charset="0"/>
            </a:endParaRPr>
          </a:p>
        </p:txBody>
      </p:sp>
      <p:sp>
        <p:nvSpPr>
          <p:cNvPr id="23" name="Rectangle 22">
            <a:extLst>
              <a:ext uri="{FF2B5EF4-FFF2-40B4-BE49-F238E27FC236}">
                <a16:creationId xmlns:a16="http://schemas.microsoft.com/office/drawing/2014/main" id="{6F2177C3-5795-7CFA-2385-45952C576419}"/>
              </a:ext>
            </a:extLst>
          </p:cNvPr>
          <p:cNvSpPr/>
          <p:nvPr/>
        </p:nvSpPr>
        <p:spPr>
          <a:xfrm>
            <a:off x="9020732" y="50829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ptos Narrow" panose="020B0004020202020204" pitchFamily="34" charset="0"/>
              </a:rPr>
              <a:t>Payroll</a:t>
            </a:r>
            <a:endParaRPr lang="en-IN" dirty="0">
              <a:latin typeface="Aptos Narrow" panose="020B0004020202020204" pitchFamily="34" charset="0"/>
            </a:endParaRPr>
          </a:p>
        </p:txBody>
      </p:sp>
      <p:cxnSp>
        <p:nvCxnSpPr>
          <p:cNvPr id="29" name="Connector: Elbow 28">
            <a:extLst>
              <a:ext uri="{FF2B5EF4-FFF2-40B4-BE49-F238E27FC236}">
                <a16:creationId xmlns:a16="http://schemas.microsoft.com/office/drawing/2014/main" id="{343C35ED-AF97-F9DF-BB80-ECABBC923589}"/>
              </a:ext>
            </a:extLst>
          </p:cNvPr>
          <p:cNvCxnSpPr>
            <a:stCxn id="8" idx="1"/>
            <a:endCxn id="10" idx="0"/>
          </p:cNvCxnSpPr>
          <p:nvPr/>
        </p:nvCxnSpPr>
        <p:spPr>
          <a:xfrm rot="10800000" flipV="1">
            <a:off x="4119280" y="2815176"/>
            <a:ext cx="995091" cy="5476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E218F59B-66D3-06F1-F3B5-7396BC579CCE}"/>
              </a:ext>
            </a:extLst>
          </p:cNvPr>
          <p:cNvCxnSpPr>
            <a:stCxn id="8" idx="3"/>
            <a:endCxn id="11" idx="0"/>
          </p:cNvCxnSpPr>
          <p:nvPr/>
        </p:nvCxnSpPr>
        <p:spPr>
          <a:xfrm>
            <a:off x="7086605" y="2815176"/>
            <a:ext cx="986118" cy="54761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5B4969D-2841-FDA1-7D76-21720374D029}"/>
              </a:ext>
            </a:extLst>
          </p:cNvPr>
          <p:cNvCxnSpPr>
            <a:stCxn id="7" idx="2"/>
            <a:endCxn id="8" idx="0"/>
          </p:cNvCxnSpPr>
          <p:nvPr/>
        </p:nvCxnSpPr>
        <p:spPr>
          <a:xfrm>
            <a:off x="6096000" y="2223247"/>
            <a:ext cx="4488" cy="372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CBD70CB-F835-8C66-C194-F6482C79C2C3}"/>
              </a:ext>
            </a:extLst>
          </p:cNvPr>
          <p:cNvCxnSpPr>
            <a:stCxn id="10" idx="2"/>
            <a:endCxn id="12" idx="0"/>
          </p:cNvCxnSpPr>
          <p:nvPr/>
        </p:nvCxnSpPr>
        <p:spPr>
          <a:xfrm>
            <a:off x="4119279" y="3802059"/>
            <a:ext cx="0" cy="470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0E77AFB8-071A-F8B5-5510-53F926DB551D}"/>
              </a:ext>
            </a:extLst>
          </p:cNvPr>
          <p:cNvCxnSpPr>
            <a:stCxn id="12" idx="1"/>
            <a:endCxn id="13" idx="0"/>
          </p:cNvCxnSpPr>
          <p:nvPr/>
        </p:nvCxnSpPr>
        <p:spPr>
          <a:xfrm rot="10800000" flipV="1">
            <a:off x="2214285" y="4491826"/>
            <a:ext cx="918877" cy="5911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D0034090-FE89-5F0F-68CD-B664FA595723}"/>
              </a:ext>
            </a:extLst>
          </p:cNvPr>
          <p:cNvCxnSpPr>
            <a:stCxn id="12" idx="3"/>
            <a:endCxn id="23" idx="0"/>
          </p:cNvCxnSpPr>
          <p:nvPr/>
        </p:nvCxnSpPr>
        <p:spPr>
          <a:xfrm>
            <a:off x="5105396" y="4491827"/>
            <a:ext cx="4901454" cy="5911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032640D3-985F-363B-6AF8-CA5509B50849}"/>
              </a:ext>
            </a:extLst>
          </p:cNvPr>
          <p:cNvCxnSpPr>
            <a:stCxn id="12" idx="3"/>
            <a:endCxn id="21" idx="0"/>
          </p:cNvCxnSpPr>
          <p:nvPr/>
        </p:nvCxnSpPr>
        <p:spPr>
          <a:xfrm>
            <a:off x="5105396" y="4491827"/>
            <a:ext cx="2303932" cy="5911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60B883EF-DA97-EDD7-7657-5F8881E6C49C}"/>
              </a:ext>
            </a:extLst>
          </p:cNvPr>
          <p:cNvCxnSpPr>
            <a:stCxn id="12" idx="2"/>
            <a:endCxn id="14" idx="0"/>
          </p:cNvCxnSpPr>
          <p:nvPr/>
        </p:nvCxnSpPr>
        <p:spPr>
          <a:xfrm rot="16200000" flipH="1">
            <a:off x="4279779" y="4550961"/>
            <a:ext cx="371527" cy="69252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FD9655AA-B705-B7E9-38BE-AD0F0CF1FBC2}"/>
              </a:ext>
            </a:extLst>
          </p:cNvPr>
          <p:cNvCxnSpPr>
            <a:stCxn id="11" idx="0"/>
            <a:endCxn id="7" idx="3"/>
          </p:cNvCxnSpPr>
          <p:nvPr/>
        </p:nvCxnSpPr>
        <p:spPr>
          <a:xfrm rot="16200000" flipV="1">
            <a:off x="6740950" y="2031016"/>
            <a:ext cx="1359177" cy="130437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2751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6E6F6-03B5-CC1E-CD6C-915E4FAF602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67B4C6-E882-A516-3011-8FDF9759B40C}"/>
              </a:ext>
            </a:extLst>
          </p:cNvPr>
          <p:cNvSpPr>
            <a:spLocks noGrp="1"/>
          </p:cNvSpPr>
          <p:nvPr>
            <p:ph type="title"/>
          </p:nvPr>
        </p:nvSpPr>
        <p:spPr>
          <a:xfrm>
            <a:off x="708053" y="572187"/>
            <a:ext cx="10775894" cy="648074"/>
          </a:xfrm>
        </p:spPr>
        <p:txBody>
          <a:bodyPr anchor="t">
            <a:noAutofit/>
          </a:bodyPr>
          <a:lstStyle/>
          <a:p>
            <a:r>
              <a:rPr lang="en-IN" sz="3600" b="1" dirty="0">
                <a:latin typeface="Aptos Narrow" panose="020B0004020202020204" pitchFamily="34" charset="0"/>
              </a:rPr>
              <a:t>Reusable Components</a:t>
            </a:r>
            <a:endParaRPr lang="en-IN" sz="4000" b="1" dirty="0">
              <a:latin typeface="Aptos Narrow" panose="020B0004020202020204" pitchFamily="34" charset="0"/>
            </a:endParaRPr>
          </a:p>
        </p:txBody>
      </p:sp>
      <p:sp>
        <p:nvSpPr>
          <p:cNvPr id="2" name="TextBox 1">
            <a:extLst>
              <a:ext uri="{FF2B5EF4-FFF2-40B4-BE49-F238E27FC236}">
                <a16:creationId xmlns:a16="http://schemas.microsoft.com/office/drawing/2014/main" id="{50C4FE60-CF24-0E27-1764-EB30B6D24FBA}"/>
              </a:ext>
            </a:extLst>
          </p:cNvPr>
          <p:cNvSpPr txBox="1"/>
          <p:nvPr/>
        </p:nvSpPr>
        <p:spPr>
          <a:xfrm>
            <a:off x="708053" y="1536934"/>
            <a:ext cx="1392625" cy="369332"/>
          </a:xfrm>
          <a:prstGeom prst="rect">
            <a:avLst/>
          </a:prstGeom>
          <a:noFill/>
        </p:spPr>
        <p:txBody>
          <a:bodyPr wrap="none" rtlCol="0">
            <a:spAutoFit/>
          </a:bodyPr>
          <a:lstStyle/>
          <a:p>
            <a:r>
              <a:rPr lang="en-US" dirty="0" err="1">
                <a:latin typeface="Aptos Narrow" panose="020B0004020202020204" pitchFamily="34" charset="0"/>
              </a:rPr>
              <a:t>Employee.jsx</a:t>
            </a:r>
            <a:endParaRPr lang="en-IN" dirty="0">
              <a:latin typeface="Aptos Narrow" panose="020B0004020202020204" pitchFamily="34" charset="0"/>
            </a:endParaRPr>
          </a:p>
        </p:txBody>
      </p:sp>
      <p:pic>
        <p:nvPicPr>
          <p:cNvPr id="5" name="Picture 4">
            <a:extLst>
              <a:ext uri="{FF2B5EF4-FFF2-40B4-BE49-F238E27FC236}">
                <a16:creationId xmlns:a16="http://schemas.microsoft.com/office/drawing/2014/main" id="{8B2B73D4-CD3B-19D2-4F90-97A1E61554DF}"/>
              </a:ext>
            </a:extLst>
          </p:cNvPr>
          <p:cNvPicPr>
            <a:picLocks noChangeAspect="1"/>
          </p:cNvPicPr>
          <p:nvPr/>
        </p:nvPicPr>
        <p:blipFill>
          <a:blip r:embed="rId3"/>
          <a:stretch>
            <a:fillRect/>
          </a:stretch>
        </p:blipFill>
        <p:spPr>
          <a:xfrm>
            <a:off x="6149203" y="2130934"/>
            <a:ext cx="5334744" cy="2429214"/>
          </a:xfrm>
          <a:prstGeom prst="rect">
            <a:avLst/>
          </a:prstGeom>
        </p:spPr>
      </p:pic>
      <p:sp>
        <p:nvSpPr>
          <p:cNvPr id="6" name="TextBox 5">
            <a:extLst>
              <a:ext uri="{FF2B5EF4-FFF2-40B4-BE49-F238E27FC236}">
                <a16:creationId xmlns:a16="http://schemas.microsoft.com/office/drawing/2014/main" id="{4C281800-5DC1-A125-A9CA-2331778EF27E}"/>
              </a:ext>
            </a:extLst>
          </p:cNvPr>
          <p:cNvSpPr txBox="1"/>
          <p:nvPr/>
        </p:nvSpPr>
        <p:spPr>
          <a:xfrm>
            <a:off x="6149203" y="1536934"/>
            <a:ext cx="1544462" cy="369332"/>
          </a:xfrm>
          <a:prstGeom prst="rect">
            <a:avLst/>
          </a:prstGeom>
          <a:noFill/>
        </p:spPr>
        <p:txBody>
          <a:bodyPr wrap="none" rtlCol="0">
            <a:spAutoFit/>
          </a:bodyPr>
          <a:lstStyle/>
          <a:p>
            <a:r>
              <a:rPr lang="en-US" dirty="0" err="1">
                <a:latin typeface="Aptos Narrow" panose="020B0004020202020204" pitchFamily="34" charset="0"/>
              </a:rPr>
              <a:t>Attendance.jsx</a:t>
            </a:r>
            <a:endParaRPr lang="en-IN" dirty="0">
              <a:latin typeface="Aptos Narrow" panose="020B0004020202020204" pitchFamily="34" charset="0"/>
            </a:endParaRPr>
          </a:p>
        </p:txBody>
      </p:sp>
      <p:pic>
        <p:nvPicPr>
          <p:cNvPr id="15" name="Picture 14">
            <a:extLst>
              <a:ext uri="{FF2B5EF4-FFF2-40B4-BE49-F238E27FC236}">
                <a16:creationId xmlns:a16="http://schemas.microsoft.com/office/drawing/2014/main" id="{450442FF-28DB-2034-21AA-B17120298500}"/>
              </a:ext>
            </a:extLst>
          </p:cNvPr>
          <p:cNvPicPr>
            <a:picLocks noChangeAspect="1"/>
          </p:cNvPicPr>
          <p:nvPr/>
        </p:nvPicPr>
        <p:blipFill>
          <a:blip r:embed="rId4"/>
          <a:stretch>
            <a:fillRect/>
          </a:stretch>
        </p:blipFill>
        <p:spPr>
          <a:xfrm>
            <a:off x="708053" y="2130934"/>
            <a:ext cx="5134692" cy="3077004"/>
          </a:xfrm>
          <a:prstGeom prst="rect">
            <a:avLst/>
          </a:prstGeom>
        </p:spPr>
      </p:pic>
      <p:sp>
        <p:nvSpPr>
          <p:cNvPr id="16" name="TextBox 15">
            <a:extLst>
              <a:ext uri="{FF2B5EF4-FFF2-40B4-BE49-F238E27FC236}">
                <a16:creationId xmlns:a16="http://schemas.microsoft.com/office/drawing/2014/main" id="{BF537EBC-5734-D095-CA2E-4457B70BE2D7}"/>
              </a:ext>
            </a:extLst>
          </p:cNvPr>
          <p:cNvSpPr txBox="1"/>
          <p:nvPr/>
        </p:nvSpPr>
        <p:spPr>
          <a:xfrm>
            <a:off x="708052" y="5749279"/>
            <a:ext cx="7204473" cy="338554"/>
          </a:xfrm>
          <a:prstGeom prst="rect">
            <a:avLst/>
          </a:prstGeom>
          <a:noFill/>
        </p:spPr>
        <p:txBody>
          <a:bodyPr wrap="none" rtlCol="0">
            <a:spAutoFit/>
          </a:bodyPr>
          <a:lstStyle/>
          <a:p>
            <a:r>
              <a:rPr lang="en-US" sz="1600" dirty="0" err="1">
                <a:latin typeface="Aptos Narrow" panose="020B0004020202020204" pitchFamily="34" charset="0"/>
              </a:rPr>
              <a:t>InfoCard.jsx</a:t>
            </a:r>
            <a:r>
              <a:rPr lang="en-US" sz="1600" dirty="0">
                <a:latin typeface="Aptos Narrow" panose="020B0004020202020204" pitchFamily="34" charset="0"/>
              </a:rPr>
              <a:t>, </a:t>
            </a:r>
            <a:r>
              <a:rPr lang="en-US" sz="1600" dirty="0" err="1">
                <a:latin typeface="Aptos Narrow" panose="020B0004020202020204" pitchFamily="34" charset="0"/>
              </a:rPr>
              <a:t>DataTable.jsx</a:t>
            </a:r>
            <a:r>
              <a:rPr lang="en-US" sz="1600" dirty="0">
                <a:latin typeface="Aptos Narrow" panose="020B0004020202020204" pitchFamily="34" charset="0"/>
              </a:rPr>
              <a:t>, </a:t>
            </a:r>
            <a:r>
              <a:rPr lang="en-US" sz="1600" dirty="0" err="1">
                <a:latin typeface="Aptos Narrow" panose="020B0004020202020204" pitchFamily="34" charset="0"/>
              </a:rPr>
              <a:t>StatCard.jsx</a:t>
            </a:r>
            <a:r>
              <a:rPr lang="en-US" sz="1600" dirty="0">
                <a:latin typeface="Aptos Narrow" panose="020B0004020202020204" pitchFamily="34" charset="0"/>
              </a:rPr>
              <a:t>, </a:t>
            </a:r>
            <a:r>
              <a:rPr lang="en-US" sz="1600" dirty="0" err="1">
                <a:latin typeface="Aptos Narrow" panose="020B0004020202020204" pitchFamily="34" charset="0"/>
              </a:rPr>
              <a:t>NotFound.jsx</a:t>
            </a:r>
            <a:r>
              <a:rPr lang="en-US" sz="1600" dirty="0">
                <a:latin typeface="Aptos Narrow" panose="020B0004020202020204" pitchFamily="34" charset="0"/>
              </a:rPr>
              <a:t>, </a:t>
            </a:r>
            <a:r>
              <a:rPr lang="en-US" sz="1600" dirty="0" err="1">
                <a:latin typeface="Aptos Narrow" panose="020B0004020202020204" pitchFamily="34" charset="0"/>
              </a:rPr>
              <a:t>EmptyState.jsx</a:t>
            </a:r>
            <a:r>
              <a:rPr lang="en-US" sz="1600" dirty="0">
                <a:latin typeface="Aptos Narrow" panose="020B0004020202020204" pitchFamily="34" charset="0"/>
              </a:rPr>
              <a:t>, </a:t>
            </a:r>
            <a:r>
              <a:rPr lang="en-US" sz="1600" dirty="0" err="1">
                <a:latin typeface="Aptos Narrow" panose="020B0004020202020204" pitchFamily="34" charset="0"/>
              </a:rPr>
              <a:t>PageLoader.jsx</a:t>
            </a:r>
            <a:endParaRPr lang="en-IN" sz="1600" dirty="0">
              <a:latin typeface="Aptos Narrow" panose="020B0004020202020204" pitchFamily="34" charset="0"/>
            </a:endParaRPr>
          </a:p>
        </p:txBody>
      </p:sp>
    </p:spTree>
    <p:extLst>
      <p:ext uri="{BB962C8B-B14F-4D97-AF65-F5344CB8AC3E}">
        <p14:creationId xmlns:p14="http://schemas.microsoft.com/office/powerpoint/2010/main" val="1068848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DCF12-CD00-70D2-59E0-B96D2BC319F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AE6C7E-95EA-39FD-2A2E-7A1B1B67174B}"/>
              </a:ext>
            </a:extLst>
          </p:cNvPr>
          <p:cNvSpPr>
            <a:spLocks noGrp="1"/>
          </p:cNvSpPr>
          <p:nvPr>
            <p:ph type="title"/>
          </p:nvPr>
        </p:nvSpPr>
        <p:spPr>
          <a:xfrm>
            <a:off x="838200" y="553714"/>
            <a:ext cx="10515600" cy="648074"/>
          </a:xfrm>
        </p:spPr>
        <p:txBody>
          <a:bodyPr anchor="t">
            <a:noAutofit/>
          </a:bodyPr>
          <a:lstStyle/>
          <a:p>
            <a:r>
              <a:rPr lang="en-IN" sz="3600" b="1" dirty="0">
                <a:latin typeface="Aptos Narrow" panose="020B0004020202020204" pitchFamily="34" charset="0"/>
              </a:rPr>
              <a:t>Custom Hooks</a:t>
            </a:r>
            <a:endParaRPr lang="en-IN" sz="4000" b="1" dirty="0">
              <a:latin typeface="Aptos Narrow" panose="020B0004020202020204" pitchFamily="34" charset="0"/>
            </a:endParaRPr>
          </a:p>
        </p:txBody>
      </p:sp>
      <p:pic>
        <p:nvPicPr>
          <p:cNvPr id="26" name="Picture 25">
            <a:extLst>
              <a:ext uri="{FF2B5EF4-FFF2-40B4-BE49-F238E27FC236}">
                <a16:creationId xmlns:a16="http://schemas.microsoft.com/office/drawing/2014/main" id="{42B47DA6-F714-9F0F-E135-BDB43C8EAC6E}"/>
              </a:ext>
            </a:extLst>
          </p:cNvPr>
          <p:cNvPicPr>
            <a:picLocks noChangeAspect="1"/>
          </p:cNvPicPr>
          <p:nvPr/>
        </p:nvPicPr>
        <p:blipFill>
          <a:blip r:embed="rId3"/>
          <a:stretch>
            <a:fillRect/>
          </a:stretch>
        </p:blipFill>
        <p:spPr>
          <a:xfrm>
            <a:off x="838200" y="3208048"/>
            <a:ext cx="4759071" cy="977612"/>
          </a:xfrm>
          <a:prstGeom prst="rect">
            <a:avLst/>
          </a:prstGeom>
        </p:spPr>
      </p:pic>
      <p:pic>
        <p:nvPicPr>
          <p:cNvPr id="32" name="Picture 31">
            <a:extLst>
              <a:ext uri="{FF2B5EF4-FFF2-40B4-BE49-F238E27FC236}">
                <a16:creationId xmlns:a16="http://schemas.microsoft.com/office/drawing/2014/main" id="{DF0EC834-65FE-AD33-CB35-9996B68289D5}"/>
              </a:ext>
            </a:extLst>
          </p:cNvPr>
          <p:cNvPicPr>
            <a:picLocks noChangeAspect="1"/>
          </p:cNvPicPr>
          <p:nvPr/>
        </p:nvPicPr>
        <p:blipFill>
          <a:blip r:embed="rId4"/>
          <a:stretch>
            <a:fillRect/>
          </a:stretch>
        </p:blipFill>
        <p:spPr>
          <a:xfrm>
            <a:off x="6520837" y="2046705"/>
            <a:ext cx="4759071" cy="3300297"/>
          </a:xfrm>
          <a:prstGeom prst="rect">
            <a:avLst/>
          </a:prstGeom>
        </p:spPr>
      </p:pic>
      <p:sp>
        <p:nvSpPr>
          <p:cNvPr id="37" name="TextBox 36">
            <a:extLst>
              <a:ext uri="{FF2B5EF4-FFF2-40B4-BE49-F238E27FC236}">
                <a16:creationId xmlns:a16="http://schemas.microsoft.com/office/drawing/2014/main" id="{C9F1417E-A344-0644-4250-99988F06A036}"/>
              </a:ext>
            </a:extLst>
          </p:cNvPr>
          <p:cNvSpPr txBox="1"/>
          <p:nvPr/>
        </p:nvSpPr>
        <p:spPr>
          <a:xfrm>
            <a:off x="838200" y="2641600"/>
            <a:ext cx="2205155" cy="369332"/>
          </a:xfrm>
          <a:prstGeom prst="rect">
            <a:avLst/>
          </a:prstGeom>
          <a:noFill/>
        </p:spPr>
        <p:txBody>
          <a:bodyPr wrap="none" rtlCol="0">
            <a:spAutoFit/>
          </a:bodyPr>
          <a:lstStyle/>
          <a:p>
            <a:r>
              <a:rPr lang="en-US" dirty="0"/>
              <a:t>useEmployeeFilters.js</a:t>
            </a:r>
            <a:endParaRPr lang="en-IN" dirty="0"/>
          </a:p>
        </p:txBody>
      </p:sp>
      <p:sp>
        <p:nvSpPr>
          <p:cNvPr id="38" name="TextBox 37">
            <a:extLst>
              <a:ext uri="{FF2B5EF4-FFF2-40B4-BE49-F238E27FC236}">
                <a16:creationId xmlns:a16="http://schemas.microsoft.com/office/drawing/2014/main" id="{790418DB-89A7-8DE1-A40F-2E9ED41AE545}"/>
              </a:ext>
            </a:extLst>
          </p:cNvPr>
          <p:cNvSpPr txBox="1"/>
          <p:nvPr/>
        </p:nvSpPr>
        <p:spPr>
          <a:xfrm>
            <a:off x="6520837" y="1469642"/>
            <a:ext cx="1676228" cy="369332"/>
          </a:xfrm>
          <a:prstGeom prst="rect">
            <a:avLst/>
          </a:prstGeom>
          <a:noFill/>
        </p:spPr>
        <p:txBody>
          <a:bodyPr wrap="none" rtlCol="0">
            <a:spAutoFit/>
          </a:bodyPr>
          <a:lstStyle/>
          <a:p>
            <a:r>
              <a:rPr lang="en-US" dirty="0"/>
              <a:t>employee.util.js</a:t>
            </a:r>
            <a:endParaRPr lang="en-IN" dirty="0"/>
          </a:p>
        </p:txBody>
      </p:sp>
      <p:sp>
        <p:nvSpPr>
          <p:cNvPr id="39" name="TextBox 38">
            <a:extLst>
              <a:ext uri="{FF2B5EF4-FFF2-40B4-BE49-F238E27FC236}">
                <a16:creationId xmlns:a16="http://schemas.microsoft.com/office/drawing/2014/main" id="{57B966ED-A158-67EA-1107-57DF94DB8787}"/>
              </a:ext>
            </a:extLst>
          </p:cNvPr>
          <p:cNvSpPr txBox="1"/>
          <p:nvPr/>
        </p:nvSpPr>
        <p:spPr>
          <a:xfrm>
            <a:off x="708052" y="5822587"/>
            <a:ext cx="9127307" cy="338554"/>
          </a:xfrm>
          <a:prstGeom prst="rect">
            <a:avLst/>
          </a:prstGeom>
          <a:noFill/>
        </p:spPr>
        <p:txBody>
          <a:bodyPr wrap="none" rtlCol="0">
            <a:spAutoFit/>
          </a:bodyPr>
          <a:lstStyle/>
          <a:p>
            <a:r>
              <a:rPr lang="en-US" sz="1600" dirty="0">
                <a:latin typeface="Aptos Narrow" panose="020B0004020202020204" pitchFamily="34" charset="0"/>
              </a:rPr>
              <a:t>useAttendanceFilter.js, useAttendanceDetailsFilters.js, useAttendanceSummary.js, useDashboardSummary.js</a:t>
            </a:r>
            <a:endParaRPr lang="en-IN" sz="1600" dirty="0">
              <a:latin typeface="Aptos Narrow" panose="020B0004020202020204" pitchFamily="34" charset="0"/>
            </a:endParaRPr>
          </a:p>
        </p:txBody>
      </p:sp>
    </p:spTree>
    <p:extLst>
      <p:ext uri="{BB962C8B-B14F-4D97-AF65-F5344CB8AC3E}">
        <p14:creationId xmlns:p14="http://schemas.microsoft.com/office/powerpoint/2010/main" val="2963255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E4373-DB78-8A04-A6BE-DF69D806D4D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0256F9B-16B9-9C94-A663-5E9BA774FB5D}"/>
              </a:ext>
            </a:extLst>
          </p:cNvPr>
          <p:cNvSpPr>
            <a:spLocks noGrp="1"/>
          </p:cNvSpPr>
          <p:nvPr>
            <p:ph type="title"/>
          </p:nvPr>
        </p:nvSpPr>
        <p:spPr>
          <a:xfrm>
            <a:off x="838200" y="553714"/>
            <a:ext cx="10515600" cy="648074"/>
          </a:xfrm>
        </p:spPr>
        <p:txBody>
          <a:bodyPr anchor="t">
            <a:noAutofit/>
          </a:bodyPr>
          <a:lstStyle/>
          <a:p>
            <a:r>
              <a:rPr lang="en-IN" sz="3600" b="1" dirty="0">
                <a:latin typeface="Aptos Narrow" panose="020B0004020202020204" pitchFamily="34" charset="0"/>
              </a:rPr>
              <a:t>Authentication</a:t>
            </a:r>
            <a:endParaRPr lang="en-IN" sz="4000" b="1" dirty="0">
              <a:latin typeface="Aptos Narrow" panose="020B0004020202020204" pitchFamily="34" charset="0"/>
            </a:endParaRPr>
          </a:p>
        </p:txBody>
      </p:sp>
      <p:pic>
        <p:nvPicPr>
          <p:cNvPr id="3" name="Picture 2">
            <a:extLst>
              <a:ext uri="{FF2B5EF4-FFF2-40B4-BE49-F238E27FC236}">
                <a16:creationId xmlns:a16="http://schemas.microsoft.com/office/drawing/2014/main" id="{A75668A5-5E5C-810D-8341-BCD6F62F1FD0}"/>
              </a:ext>
            </a:extLst>
          </p:cNvPr>
          <p:cNvPicPr>
            <a:picLocks noChangeAspect="1"/>
          </p:cNvPicPr>
          <p:nvPr/>
        </p:nvPicPr>
        <p:blipFill>
          <a:blip r:embed="rId3"/>
          <a:stretch>
            <a:fillRect/>
          </a:stretch>
        </p:blipFill>
        <p:spPr>
          <a:xfrm>
            <a:off x="838200" y="2205692"/>
            <a:ext cx="4525006" cy="3000794"/>
          </a:xfrm>
          <a:prstGeom prst="rect">
            <a:avLst/>
          </a:prstGeom>
        </p:spPr>
      </p:pic>
      <p:sp>
        <p:nvSpPr>
          <p:cNvPr id="5" name="TextBox 4">
            <a:extLst>
              <a:ext uri="{FF2B5EF4-FFF2-40B4-BE49-F238E27FC236}">
                <a16:creationId xmlns:a16="http://schemas.microsoft.com/office/drawing/2014/main" id="{68562F21-BBA5-6F7A-86FF-CE7EA8B6F665}"/>
              </a:ext>
            </a:extLst>
          </p:cNvPr>
          <p:cNvSpPr txBox="1"/>
          <p:nvPr/>
        </p:nvSpPr>
        <p:spPr>
          <a:xfrm>
            <a:off x="838200" y="1651514"/>
            <a:ext cx="4610848" cy="338554"/>
          </a:xfrm>
          <a:prstGeom prst="rect">
            <a:avLst/>
          </a:prstGeom>
          <a:noFill/>
        </p:spPr>
        <p:txBody>
          <a:bodyPr wrap="square" rtlCol="0">
            <a:spAutoFit/>
          </a:bodyPr>
          <a:lstStyle/>
          <a:p>
            <a:r>
              <a:rPr lang="en-US" sz="1600" dirty="0">
                <a:latin typeface="Aptos Narrow" panose="020B0004020202020204" pitchFamily="34" charset="0"/>
              </a:rPr>
              <a:t>Creating session data and store it in local storage</a:t>
            </a:r>
            <a:endParaRPr lang="en-IN" sz="1600" dirty="0">
              <a:latin typeface="Aptos Narrow" panose="020B0004020202020204" pitchFamily="34" charset="0"/>
            </a:endParaRPr>
          </a:p>
        </p:txBody>
      </p:sp>
      <p:pic>
        <p:nvPicPr>
          <p:cNvPr id="9" name="Picture 8">
            <a:extLst>
              <a:ext uri="{FF2B5EF4-FFF2-40B4-BE49-F238E27FC236}">
                <a16:creationId xmlns:a16="http://schemas.microsoft.com/office/drawing/2014/main" id="{5BC1F23C-0302-20EA-0191-A3151DB72C4D}"/>
              </a:ext>
            </a:extLst>
          </p:cNvPr>
          <p:cNvPicPr>
            <a:picLocks noChangeAspect="1"/>
          </p:cNvPicPr>
          <p:nvPr/>
        </p:nvPicPr>
        <p:blipFill>
          <a:blip r:embed="rId4"/>
          <a:stretch>
            <a:fillRect/>
          </a:stretch>
        </p:blipFill>
        <p:spPr>
          <a:xfrm>
            <a:off x="6247687" y="2370179"/>
            <a:ext cx="5106113" cy="647790"/>
          </a:xfrm>
          <a:prstGeom prst="rect">
            <a:avLst/>
          </a:prstGeom>
        </p:spPr>
      </p:pic>
      <p:sp>
        <p:nvSpPr>
          <p:cNvPr id="15" name="TextBox 14">
            <a:extLst>
              <a:ext uri="{FF2B5EF4-FFF2-40B4-BE49-F238E27FC236}">
                <a16:creationId xmlns:a16="http://schemas.microsoft.com/office/drawing/2014/main" id="{F10D2426-4C0A-FFEF-F491-C384B03D8E8E}"/>
              </a:ext>
            </a:extLst>
          </p:cNvPr>
          <p:cNvSpPr txBox="1"/>
          <p:nvPr/>
        </p:nvSpPr>
        <p:spPr>
          <a:xfrm>
            <a:off x="6247688" y="1561384"/>
            <a:ext cx="5106112" cy="584775"/>
          </a:xfrm>
          <a:prstGeom prst="rect">
            <a:avLst/>
          </a:prstGeom>
          <a:noFill/>
        </p:spPr>
        <p:txBody>
          <a:bodyPr wrap="square" rtlCol="0">
            <a:spAutoFit/>
          </a:bodyPr>
          <a:lstStyle/>
          <a:p>
            <a:r>
              <a:rPr lang="en-US" sz="1600" dirty="0">
                <a:latin typeface="Aptos Narrow" panose="020B0004020202020204" pitchFamily="34" charset="0"/>
              </a:rPr>
              <a:t>Creating context for </a:t>
            </a:r>
            <a:r>
              <a:rPr lang="en-US" sz="1600" dirty="0" err="1">
                <a:latin typeface="Aptos Narrow" panose="020B0004020202020204" pitchFamily="34" charset="0"/>
              </a:rPr>
              <a:t>sessionData</a:t>
            </a:r>
            <a:r>
              <a:rPr lang="en-US" sz="1600" dirty="0">
                <a:latin typeface="Aptos Narrow" panose="020B0004020202020204" pitchFamily="34" charset="0"/>
              </a:rPr>
              <a:t> along with login &amp; logout functionality</a:t>
            </a:r>
            <a:endParaRPr lang="en-IN" sz="1600" dirty="0">
              <a:latin typeface="Aptos Narrow" panose="020B0004020202020204" pitchFamily="34" charset="0"/>
            </a:endParaRPr>
          </a:p>
        </p:txBody>
      </p:sp>
      <p:sp>
        <p:nvSpPr>
          <p:cNvPr id="16" name="TextBox 15">
            <a:extLst>
              <a:ext uri="{FF2B5EF4-FFF2-40B4-BE49-F238E27FC236}">
                <a16:creationId xmlns:a16="http://schemas.microsoft.com/office/drawing/2014/main" id="{1C229293-8304-E197-665A-8B09D4CB1171}"/>
              </a:ext>
            </a:extLst>
          </p:cNvPr>
          <p:cNvSpPr txBox="1"/>
          <p:nvPr/>
        </p:nvSpPr>
        <p:spPr>
          <a:xfrm>
            <a:off x="6247687" y="3370559"/>
            <a:ext cx="5106112" cy="338554"/>
          </a:xfrm>
          <a:prstGeom prst="rect">
            <a:avLst/>
          </a:prstGeom>
          <a:noFill/>
        </p:spPr>
        <p:txBody>
          <a:bodyPr wrap="square" rtlCol="0">
            <a:spAutoFit/>
          </a:bodyPr>
          <a:lstStyle/>
          <a:p>
            <a:r>
              <a:rPr lang="en-US" sz="1600" dirty="0">
                <a:latin typeface="Aptos Narrow" panose="020B0004020202020204" pitchFamily="34" charset="0"/>
              </a:rPr>
              <a:t>Providing context to main application</a:t>
            </a:r>
            <a:endParaRPr lang="en-IN" sz="1600" dirty="0">
              <a:latin typeface="Aptos Narrow" panose="020B0004020202020204" pitchFamily="34" charset="0"/>
            </a:endParaRPr>
          </a:p>
        </p:txBody>
      </p:sp>
      <p:pic>
        <p:nvPicPr>
          <p:cNvPr id="18" name="Picture 17">
            <a:extLst>
              <a:ext uri="{FF2B5EF4-FFF2-40B4-BE49-F238E27FC236}">
                <a16:creationId xmlns:a16="http://schemas.microsoft.com/office/drawing/2014/main" id="{4C1CBD18-0AE7-FBC8-AA22-5608BD268E0B}"/>
              </a:ext>
            </a:extLst>
          </p:cNvPr>
          <p:cNvPicPr>
            <a:picLocks noChangeAspect="1"/>
          </p:cNvPicPr>
          <p:nvPr/>
        </p:nvPicPr>
        <p:blipFill>
          <a:blip r:embed="rId5"/>
          <a:stretch>
            <a:fillRect/>
          </a:stretch>
        </p:blipFill>
        <p:spPr>
          <a:xfrm>
            <a:off x="6247687" y="3916952"/>
            <a:ext cx="4305901" cy="1400370"/>
          </a:xfrm>
          <a:prstGeom prst="rect">
            <a:avLst/>
          </a:prstGeom>
        </p:spPr>
      </p:pic>
    </p:spTree>
    <p:extLst>
      <p:ext uri="{BB962C8B-B14F-4D97-AF65-F5344CB8AC3E}">
        <p14:creationId xmlns:p14="http://schemas.microsoft.com/office/powerpoint/2010/main" val="3852804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984E6-6337-DD4E-18DE-BC56C40FCAF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73F7AE3-720D-EB78-D22C-79AEC4AA296F}"/>
              </a:ext>
            </a:extLst>
          </p:cNvPr>
          <p:cNvSpPr>
            <a:spLocks noGrp="1"/>
          </p:cNvSpPr>
          <p:nvPr>
            <p:ph type="title"/>
          </p:nvPr>
        </p:nvSpPr>
        <p:spPr>
          <a:xfrm>
            <a:off x="838200" y="553714"/>
            <a:ext cx="10515600" cy="648074"/>
          </a:xfrm>
        </p:spPr>
        <p:txBody>
          <a:bodyPr anchor="t">
            <a:noAutofit/>
          </a:bodyPr>
          <a:lstStyle/>
          <a:p>
            <a:r>
              <a:rPr lang="en-IN" sz="3600" b="1" dirty="0">
                <a:latin typeface="Aptos Narrow" panose="020B0004020202020204" pitchFamily="34" charset="0"/>
              </a:rPr>
              <a:t>API Integration</a:t>
            </a:r>
            <a:endParaRPr lang="en-IN" sz="4000" b="1" dirty="0">
              <a:latin typeface="Aptos Narrow" panose="020B0004020202020204" pitchFamily="34" charset="0"/>
            </a:endParaRPr>
          </a:p>
        </p:txBody>
      </p:sp>
      <p:sp>
        <p:nvSpPr>
          <p:cNvPr id="2" name="TextBox 1">
            <a:extLst>
              <a:ext uri="{FF2B5EF4-FFF2-40B4-BE49-F238E27FC236}">
                <a16:creationId xmlns:a16="http://schemas.microsoft.com/office/drawing/2014/main" id="{B42E4161-4C79-B709-1FCB-96E2BA07ADBA}"/>
              </a:ext>
            </a:extLst>
          </p:cNvPr>
          <p:cNvSpPr txBox="1"/>
          <p:nvPr/>
        </p:nvSpPr>
        <p:spPr>
          <a:xfrm>
            <a:off x="838200" y="1309071"/>
            <a:ext cx="1461875" cy="338554"/>
          </a:xfrm>
          <a:prstGeom prst="rect">
            <a:avLst/>
          </a:prstGeom>
          <a:noFill/>
        </p:spPr>
        <p:txBody>
          <a:bodyPr wrap="none" rtlCol="0">
            <a:spAutoFit/>
          </a:bodyPr>
          <a:lstStyle/>
          <a:p>
            <a:r>
              <a:rPr lang="en-IN" sz="1600" dirty="0">
                <a:latin typeface="Aptos Narrow" panose="020B0004020202020204" pitchFamily="34" charset="0"/>
              </a:rPr>
              <a:t>employeeApi.js</a:t>
            </a:r>
          </a:p>
        </p:txBody>
      </p:sp>
      <p:pic>
        <p:nvPicPr>
          <p:cNvPr id="5" name="Picture 4">
            <a:extLst>
              <a:ext uri="{FF2B5EF4-FFF2-40B4-BE49-F238E27FC236}">
                <a16:creationId xmlns:a16="http://schemas.microsoft.com/office/drawing/2014/main" id="{226FD233-4D2D-7EC8-F3FA-DAE23E81B633}"/>
              </a:ext>
            </a:extLst>
          </p:cNvPr>
          <p:cNvPicPr>
            <a:picLocks noChangeAspect="1"/>
          </p:cNvPicPr>
          <p:nvPr/>
        </p:nvPicPr>
        <p:blipFill>
          <a:blip r:embed="rId3"/>
          <a:stretch>
            <a:fillRect/>
          </a:stretch>
        </p:blipFill>
        <p:spPr>
          <a:xfrm>
            <a:off x="838198" y="1832352"/>
            <a:ext cx="5063836" cy="4003568"/>
          </a:xfrm>
          <a:prstGeom prst="rect">
            <a:avLst/>
          </a:prstGeom>
        </p:spPr>
      </p:pic>
      <p:pic>
        <p:nvPicPr>
          <p:cNvPr id="9" name="Picture 8">
            <a:extLst>
              <a:ext uri="{FF2B5EF4-FFF2-40B4-BE49-F238E27FC236}">
                <a16:creationId xmlns:a16="http://schemas.microsoft.com/office/drawing/2014/main" id="{83302D53-7D9D-3F7C-CFBA-6EF51D864828}"/>
              </a:ext>
            </a:extLst>
          </p:cNvPr>
          <p:cNvPicPr>
            <a:picLocks noChangeAspect="1"/>
          </p:cNvPicPr>
          <p:nvPr/>
        </p:nvPicPr>
        <p:blipFill>
          <a:blip r:embed="rId4"/>
          <a:stretch>
            <a:fillRect/>
          </a:stretch>
        </p:blipFill>
        <p:spPr>
          <a:xfrm>
            <a:off x="6289964" y="1832352"/>
            <a:ext cx="5063836" cy="739962"/>
          </a:xfrm>
          <a:prstGeom prst="rect">
            <a:avLst/>
          </a:prstGeom>
        </p:spPr>
      </p:pic>
      <p:sp>
        <p:nvSpPr>
          <p:cNvPr id="15" name="TextBox 14">
            <a:extLst>
              <a:ext uri="{FF2B5EF4-FFF2-40B4-BE49-F238E27FC236}">
                <a16:creationId xmlns:a16="http://schemas.microsoft.com/office/drawing/2014/main" id="{6A6579BA-CC87-C774-A7BC-71700D576C50}"/>
              </a:ext>
            </a:extLst>
          </p:cNvPr>
          <p:cNvSpPr txBox="1"/>
          <p:nvPr/>
        </p:nvSpPr>
        <p:spPr>
          <a:xfrm>
            <a:off x="6289964" y="1309071"/>
            <a:ext cx="1509965" cy="338554"/>
          </a:xfrm>
          <a:prstGeom prst="rect">
            <a:avLst/>
          </a:prstGeom>
          <a:noFill/>
        </p:spPr>
        <p:txBody>
          <a:bodyPr wrap="none" rtlCol="0">
            <a:spAutoFit/>
          </a:bodyPr>
          <a:lstStyle/>
          <a:p>
            <a:r>
              <a:rPr lang="en-IN" sz="1600" dirty="0">
                <a:latin typeface="Aptos Narrow" panose="020B0004020202020204" pitchFamily="34" charset="0"/>
              </a:rPr>
              <a:t>employee.util.js</a:t>
            </a:r>
          </a:p>
        </p:txBody>
      </p:sp>
      <p:pic>
        <p:nvPicPr>
          <p:cNvPr id="19" name="Picture 18">
            <a:extLst>
              <a:ext uri="{FF2B5EF4-FFF2-40B4-BE49-F238E27FC236}">
                <a16:creationId xmlns:a16="http://schemas.microsoft.com/office/drawing/2014/main" id="{15AAB9EE-8F59-9730-963D-39E185B3BCA3}"/>
              </a:ext>
            </a:extLst>
          </p:cNvPr>
          <p:cNvPicPr>
            <a:picLocks noChangeAspect="1"/>
          </p:cNvPicPr>
          <p:nvPr/>
        </p:nvPicPr>
        <p:blipFill>
          <a:blip r:embed="rId5"/>
          <a:stretch>
            <a:fillRect/>
          </a:stretch>
        </p:blipFill>
        <p:spPr>
          <a:xfrm>
            <a:off x="6289964" y="3951478"/>
            <a:ext cx="5063836" cy="1884442"/>
          </a:xfrm>
          <a:prstGeom prst="rect">
            <a:avLst/>
          </a:prstGeom>
        </p:spPr>
      </p:pic>
      <p:sp>
        <p:nvSpPr>
          <p:cNvPr id="20" name="TextBox 19">
            <a:extLst>
              <a:ext uri="{FF2B5EF4-FFF2-40B4-BE49-F238E27FC236}">
                <a16:creationId xmlns:a16="http://schemas.microsoft.com/office/drawing/2014/main" id="{2E51F00D-2F79-8E21-202D-5BE4AEF00F8E}"/>
              </a:ext>
            </a:extLst>
          </p:cNvPr>
          <p:cNvSpPr txBox="1"/>
          <p:nvPr/>
        </p:nvSpPr>
        <p:spPr>
          <a:xfrm>
            <a:off x="6289964" y="3429000"/>
            <a:ext cx="1353897" cy="338554"/>
          </a:xfrm>
          <a:prstGeom prst="rect">
            <a:avLst/>
          </a:prstGeom>
          <a:noFill/>
        </p:spPr>
        <p:txBody>
          <a:bodyPr wrap="none" rtlCol="0">
            <a:spAutoFit/>
          </a:bodyPr>
          <a:lstStyle/>
          <a:p>
            <a:r>
              <a:rPr lang="en-IN" sz="1600" dirty="0" err="1">
                <a:latin typeface="Aptos Narrow" panose="020B0004020202020204" pitchFamily="34" charset="0"/>
              </a:rPr>
              <a:t>Employees.jsx</a:t>
            </a:r>
            <a:endParaRPr lang="en-IN" sz="1600" dirty="0">
              <a:latin typeface="Aptos Narrow" panose="020B0004020202020204" pitchFamily="34" charset="0"/>
            </a:endParaRPr>
          </a:p>
        </p:txBody>
      </p:sp>
    </p:spTree>
    <p:extLst>
      <p:ext uri="{BB962C8B-B14F-4D97-AF65-F5344CB8AC3E}">
        <p14:creationId xmlns:p14="http://schemas.microsoft.com/office/powerpoint/2010/main" val="3676817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68DDC-937E-5075-1AEC-1266B2D0C01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218F74-AC9F-E2F8-A599-D3D224583E72}"/>
              </a:ext>
            </a:extLst>
          </p:cNvPr>
          <p:cNvSpPr>
            <a:spLocks noGrp="1"/>
          </p:cNvSpPr>
          <p:nvPr>
            <p:ph type="title"/>
          </p:nvPr>
        </p:nvSpPr>
        <p:spPr>
          <a:xfrm>
            <a:off x="838200" y="553714"/>
            <a:ext cx="10515600" cy="648074"/>
          </a:xfrm>
        </p:spPr>
        <p:txBody>
          <a:bodyPr anchor="t">
            <a:noAutofit/>
          </a:bodyPr>
          <a:lstStyle/>
          <a:p>
            <a:r>
              <a:rPr lang="en-IN" sz="3600" dirty="0">
                <a:latin typeface="Aptos Narrow" panose="020B0004020202020204" pitchFamily="34" charset="0"/>
              </a:rPr>
              <a:t>Dashboard Module</a:t>
            </a:r>
            <a:endParaRPr lang="en-IN" sz="4000" b="1" dirty="0">
              <a:latin typeface="Aptos Narrow" panose="020B0004020202020204" pitchFamily="34" charset="0"/>
            </a:endParaRPr>
          </a:p>
        </p:txBody>
      </p:sp>
      <p:pic>
        <p:nvPicPr>
          <p:cNvPr id="3" name="Picture 2">
            <a:extLst>
              <a:ext uri="{FF2B5EF4-FFF2-40B4-BE49-F238E27FC236}">
                <a16:creationId xmlns:a16="http://schemas.microsoft.com/office/drawing/2014/main" id="{7279A188-E657-77CB-966D-31737090DA4F}"/>
              </a:ext>
            </a:extLst>
          </p:cNvPr>
          <p:cNvPicPr>
            <a:picLocks noChangeAspect="1"/>
          </p:cNvPicPr>
          <p:nvPr/>
        </p:nvPicPr>
        <p:blipFill>
          <a:blip r:embed="rId3"/>
          <a:stretch>
            <a:fillRect/>
          </a:stretch>
        </p:blipFill>
        <p:spPr>
          <a:xfrm>
            <a:off x="838199" y="1907837"/>
            <a:ext cx="7197437" cy="4396449"/>
          </a:xfrm>
          <a:prstGeom prst="rect">
            <a:avLst/>
          </a:prstGeom>
        </p:spPr>
      </p:pic>
      <p:sp>
        <p:nvSpPr>
          <p:cNvPr id="5" name="TextBox 4">
            <a:extLst>
              <a:ext uri="{FF2B5EF4-FFF2-40B4-BE49-F238E27FC236}">
                <a16:creationId xmlns:a16="http://schemas.microsoft.com/office/drawing/2014/main" id="{E1C5487B-B6E9-C083-3CF4-32F254F98C1F}"/>
              </a:ext>
            </a:extLst>
          </p:cNvPr>
          <p:cNvSpPr txBox="1"/>
          <p:nvPr/>
        </p:nvSpPr>
        <p:spPr>
          <a:xfrm>
            <a:off x="838199" y="1392083"/>
            <a:ext cx="4360681" cy="338554"/>
          </a:xfrm>
          <a:prstGeom prst="rect">
            <a:avLst/>
          </a:prstGeom>
          <a:noFill/>
        </p:spPr>
        <p:txBody>
          <a:bodyPr wrap="none" rtlCol="0">
            <a:spAutoFit/>
          </a:bodyPr>
          <a:lstStyle/>
          <a:p>
            <a:r>
              <a:rPr lang="en-US" sz="1600" dirty="0">
                <a:latin typeface="Aptos Narrow" panose="020B0004020202020204" pitchFamily="34" charset="0"/>
              </a:rPr>
              <a:t>Showcases statistics, summery cards and analytics</a:t>
            </a:r>
            <a:endParaRPr lang="en-IN" sz="1600" dirty="0">
              <a:latin typeface="Aptos Narrow" panose="020B0004020202020204" pitchFamily="34" charset="0"/>
            </a:endParaRPr>
          </a:p>
        </p:txBody>
      </p:sp>
      <p:pic>
        <p:nvPicPr>
          <p:cNvPr id="9" name="Picture 8">
            <a:extLst>
              <a:ext uri="{FF2B5EF4-FFF2-40B4-BE49-F238E27FC236}">
                <a16:creationId xmlns:a16="http://schemas.microsoft.com/office/drawing/2014/main" id="{80CA4996-C775-2794-9E04-992EBFA4A980}"/>
              </a:ext>
            </a:extLst>
          </p:cNvPr>
          <p:cNvPicPr>
            <a:picLocks noChangeAspect="1"/>
          </p:cNvPicPr>
          <p:nvPr/>
        </p:nvPicPr>
        <p:blipFill>
          <a:blip r:embed="rId4"/>
          <a:stretch>
            <a:fillRect/>
          </a:stretch>
        </p:blipFill>
        <p:spPr>
          <a:xfrm>
            <a:off x="8996218" y="1907837"/>
            <a:ext cx="2357582" cy="4396449"/>
          </a:xfrm>
          <a:prstGeom prst="rect">
            <a:avLst/>
          </a:prstGeom>
        </p:spPr>
      </p:pic>
    </p:spTree>
    <p:extLst>
      <p:ext uri="{BB962C8B-B14F-4D97-AF65-F5344CB8AC3E}">
        <p14:creationId xmlns:p14="http://schemas.microsoft.com/office/powerpoint/2010/main" val="3155156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BBCAB-EC28-13ED-65A4-B8AEDA0E9F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E470FE-6241-EB7D-B7E3-CD6D4393DD70}"/>
              </a:ext>
            </a:extLst>
          </p:cNvPr>
          <p:cNvSpPr>
            <a:spLocks noGrp="1"/>
          </p:cNvSpPr>
          <p:nvPr>
            <p:ph type="title"/>
          </p:nvPr>
        </p:nvSpPr>
        <p:spPr>
          <a:xfrm>
            <a:off x="838200" y="553714"/>
            <a:ext cx="10515600" cy="648074"/>
          </a:xfrm>
        </p:spPr>
        <p:txBody>
          <a:bodyPr anchor="t">
            <a:noAutofit/>
          </a:bodyPr>
          <a:lstStyle/>
          <a:p>
            <a:r>
              <a:rPr lang="en-US" sz="3600" b="1" dirty="0">
                <a:latin typeface="Aptos Narrow" panose="020B0004020202020204" pitchFamily="34" charset="0"/>
              </a:rPr>
              <a:t>Employee Module</a:t>
            </a:r>
            <a:endParaRPr lang="en-IN" sz="4000" b="1" dirty="0">
              <a:latin typeface="Aptos Narrow" panose="020B0004020202020204" pitchFamily="34" charset="0"/>
            </a:endParaRPr>
          </a:p>
        </p:txBody>
      </p:sp>
      <p:pic>
        <p:nvPicPr>
          <p:cNvPr id="3" name="Picture 2">
            <a:extLst>
              <a:ext uri="{FF2B5EF4-FFF2-40B4-BE49-F238E27FC236}">
                <a16:creationId xmlns:a16="http://schemas.microsoft.com/office/drawing/2014/main" id="{22B1D425-0045-EA28-CA1B-B8143AE2E2F6}"/>
              </a:ext>
            </a:extLst>
          </p:cNvPr>
          <p:cNvPicPr>
            <a:picLocks noChangeAspect="1"/>
          </p:cNvPicPr>
          <p:nvPr/>
        </p:nvPicPr>
        <p:blipFill>
          <a:blip r:embed="rId3"/>
          <a:stretch>
            <a:fillRect/>
          </a:stretch>
        </p:blipFill>
        <p:spPr>
          <a:xfrm>
            <a:off x="936336" y="1368372"/>
            <a:ext cx="8263082" cy="4935914"/>
          </a:xfrm>
          <a:prstGeom prst="rect">
            <a:avLst/>
          </a:prstGeom>
        </p:spPr>
      </p:pic>
      <p:sp>
        <p:nvSpPr>
          <p:cNvPr id="16" name="TextBox 15">
            <a:extLst>
              <a:ext uri="{FF2B5EF4-FFF2-40B4-BE49-F238E27FC236}">
                <a16:creationId xmlns:a16="http://schemas.microsoft.com/office/drawing/2014/main" id="{D3FDD92A-1926-B50E-0B19-9343E0DEDB85}"/>
              </a:ext>
            </a:extLst>
          </p:cNvPr>
          <p:cNvSpPr txBox="1"/>
          <p:nvPr/>
        </p:nvSpPr>
        <p:spPr>
          <a:xfrm>
            <a:off x="9624290" y="1368372"/>
            <a:ext cx="2059710"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ptos Narrow" panose="020B0004020202020204" pitchFamily="34" charset="0"/>
              </a:rPr>
              <a:t>Employee listing</a:t>
            </a:r>
          </a:p>
          <a:p>
            <a:pPr marL="285750" indent="-285750">
              <a:buFont typeface="Arial" panose="020B0604020202020204" pitchFamily="34" charset="0"/>
              <a:buChar char="•"/>
            </a:pPr>
            <a:r>
              <a:rPr lang="en-US" sz="1600" dirty="0">
                <a:latin typeface="Aptos Narrow" panose="020B0004020202020204" pitchFamily="34" charset="0"/>
              </a:rPr>
              <a:t>Employee filter</a:t>
            </a:r>
          </a:p>
          <a:p>
            <a:pPr marL="285750" indent="-285750">
              <a:buFont typeface="Arial" panose="020B0604020202020204" pitchFamily="34" charset="0"/>
              <a:buChar char="•"/>
            </a:pPr>
            <a:r>
              <a:rPr lang="en-IN" sz="1600" dirty="0">
                <a:latin typeface="Aptos Narrow" panose="020B0004020202020204" pitchFamily="34" charset="0"/>
              </a:rPr>
              <a:t>Employee details</a:t>
            </a:r>
          </a:p>
        </p:txBody>
      </p:sp>
    </p:spTree>
    <p:extLst>
      <p:ext uri="{BB962C8B-B14F-4D97-AF65-F5344CB8AC3E}">
        <p14:creationId xmlns:p14="http://schemas.microsoft.com/office/powerpoint/2010/main" val="4234160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D1B40-AA52-CFBC-6D0C-184DF94CE2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DF77E3-B6DC-E20B-5C04-91DF76F380C7}"/>
              </a:ext>
            </a:extLst>
          </p:cNvPr>
          <p:cNvSpPr>
            <a:spLocks noGrp="1"/>
          </p:cNvSpPr>
          <p:nvPr>
            <p:ph type="title"/>
          </p:nvPr>
        </p:nvSpPr>
        <p:spPr>
          <a:xfrm>
            <a:off x="838200" y="553714"/>
            <a:ext cx="10515600" cy="648074"/>
          </a:xfrm>
        </p:spPr>
        <p:txBody>
          <a:bodyPr anchor="t">
            <a:noAutofit/>
          </a:bodyPr>
          <a:lstStyle/>
          <a:p>
            <a:r>
              <a:rPr lang="en-IN" sz="3600" b="1" dirty="0">
                <a:latin typeface="Aptos Narrow" panose="020B0004020202020204" pitchFamily="34" charset="0"/>
              </a:rPr>
              <a:t>Department Module</a:t>
            </a:r>
            <a:endParaRPr lang="en-IN" sz="4000" b="1" dirty="0">
              <a:latin typeface="Aptos Narrow" panose="020B0004020202020204" pitchFamily="34" charset="0"/>
            </a:endParaRPr>
          </a:p>
        </p:txBody>
      </p:sp>
      <p:pic>
        <p:nvPicPr>
          <p:cNvPr id="3" name="Picture 2">
            <a:extLst>
              <a:ext uri="{FF2B5EF4-FFF2-40B4-BE49-F238E27FC236}">
                <a16:creationId xmlns:a16="http://schemas.microsoft.com/office/drawing/2014/main" id="{6F683BF4-52F2-4EFA-CCE3-16DF3BE0451D}"/>
              </a:ext>
            </a:extLst>
          </p:cNvPr>
          <p:cNvPicPr>
            <a:picLocks noChangeAspect="1"/>
          </p:cNvPicPr>
          <p:nvPr/>
        </p:nvPicPr>
        <p:blipFill>
          <a:blip r:embed="rId3"/>
          <a:stretch>
            <a:fillRect/>
          </a:stretch>
        </p:blipFill>
        <p:spPr>
          <a:xfrm>
            <a:off x="838200" y="1473770"/>
            <a:ext cx="8130309" cy="4225066"/>
          </a:xfrm>
          <a:prstGeom prst="rect">
            <a:avLst/>
          </a:prstGeom>
        </p:spPr>
      </p:pic>
      <p:sp>
        <p:nvSpPr>
          <p:cNvPr id="6" name="TextBox 5">
            <a:extLst>
              <a:ext uri="{FF2B5EF4-FFF2-40B4-BE49-F238E27FC236}">
                <a16:creationId xmlns:a16="http://schemas.microsoft.com/office/drawing/2014/main" id="{2E4FC9C2-1B3D-5304-30EB-C0BA8F1929C8}"/>
              </a:ext>
            </a:extLst>
          </p:cNvPr>
          <p:cNvSpPr txBox="1"/>
          <p:nvPr/>
        </p:nvSpPr>
        <p:spPr>
          <a:xfrm>
            <a:off x="9402617" y="1473770"/>
            <a:ext cx="2456874"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ptos Narrow" panose="020B0004020202020204" pitchFamily="34" charset="0"/>
              </a:rPr>
              <a:t>Department listing</a:t>
            </a:r>
          </a:p>
          <a:p>
            <a:pPr marL="285750" indent="-285750">
              <a:buFont typeface="Arial" panose="020B0604020202020204" pitchFamily="34" charset="0"/>
              <a:buChar char="•"/>
            </a:pPr>
            <a:r>
              <a:rPr lang="en-US" sz="1600" dirty="0">
                <a:latin typeface="Aptos Narrow" panose="020B0004020202020204" pitchFamily="34" charset="0"/>
              </a:rPr>
              <a:t>Department employee mapping</a:t>
            </a:r>
          </a:p>
          <a:p>
            <a:pPr marL="285750" indent="-285750">
              <a:buFont typeface="Arial" panose="020B0604020202020204" pitchFamily="34" charset="0"/>
              <a:buChar char="•"/>
            </a:pPr>
            <a:r>
              <a:rPr lang="en-IN" sz="1600" dirty="0">
                <a:latin typeface="Aptos Narrow" panose="020B0004020202020204" pitchFamily="34" charset="0"/>
              </a:rPr>
              <a:t>Department details</a:t>
            </a:r>
          </a:p>
        </p:txBody>
      </p:sp>
    </p:spTree>
    <p:extLst>
      <p:ext uri="{BB962C8B-B14F-4D97-AF65-F5344CB8AC3E}">
        <p14:creationId xmlns:p14="http://schemas.microsoft.com/office/powerpoint/2010/main" val="412906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953F1-2BF7-A830-AF7D-2F212DF8D2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CBD27E-F83E-CD20-65F0-F242A7270FCD}"/>
              </a:ext>
            </a:extLst>
          </p:cNvPr>
          <p:cNvSpPr>
            <a:spLocks noGrp="1"/>
          </p:cNvSpPr>
          <p:nvPr>
            <p:ph type="title"/>
          </p:nvPr>
        </p:nvSpPr>
        <p:spPr>
          <a:xfrm>
            <a:off x="838200" y="553714"/>
            <a:ext cx="10515600" cy="648074"/>
          </a:xfrm>
        </p:spPr>
        <p:txBody>
          <a:bodyPr anchor="t">
            <a:noAutofit/>
          </a:bodyPr>
          <a:lstStyle/>
          <a:p>
            <a:r>
              <a:rPr lang="en-IN" sz="3600" b="1" dirty="0">
                <a:latin typeface="Aptos Narrow" panose="020B0004020202020204" pitchFamily="34" charset="0"/>
              </a:rPr>
              <a:t>Attendance Module</a:t>
            </a:r>
            <a:endParaRPr lang="en-IN" sz="4000" b="1" dirty="0">
              <a:latin typeface="Aptos Narrow" panose="020B0004020202020204" pitchFamily="34" charset="0"/>
            </a:endParaRPr>
          </a:p>
        </p:txBody>
      </p:sp>
      <p:pic>
        <p:nvPicPr>
          <p:cNvPr id="3" name="Picture 2">
            <a:extLst>
              <a:ext uri="{FF2B5EF4-FFF2-40B4-BE49-F238E27FC236}">
                <a16:creationId xmlns:a16="http://schemas.microsoft.com/office/drawing/2014/main" id="{B3853778-3DA5-28B9-82FB-CAA6ACDFE4A9}"/>
              </a:ext>
            </a:extLst>
          </p:cNvPr>
          <p:cNvPicPr>
            <a:picLocks noChangeAspect="1"/>
          </p:cNvPicPr>
          <p:nvPr/>
        </p:nvPicPr>
        <p:blipFill>
          <a:blip r:embed="rId3"/>
          <a:stretch>
            <a:fillRect/>
          </a:stretch>
        </p:blipFill>
        <p:spPr>
          <a:xfrm>
            <a:off x="838201" y="1491048"/>
            <a:ext cx="8213436" cy="4813238"/>
          </a:xfrm>
          <a:prstGeom prst="rect">
            <a:avLst/>
          </a:prstGeom>
        </p:spPr>
      </p:pic>
      <p:sp>
        <p:nvSpPr>
          <p:cNvPr id="5" name="TextBox 4">
            <a:extLst>
              <a:ext uri="{FF2B5EF4-FFF2-40B4-BE49-F238E27FC236}">
                <a16:creationId xmlns:a16="http://schemas.microsoft.com/office/drawing/2014/main" id="{9633DC4D-0D30-812B-4566-329E06B41D40}"/>
              </a:ext>
            </a:extLst>
          </p:cNvPr>
          <p:cNvSpPr txBox="1"/>
          <p:nvPr/>
        </p:nvSpPr>
        <p:spPr>
          <a:xfrm>
            <a:off x="9402617" y="1473770"/>
            <a:ext cx="2456874"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Aptos Narrow" panose="020B0004020202020204" pitchFamily="34" charset="0"/>
              </a:rPr>
              <a:t>Attendance Records</a:t>
            </a:r>
          </a:p>
          <a:p>
            <a:pPr marL="285750" indent="-285750">
              <a:buFont typeface="Arial" panose="020B0604020202020204" pitchFamily="34" charset="0"/>
              <a:buChar char="•"/>
            </a:pPr>
            <a:r>
              <a:rPr lang="en-US" sz="1600" dirty="0">
                <a:latin typeface="Aptos Narrow" panose="020B0004020202020204" pitchFamily="34" charset="0"/>
              </a:rPr>
              <a:t>Monthly</a:t>
            </a:r>
          </a:p>
          <a:p>
            <a:pPr marL="285750" indent="-285750">
              <a:buFont typeface="Arial" panose="020B0604020202020204" pitchFamily="34" charset="0"/>
              <a:buChar char="•"/>
            </a:pPr>
            <a:r>
              <a:rPr lang="en-IN" sz="1600" dirty="0">
                <a:latin typeface="Aptos Narrow" panose="020B0004020202020204" pitchFamily="34" charset="0"/>
              </a:rPr>
              <a:t>Detailed tracking</a:t>
            </a:r>
          </a:p>
        </p:txBody>
      </p:sp>
    </p:spTree>
    <p:extLst>
      <p:ext uri="{BB962C8B-B14F-4D97-AF65-F5344CB8AC3E}">
        <p14:creationId xmlns:p14="http://schemas.microsoft.com/office/powerpoint/2010/main" val="2905003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790AA-373C-CB12-2952-E6751AA1EE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F77211E-BF47-0F73-9F03-5C1DA358105D}"/>
              </a:ext>
            </a:extLst>
          </p:cNvPr>
          <p:cNvSpPr>
            <a:spLocks noGrp="1"/>
          </p:cNvSpPr>
          <p:nvPr>
            <p:ph type="title"/>
          </p:nvPr>
        </p:nvSpPr>
        <p:spPr>
          <a:xfrm>
            <a:off x="838200" y="553714"/>
            <a:ext cx="10515600" cy="648074"/>
          </a:xfrm>
        </p:spPr>
        <p:txBody>
          <a:bodyPr anchor="t">
            <a:noAutofit/>
          </a:bodyPr>
          <a:lstStyle/>
          <a:p>
            <a:r>
              <a:rPr lang="en-IN" sz="3600" b="1" dirty="0">
                <a:latin typeface="Aptos Narrow" panose="020B0004020202020204" pitchFamily="34" charset="0"/>
              </a:rPr>
              <a:t>Payroll Module</a:t>
            </a:r>
            <a:endParaRPr lang="en-IN" sz="4000" b="1" dirty="0">
              <a:latin typeface="Aptos Narrow" panose="020B0004020202020204" pitchFamily="34" charset="0"/>
            </a:endParaRPr>
          </a:p>
        </p:txBody>
      </p:sp>
      <p:pic>
        <p:nvPicPr>
          <p:cNvPr id="3" name="Picture 2">
            <a:extLst>
              <a:ext uri="{FF2B5EF4-FFF2-40B4-BE49-F238E27FC236}">
                <a16:creationId xmlns:a16="http://schemas.microsoft.com/office/drawing/2014/main" id="{5DA6E22D-5F43-ED81-87A7-00C3F2581058}"/>
              </a:ext>
            </a:extLst>
          </p:cNvPr>
          <p:cNvPicPr>
            <a:picLocks noChangeAspect="1"/>
          </p:cNvPicPr>
          <p:nvPr/>
        </p:nvPicPr>
        <p:blipFill>
          <a:blip r:embed="rId3"/>
          <a:stretch>
            <a:fillRect/>
          </a:stretch>
        </p:blipFill>
        <p:spPr>
          <a:xfrm>
            <a:off x="838200" y="1376418"/>
            <a:ext cx="7966435" cy="4927868"/>
          </a:xfrm>
          <a:prstGeom prst="rect">
            <a:avLst/>
          </a:prstGeom>
        </p:spPr>
      </p:pic>
      <p:sp>
        <p:nvSpPr>
          <p:cNvPr id="5" name="TextBox 4">
            <a:extLst>
              <a:ext uri="{FF2B5EF4-FFF2-40B4-BE49-F238E27FC236}">
                <a16:creationId xmlns:a16="http://schemas.microsoft.com/office/drawing/2014/main" id="{420F6899-96A2-3190-A6ED-C7E427A1E111}"/>
              </a:ext>
            </a:extLst>
          </p:cNvPr>
          <p:cNvSpPr txBox="1"/>
          <p:nvPr/>
        </p:nvSpPr>
        <p:spPr>
          <a:xfrm>
            <a:off x="9119813" y="1376418"/>
            <a:ext cx="2456874" cy="861774"/>
          </a:xfrm>
          <a:prstGeom prst="rect">
            <a:avLst/>
          </a:prstGeom>
          <a:noFill/>
        </p:spPr>
        <p:txBody>
          <a:bodyPr wrap="square" rtlCol="0">
            <a:spAutoFit/>
          </a:bodyPr>
          <a:lstStyle/>
          <a:p>
            <a:pPr marL="285750" indent="-285750">
              <a:buFont typeface="Arial" panose="020B0604020202020204" pitchFamily="34" charset="0"/>
              <a:buChar char="•"/>
            </a:pPr>
            <a:r>
              <a:rPr lang="en-IN" sz="1600" dirty="0"/>
              <a:t>Payroll Records</a:t>
            </a:r>
            <a:endParaRPr lang="en-US" sz="1600" dirty="0">
              <a:latin typeface="Aptos Narrow" panose="020B0004020202020204" pitchFamily="34" charset="0"/>
            </a:endParaRPr>
          </a:p>
          <a:p>
            <a:pPr marL="285750" indent="-285750">
              <a:buFont typeface="Arial" panose="020B0604020202020204" pitchFamily="34" charset="0"/>
              <a:buChar char="•"/>
            </a:pPr>
            <a:r>
              <a:rPr lang="en-IN" sz="1600" dirty="0"/>
              <a:t>Salary Summary</a:t>
            </a:r>
            <a:endParaRPr lang="en-US" sz="1600" dirty="0">
              <a:latin typeface="Aptos Narrow" panose="020B0004020202020204" pitchFamily="34" charset="0"/>
            </a:endParaRPr>
          </a:p>
          <a:p>
            <a:pPr marL="285750" indent="-285750">
              <a:buFont typeface="Arial" panose="020B0604020202020204" pitchFamily="34" charset="0"/>
              <a:buChar char="•"/>
            </a:pPr>
            <a:r>
              <a:rPr lang="en-IN" sz="1600" dirty="0"/>
              <a:t>Payroll Statistics</a:t>
            </a:r>
            <a:endParaRPr lang="en-IN" sz="1600" dirty="0">
              <a:latin typeface="Aptos Narrow" panose="020B0004020202020204" pitchFamily="34" charset="0"/>
            </a:endParaRPr>
          </a:p>
        </p:txBody>
      </p:sp>
    </p:spTree>
    <p:extLst>
      <p:ext uri="{BB962C8B-B14F-4D97-AF65-F5344CB8AC3E}">
        <p14:creationId xmlns:p14="http://schemas.microsoft.com/office/powerpoint/2010/main" val="1951630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80A22-F902-17A3-975F-5461879655D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CCC84D-D16C-57C9-A4B4-A9FDCA2C8483}"/>
              </a:ext>
            </a:extLst>
          </p:cNvPr>
          <p:cNvSpPr>
            <a:spLocks noGrp="1"/>
          </p:cNvSpPr>
          <p:nvPr>
            <p:ph type="title"/>
          </p:nvPr>
        </p:nvSpPr>
        <p:spPr>
          <a:xfrm>
            <a:off x="838200" y="553714"/>
            <a:ext cx="10515600" cy="648074"/>
          </a:xfrm>
        </p:spPr>
        <p:txBody>
          <a:bodyPr anchor="t">
            <a:noAutofit/>
          </a:bodyPr>
          <a:lstStyle/>
          <a:p>
            <a:r>
              <a:rPr lang="en-IN" sz="3600" b="1" dirty="0">
                <a:latin typeface="Aptos Narrow" panose="020B0004020202020204" pitchFamily="34" charset="0"/>
              </a:rPr>
              <a:t>Conclusion</a:t>
            </a:r>
            <a:endParaRPr lang="en-IN" sz="4000" b="1" dirty="0">
              <a:latin typeface="Aptos Narrow" panose="020B0004020202020204" pitchFamily="34" charset="0"/>
            </a:endParaRPr>
          </a:p>
        </p:txBody>
      </p:sp>
      <p:sp>
        <p:nvSpPr>
          <p:cNvPr id="2" name="TextBox 1">
            <a:extLst>
              <a:ext uri="{FF2B5EF4-FFF2-40B4-BE49-F238E27FC236}">
                <a16:creationId xmlns:a16="http://schemas.microsoft.com/office/drawing/2014/main" id="{241E9246-829C-D737-FC9E-FFBFB040B20B}"/>
              </a:ext>
            </a:extLst>
          </p:cNvPr>
          <p:cNvSpPr txBox="1"/>
          <p:nvPr/>
        </p:nvSpPr>
        <p:spPr>
          <a:xfrm>
            <a:off x="838200" y="1696825"/>
            <a:ext cx="10398551" cy="3963329"/>
          </a:xfrm>
          <a:prstGeom prst="rect">
            <a:avLst/>
          </a:prstGeom>
          <a:noFill/>
        </p:spPr>
        <p:txBody>
          <a:bodyPr wrap="square" rtlCol="0">
            <a:spAutoFit/>
          </a:bodyPr>
          <a:lstStyle/>
          <a:p>
            <a:pPr>
              <a:lnSpc>
                <a:spcPct val="200000"/>
              </a:lnSpc>
            </a:pPr>
            <a:r>
              <a:rPr lang="en-US" sz="1600" dirty="0">
                <a:latin typeface="Aptos Narrow" panose="020B0004020202020204" pitchFamily="34" charset="0"/>
              </a:rPr>
              <a:t>✅ Developed </a:t>
            </a:r>
            <a:r>
              <a:rPr lang="en-US" sz="1600" b="1" dirty="0">
                <a:latin typeface="Aptos Narrow" panose="020B0004020202020204" pitchFamily="34" charset="0"/>
              </a:rPr>
              <a:t>20+ React components</a:t>
            </a:r>
            <a:r>
              <a:rPr lang="en-US" sz="1600" dirty="0">
                <a:latin typeface="Aptos Narrow" panose="020B0004020202020204" pitchFamily="34" charset="0"/>
              </a:rPr>
              <a:t>, including </a:t>
            </a:r>
            <a:r>
              <a:rPr lang="en-US" sz="1600" b="1" dirty="0">
                <a:latin typeface="Aptos Narrow" panose="020B0004020202020204" pitchFamily="34" charset="0"/>
              </a:rPr>
              <a:t>8 reusable components</a:t>
            </a:r>
            <a:r>
              <a:rPr lang="en-US" sz="1600" dirty="0">
                <a:latin typeface="Aptos Narrow" panose="020B0004020202020204" pitchFamily="34" charset="0"/>
              </a:rPr>
              <a:t> to reduce code duplication and improve maintainability.</a:t>
            </a:r>
          </a:p>
          <a:p>
            <a:pPr>
              <a:lnSpc>
                <a:spcPct val="200000"/>
              </a:lnSpc>
            </a:pPr>
            <a:r>
              <a:rPr lang="en-US" sz="1600" dirty="0">
                <a:latin typeface="Aptos Narrow" panose="020B0004020202020204" pitchFamily="34" charset="0"/>
              </a:rPr>
              <a:t>✅ Implemented </a:t>
            </a:r>
            <a:r>
              <a:rPr lang="en-US" sz="1600" b="1" dirty="0">
                <a:latin typeface="Aptos Narrow" panose="020B0004020202020204" pitchFamily="34" charset="0"/>
              </a:rPr>
              <a:t>20+ functional components</a:t>
            </a:r>
            <a:r>
              <a:rPr lang="en-US" sz="1600" dirty="0">
                <a:latin typeface="Aptos Narrow" panose="020B0004020202020204" pitchFamily="34" charset="0"/>
              </a:rPr>
              <a:t> using modern React development practices.</a:t>
            </a:r>
          </a:p>
          <a:p>
            <a:pPr>
              <a:lnSpc>
                <a:spcPct val="200000"/>
              </a:lnSpc>
            </a:pPr>
            <a:r>
              <a:rPr lang="en-US" sz="1600" dirty="0">
                <a:latin typeface="Aptos Narrow" panose="020B0004020202020204" pitchFamily="34" charset="0"/>
              </a:rPr>
              <a:t>✅ Created </a:t>
            </a:r>
            <a:r>
              <a:rPr lang="en-US" sz="1600" b="1" dirty="0">
                <a:latin typeface="Aptos Narrow" panose="020B0004020202020204" pitchFamily="34" charset="0"/>
              </a:rPr>
              <a:t>7 custom hooks</a:t>
            </a:r>
            <a:r>
              <a:rPr lang="en-US" sz="1600" dirty="0">
                <a:latin typeface="Aptos Narrow" panose="020B0004020202020204" pitchFamily="34" charset="0"/>
              </a:rPr>
              <a:t> to separate business logic from UI and promote code reusability.</a:t>
            </a:r>
          </a:p>
          <a:p>
            <a:pPr>
              <a:lnSpc>
                <a:spcPct val="200000"/>
              </a:lnSpc>
            </a:pPr>
            <a:r>
              <a:rPr lang="en-US" sz="1600" dirty="0">
                <a:latin typeface="Aptos Narrow" panose="020B0004020202020204" pitchFamily="34" charset="0"/>
              </a:rPr>
              <a:t>✅ Applied </a:t>
            </a:r>
            <a:r>
              <a:rPr lang="en-US" sz="1600" b="1" dirty="0" err="1">
                <a:latin typeface="Aptos Narrow" panose="020B0004020202020204" pitchFamily="34" charset="0"/>
              </a:rPr>
              <a:t>PropTypes</a:t>
            </a:r>
            <a:r>
              <a:rPr lang="en-US" sz="1600" b="1" dirty="0">
                <a:latin typeface="Aptos Narrow" panose="020B0004020202020204" pitchFamily="34" charset="0"/>
              </a:rPr>
              <a:t> validation</a:t>
            </a:r>
            <a:r>
              <a:rPr lang="en-US" sz="1600" dirty="0">
                <a:latin typeface="Aptos Narrow" panose="020B0004020202020204" pitchFamily="34" charset="0"/>
              </a:rPr>
              <a:t> for improved runtime type checking and component reliability.</a:t>
            </a:r>
          </a:p>
          <a:p>
            <a:pPr>
              <a:lnSpc>
                <a:spcPct val="200000"/>
              </a:lnSpc>
            </a:pPr>
            <a:r>
              <a:rPr lang="en-US" sz="1600" dirty="0">
                <a:latin typeface="Aptos Narrow" panose="020B0004020202020204" pitchFamily="34" charset="0"/>
              </a:rPr>
              <a:t>✅ Built </a:t>
            </a:r>
            <a:r>
              <a:rPr lang="en-US" sz="1600" b="1" dirty="0">
                <a:latin typeface="Aptos Narrow" panose="020B0004020202020204" pitchFamily="34" charset="0"/>
              </a:rPr>
              <a:t>5+ pages with nested routing</a:t>
            </a:r>
            <a:r>
              <a:rPr lang="en-US" sz="1600" dirty="0">
                <a:latin typeface="Aptos Narrow" panose="020B0004020202020204" pitchFamily="34" charset="0"/>
              </a:rPr>
              <a:t> using React Router for seamless navigation.</a:t>
            </a:r>
          </a:p>
          <a:p>
            <a:pPr>
              <a:lnSpc>
                <a:spcPct val="200000"/>
              </a:lnSpc>
            </a:pPr>
            <a:r>
              <a:rPr lang="en-US" sz="1600" dirty="0">
                <a:latin typeface="Aptos Narrow" panose="020B0004020202020204" pitchFamily="34" charset="0"/>
              </a:rPr>
              <a:t>✅ Implemented </a:t>
            </a:r>
            <a:r>
              <a:rPr lang="en-US" sz="1600" b="1" dirty="0">
                <a:latin typeface="Aptos Narrow" panose="020B0004020202020204" pitchFamily="34" charset="0"/>
              </a:rPr>
              <a:t>authentication and protected routing</a:t>
            </a:r>
            <a:r>
              <a:rPr lang="en-US" sz="1600" dirty="0">
                <a:latin typeface="Aptos Narrow" panose="020B0004020202020204" pitchFamily="34" charset="0"/>
              </a:rPr>
              <a:t> using Context API and </a:t>
            </a:r>
            <a:r>
              <a:rPr lang="en-US" sz="1600" dirty="0" err="1">
                <a:latin typeface="Aptos Narrow" panose="020B0004020202020204" pitchFamily="34" charset="0"/>
              </a:rPr>
              <a:t>ProtectedRoute</a:t>
            </a:r>
            <a:r>
              <a:rPr lang="en-US" sz="1600" dirty="0">
                <a:latin typeface="Aptos Narrow" panose="020B0004020202020204" pitchFamily="34" charset="0"/>
              </a:rPr>
              <a:t>.</a:t>
            </a:r>
          </a:p>
          <a:p>
            <a:pPr>
              <a:lnSpc>
                <a:spcPct val="200000"/>
              </a:lnSpc>
            </a:pPr>
            <a:r>
              <a:rPr lang="en-US" sz="1600" dirty="0">
                <a:latin typeface="Aptos Narrow" panose="020B0004020202020204" pitchFamily="34" charset="0"/>
              </a:rPr>
              <a:t>✅ Followed a </a:t>
            </a:r>
            <a:r>
              <a:rPr lang="en-US" sz="1600" b="1" dirty="0">
                <a:latin typeface="Aptos Narrow" panose="020B0004020202020204" pitchFamily="34" charset="0"/>
              </a:rPr>
              <a:t>clean, modular, and reusable architecture</a:t>
            </a:r>
            <a:r>
              <a:rPr lang="en-US" sz="1600" dirty="0">
                <a:latin typeface="Aptos Narrow" panose="020B0004020202020204" pitchFamily="34" charset="0"/>
              </a:rPr>
              <a:t> with clear separation of concerns.</a:t>
            </a:r>
          </a:p>
        </p:txBody>
      </p:sp>
    </p:spTree>
    <p:extLst>
      <p:ext uri="{BB962C8B-B14F-4D97-AF65-F5344CB8AC3E}">
        <p14:creationId xmlns:p14="http://schemas.microsoft.com/office/powerpoint/2010/main" val="4117657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EDB6924-8E07-6C2C-7F7F-42211C5BFB4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AC94D7-9C55-4399-5A51-8B87B55CFE1F}"/>
              </a:ext>
            </a:extLst>
          </p:cNvPr>
          <p:cNvSpPr>
            <a:spLocks noGrp="1"/>
          </p:cNvSpPr>
          <p:nvPr>
            <p:ph type="title"/>
          </p:nvPr>
        </p:nvSpPr>
        <p:spPr>
          <a:xfrm>
            <a:off x="838200" y="553714"/>
            <a:ext cx="10515600" cy="648074"/>
          </a:xfrm>
        </p:spPr>
        <p:txBody>
          <a:bodyPr anchor="t">
            <a:noAutofit/>
          </a:bodyPr>
          <a:lstStyle/>
          <a:p>
            <a:r>
              <a:rPr lang="en-US" sz="3600" b="1" dirty="0"/>
              <a:t>Custom Hooks &amp; Business Logic Reusability</a:t>
            </a:r>
            <a:endParaRPr lang="en-IN" sz="4000" b="1" dirty="0"/>
          </a:p>
        </p:txBody>
      </p:sp>
      <p:sp>
        <p:nvSpPr>
          <p:cNvPr id="7" name="Rectangle 6">
            <a:extLst>
              <a:ext uri="{FF2B5EF4-FFF2-40B4-BE49-F238E27FC236}">
                <a16:creationId xmlns:a16="http://schemas.microsoft.com/office/drawing/2014/main" id="{550E51FD-4C32-E680-6F64-3146C34B1522}"/>
              </a:ext>
            </a:extLst>
          </p:cNvPr>
          <p:cNvSpPr/>
          <p:nvPr/>
        </p:nvSpPr>
        <p:spPr>
          <a:xfrm>
            <a:off x="5423647" y="1783976"/>
            <a:ext cx="1344706"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Login</a:t>
            </a:r>
            <a:endParaRPr lang="en-IN" dirty="0"/>
          </a:p>
        </p:txBody>
      </p:sp>
      <p:sp>
        <p:nvSpPr>
          <p:cNvPr id="8" name="Rectangle 7">
            <a:extLst>
              <a:ext uri="{FF2B5EF4-FFF2-40B4-BE49-F238E27FC236}">
                <a16:creationId xmlns:a16="http://schemas.microsoft.com/office/drawing/2014/main" id="{8D724D24-E2F6-50AB-EBB4-420A81DE4864}"/>
              </a:ext>
            </a:extLst>
          </p:cNvPr>
          <p:cNvSpPr/>
          <p:nvPr/>
        </p:nvSpPr>
        <p:spPr>
          <a:xfrm>
            <a:off x="5114370" y="2595540"/>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Authentication</a:t>
            </a:r>
            <a:endParaRPr lang="en-IN" dirty="0"/>
          </a:p>
        </p:txBody>
      </p:sp>
      <p:sp>
        <p:nvSpPr>
          <p:cNvPr id="10" name="Rectangle 9">
            <a:extLst>
              <a:ext uri="{FF2B5EF4-FFF2-40B4-BE49-F238E27FC236}">
                <a16:creationId xmlns:a16="http://schemas.microsoft.com/office/drawing/2014/main" id="{F4B16988-33A7-B1CA-424F-32B8FC170D1F}"/>
              </a:ext>
            </a:extLst>
          </p:cNvPr>
          <p:cNvSpPr/>
          <p:nvPr/>
        </p:nvSpPr>
        <p:spPr>
          <a:xfrm>
            <a:off x="3133161" y="33627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Valid</a:t>
            </a:r>
            <a:endParaRPr lang="en-IN" dirty="0"/>
          </a:p>
        </p:txBody>
      </p:sp>
      <p:sp>
        <p:nvSpPr>
          <p:cNvPr id="11" name="Rectangle 10">
            <a:extLst>
              <a:ext uri="{FF2B5EF4-FFF2-40B4-BE49-F238E27FC236}">
                <a16:creationId xmlns:a16="http://schemas.microsoft.com/office/drawing/2014/main" id="{44D80C45-CFA1-18BA-404E-73BD6B6FCA14}"/>
              </a:ext>
            </a:extLst>
          </p:cNvPr>
          <p:cNvSpPr/>
          <p:nvPr/>
        </p:nvSpPr>
        <p:spPr>
          <a:xfrm>
            <a:off x="7086605" y="33627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Invalid</a:t>
            </a:r>
            <a:endParaRPr lang="en-IN" dirty="0"/>
          </a:p>
        </p:txBody>
      </p:sp>
      <p:sp>
        <p:nvSpPr>
          <p:cNvPr id="12" name="Rectangle 11">
            <a:extLst>
              <a:ext uri="{FF2B5EF4-FFF2-40B4-BE49-F238E27FC236}">
                <a16:creationId xmlns:a16="http://schemas.microsoft.com/office/drawing/2014/main" id="{6AB19D64-C57C-3D3B-BD10-A9F5BE4682F3}"/>
              </a:ext>
            </a:extLst>
          </p:cNvPr>
          <p:cNvSpPr/>
          <p:nvPr/>
        </p:nvSpPr>
        <p:spPr>
          <a:xfrm>
            <a:off x="3133161" y="4272191"/>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Dashboard</a:t>
            </a:r>
            <a:endParaRPr lang="en-IN" dirty="0"/>
          </a:p>
        </p:txBody>
      </p:sp>
      <p:sp>
        <p:nvSpPr>
          <p:cNvPr id="13" name="Rectangle 12">
            <a:extLst>
              <a:ext uri="{FF2B5EF4-FFF2-40B4-BE49-F238E27FC236}">
                <a16:creationId xmlns:a16="http://schemas.microsoft.com/office/drawing/2014/main" id="{B132BE42-0D78-6CF5-5CF6-5B741F04D7D0}"/>
              </a:ext>
            </a:extLst>
          </p:cNvPr>
          <p:cNvSpPr/>
          <p:nvPr/>
        </p:nvSpPr>
        <p:spPr>
          <a:xfrm>
            <a:off x="1228166" y="50829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Employees</a:t>
            </a:r>
            <a:endParaRPr lang="en-IN" dirty="0"/>
          </a:p>
        </p:txBody>
      </p:sp>
      <p:sp>
        <p:nvSpPr>
          <p:cNvPr id="14" name="Rectangle 13">
            <a:extLst>
              <a:ext uri="{FF2B5EF4-FFF2-40B4-BE49-F238E27FC236}">
                <a16:creationId xmlns:a16="http://schemas.microsoft.com/office/drawing/2014/main" id="{32DE8A96-FA73-CABC-3751-8D4CF7C5982F}"/>
              </a:ext>
            </a:extLst>
          </p:cNvPr>
          <p:cNvSpPr/>
          <p:nvPr/>
        </p:nvSpPr>
        <p:spPr>
          <a:xfrm>
            <a:off x="3825688" y="50829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Departments</a:t>
            </a:r>
            <a:endParaRPr lang="en-IN" dirty="0"/>
          </a:p>
        </p:txBody>
      </p:sp>
      <p:sp>
        <p:nvSpPr>
          <p:cNvPr id="21" name="Rectangle 20">
            <a:extLst>
              <a:ext uri="{FF2B5EF4-FFF2-40B4-BE49-F238E27FC236}">
                <a16:creationId xmlns:a16="http://schemas.microsoft.com/office/drawing/2014/main" id="{A13A1F14-2870-9A0F-83AE-FB9582DE8DEA}"/>
              </a:ext>
            </a:extLst>
          </p:cNvPr>
          <p:cNvSpPr/>
          <p:nvPr/>
        </p:nvSpPr>
        <p:spPr>
          <a:xfrm>
            <a:off x="6423210" y="50829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Attendance</a:t>
            </a:r>
            <a:endParaRPr lang="en-IN" dirty="0"/>
          </a:p>
        </p:txBody>
      </p:sp>
      <p:sp>
        <p:nvSpPr>
          <p:cNvPr id="23" name="Rectangle 22">
            <a:extLst>
              <a:ext uri="{FF2B5EF4-FFF2-40B4-BE49-F238E27FC236}">
                <a16:creationId xmlns:a16="http://schemas.microsoft.com/office/drawing/2014/main" id="{859D5288-5AA8-AA5A-25DC-467286DFADB3}"/>
              </a:ext>
            </a:extLst>
          </p:cNvPr>
          <p:cNvSpPr/>
          <p:nvPr/>
        </p:nvSpPr>
        <p:spPr>
          <a:xfrm>
            <a:off x="9020732" y="50829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Payroll</a:t>
            </a:r>
            <a:endParaRPr lang="en-IN" dirty="0"/>
          </a:p>
        </p:txBody>
      </p:sp>
      <p:cxnSp>
        <p:nvCxnSpPr>
          <p:cNvPr id="29" name="Connector: Elbow 28">
            <a:extLst>
              <a:ext uri="{FF2B5EF4-FFF2-40B4-BE49-F238E27FC236}">
                <a16:creationId xmlns:a16="http://schemas.microsoft.com/office/drawing/2014/main" id="{5D4107E7-5705-00B0-6BC6-102603BF0974}"/>
              </a:ext>
            </a:extLst>
          </p:cNvPr>
          <p:cNvCxnSpPr>
            <a:stCxn id="8" idx="1"/>
            <a:endCxn id="10" idx="0"/>
          </p:cNvCxnSpPr>
          <p:nvPr/>
        </p:nvCxnSpPr>
        <p:spPr>
          <a:xfrm rot="10800000" flipV="1">
            <a:off x="4119280" y="2815176"/>
            <a:ext cx="995091" cy="5476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21B91E03-F703-6EC7-37A0-EC8CFF3504DE}"/>
              </a:ext>
            </a:extLst>
          </p:cNvPr>
          <p:cNvCxnSpPr>
            <a:stCxn id="8" idx="3"/>
            <a:endCxn id="11" idx="0"/>
          </p:cNvCxnSpPr>
          <p:nvPr/>
        </p:nvCxnSpPr>
        <p:spPr>
          <a:xfrm>
            <a:off x="7086605" y="2815176"/>
            <a:ext cx="986118" cy="54761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749CE2D-AE0D-525F-9BAA-C987AEFFEFE1}"/>
              </a:ext>
            </a:extLst>
          </p:cNvPr>
          <p:cNvCxnSpPr>
            <a:stCxn id="7" idx="2"/>
            <a:endCxn id="8" idx="0"/>
          </p:cNvCxnSpPr>
          <p:nvPr/>
        </p:nvCxnSpPr>
        <p:spPr>
          <a:xfrm>
            <a:off x="6096000" y="2223247"/>
            <a:ext cx="4488" cy="372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59D3615-ABBA-34E1-A8BD-05241FD77D61}"/>
              </a:ext>
            </a:extLst>
          </p:cNvPr>
          <p:cNvCxnSpPr>
            <a:stCxn id="10" idx="2"/>
            <a:endCxn id="12" idx="0"/>
          </p:cNvCxnSpPr>
          <p:nvPr/>
        </p:nvCxnSpPr>
        <p:spPr>
          <a:xfrm>
            <a:off x="4119279" y="3802059"/>
            <a:ext cx="0" cy="470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3AB10989-1A2E-7528-E741-6CCBBA8168BB}"/>
              </a:ext>
            </a:extLst>
          </p:cNvPr>
          <p:cNvCxnSpPr>
            <a:stCxn id="12" idx="1"/>
            <a:endCxn id="13" idx="0"/>
          </p:cNvCxnSpPr>
          <p:nvPr/>
        </p:nvCxnSpPr>
        <p:spPr>
          <a:xfrm rot="10800000" flipV="1">
            <a:off x="2214285" y="4491826"/>
            <a:ext cx="918877" cy="5911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88F73F8A-DFBA-D942-C21F-C5AF8AAB1CB1}"/>
              </a:ext>
            </a:extLst>
          </p:cNvPr>
          <p:cNvCxnSpPr>
            <a:stCxn id="12" idx="3"/>
            <a:endCxn id="23" idx="0"/>
          </p:cNvCxnSpPr>
          <p:nvPr/>
        </p:nvCxnSpPr>
        <p:spPr>
          <a:xfrm>
            <a:off x="5105396" y="4491827"/>
            <a:ext cx="4901454" cy="5911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336B47EC-2764-94B2-F42B-45C7F6AC492B}"/>
              </a:ext>
            </a:extLst>
          </p:cNvPr>
          <p:cNvCxnSpPr>
            <a:stCxn id="12" idx="3"/>
            <a:endCxn id="21" idx="0"/>
          </p:cNvCxnSpPr>
          <p:nvPr/>
        </p:nvCxnSpPr>
        <p:spPr>
          <a:xfrm>
            <a:off x="5105396" y="4491827"/>
            <a:ext cx="2303932" cy="5911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E6BB338B-E2DC-67F4-C998-B5C395C0BBD3}"/>
              </a:ext>
            </a:extLst>
          </p:cNvPr>
          <p:cNvCxnSpPr>
            <a:stCxn id="12" idx="2"/>
            <a:endCxn id="14" idx="0"/>
          </p:cNvCxnSpPr>
          <p:nvPr/>
        </p:nvCxnSpPr>
        <p:spPr>
          <a:xfrm rot="16200000" flipH="1">
            <a:off x="4279779" y="4550961"/>
            <a:ext cx="371527" cy="69252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1E8DBB61-4D00-C89D-EAD7-42D4FF02C7C6}"/>
              </a:ext>
            </a:extLst>
          </p:cNvPr>
          <p:cNvCxnSpPr>
            <a:stCxn id="11" idx="0"/>
            <a:endCxn id="7" idx="3"/>
          </p:cNvCxnSpPr>
          <p:nvPr/>
        </p:nvCxnSpPr>
        <p:spPr>
          <a:xfrm rot="16200000" flipV="1">
            <a:off x="6740950" y="2031016"/>
            <a:ext cx="1359177" cy="130437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0912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78AD1A2-FDD4-EDC0-CB38-9AC4FC8CBE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189288-89B9-6DDA-37FA-B748D71E2971}"/>
              </a:ext>
            </a:extLst>
          </p:cNvPr>
          <p:cNvSpPr>
            <a:spLocks noGrp="1"/>
          </p:cNvSpPr>
          <p:nvPr>
            <p:ph type="title"/>
          </p:nvPr>
        </p:nvSpPr>
        <p:spPr>
          <a:xfrm>
            <a:off x="838200" y="553714"/>
            <a:ext cx="10515600" cy="648074"/>
          </a:xfrm>
        </p:spPr>
        <p:txBody>
          <a:bodyPr anchor="t">
            <a:noAutofit/>
          </a:bodyPr>
          <a:lstStyle/>
          <a:p>
            <a:r>
              <a:rPr lang="en-US" sz="3600" b="1" dirty="0"/>
              <a:t>Custom Hooks &amp; Business Logic Reusability</a:t>
            </a:r>
            <a:endParaRPr lang="en-IN" sz="4000" b="1" dirty="0"/>
          </a:p>
        </p:txBody>
      </p:sp>
      <p:sp>
        <p:nvSpPr>
          <p:cNvPr id="7" name="Rectangle 6">
            <a:extLst>
              <a:ext uri="{FF2B5EF4-FFF2-40B4-BE49-F238E27FC236}">
                <a16:creationId xmlns:a16="http://schemas.microsoft.com/office/drawing/2014/main" id="{8E6375E5-D0E8-434C-BD43-A460E0725457}"/>
              </a:ext>
            </a:extLst>
          </p:cNvPr>
          <p:cNvSpPr/>
          <p:nvPr/>
        </p:nvSpPr>
        <p:spPr>
          <a:xfrm>
            <a:off x="5423647" y="1783976"/>
            <a:ext cx="1344706"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Login</a:t>
            </a:r>
            <a:endParaRPr lang="en-IN" dirty="0"/>
          </a:p>
        </p:txBody>
      </p:sp>
      <p:sp>
        <p:nvSpPr>
          <p:cNvPr id="8" name="Rectangle 7">
            <a:extLst>
              <a:ext uri="{FF2B5EF4-FFF2-40B4-BE49-F238E27FC236}">
                <a16:creationId xmlns:a16="http://schemas.microsoft.com/office/drawing/2014/main" id="{B5AE9AFD-277E-4DC3-C208-A8FFAAE87F4A}"/>
              </a:ext>
            </a:extLst>
          </p:cNvPr>
          <p:cNvSpPr/>
          <p:nvPr/>
        </p:nvSpPr>
        <p:spPr>
          <a:xfrm>
            <a:off x="5114370" y="2595540"/>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Authentication</a:t>
            </a:r>
            <a:endParaRPr lang="en-IN" dirty="0"/>
          </a:p>
        </p:txBody>
      </p:sp>
      <p:sp>
        <p:nvSpPr>
          <p:cNvPr id="10" name="Rectangle 9">
            <a:extLst>
              <a:ext uri="{FF2B5EF4-FFF2-40B4-BE49-F238E27FC236}">
                <a16:creationId xmlns:a16="http://schemas.microsoft.com/office/drawing/2014/main" id="{FA31EC25-B32C-4F10-FA39-9DD7BD5F6A5F}"/>
              </a:ext>
            </a:extLst>
          </p:cNvPr>
          <p:cNvSpPr/>
          <p:nvPr/>
        </p:nvSpPr>
        <p:spPr>
          <a:xfrm>
            <a:off x="3133161" y="33627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Valid</a:t>
            </a:r>
            <a:endParaRPr lang="en-IN" dirty="0"/>
          </a:p>
        </p:txBody>
      </p:sp>
      <p:sp>
        <p:nvSpPr>
          <p:cNvPr id="11" name="Rectangle 10">
            <a:extLst>
              <a:ext uri="{FF2B5EF4-FFF2-40B4-BE49-F238E27FC236}">
                <a16:creationId xmlns:a16="http://schemas.microsoft.com/office/drawing/2014/main" id="{1C890D33-E8AF-F058-CC2A-F6F8726D633B}"/>
              </a:ext>
            </a:extLst>
          </p:cNvPr>
          <p:cNvSpPr/>
          <p:nvPr/>
        </p:nvSpPr>
        <p:spPr>
          <a:xfrm>
            <a:off x="7086605" y="33627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Invalid</a:t>
            </a:r>
            <a:endParaRPr lang="en-IN" dirty="0"/>
          </a:p>
        </p:txBody>
      </p:sp>
      <p:sp>
        <p:nvSpPr>
          <p:cNvPr id="12" name="Rectangle 11">
            <a:extLst>
              <a:ext uri="{FF2B5EF4-FFF2-40B4-BE49-F238E27FC236}">
                <a16:creationId xmlns:a16="http://schemas.microsoft.com/office/drawing/2014/main" id="{BBA7F7F0-CF1C-1707-90BF-C108237FAF9C}"/>
              </a:ext>
            </a:extLst>
          </p:cNvPr>
          <p:cNvSpPr/>
          <p:nvPr/>
        </p:nvSpPr>
        <p:spPr>
          <a:xfrm>
            <a:off x="3133161" y="4272191"/>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Dashboard</a:t>
            </a:r>
            <a:endParaRPr lang="en-IN" dirty="0"/>
          </a:p>
        </p:txBody>
      </p:sp>
      <p:sp>
        <p:nvSpPr>
          <p:cNvPr id="13" name="Rectangle 12">
            <a:extLst>
              <a:ext uri="{FF2B5EF4-FFF2-40B4-BE49-F238E27FC236}">
                <a16:creationId xmlns:a16="http://schemas.microsoft.com/office/drawing/2014/main" id="{CFB034F5-ABAD-F60D-4B6D-247DE485B460}"/>
              </a:ext>
            </a:extLst>
          </p:cNvPr>
          <p:cNvSpPr/>
          <p:nvPr/>
        </p:nvSpPr>
        <p:spPr>
          <a:xfrm>
            <a:off x="1228166" y="50829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Employees</a:t>
            </a:r>
            <a:endParaRPr lang="en-IN" dirty="0"/>
          </a:p>
        </p:txBody>
      </p:sp>
      <p:sp>
        <p:nvSpPr>
          <p:cNvPr id="14" name="Rectangle 13">
            <a:extLst>
              <a:ext uri="{FF2B5EF4-FFF2-40B4-BE49-F238E27FC236}">
                <a16:creationId xmlns:a16="http://schemas.microsoft.com/office/drawing/2014/main" id="{584D8654-2B25-C0B2-38A9-0E216C233BE2}"/>
              </a:ext>
            </a:extLst>
          </p:cNvPr>
          <p:cNvSpPr/>
          <p:nvPr/>
        </p:nvSpPr>
        <p:spPr>
          <a:xfrm>
            <a:off x="3825688" y="50829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Departments</a:t>
            </a:r>
            <a:endParaRPr lang="en-IN" dirty="0"/>
          </a:p>
        </p:txBody>
      </p:sp>
      <p:sp>
        <p:nvSpPr>
          <p:cNvPr id="21" name="Rectangle 20">
            <a:extLst>
              <a:ext uri="{FF2B5EF4-FFF2-40B4-BE49-F238E27FC236}">
                <a16:creationId xmlns:a16="http://schemas.microsoft.com/office/drawing/2014/main" id="{E825F2AF-B260-E4AC-59A0-87B1CEDF4605}"/>
              </a:ext>
            </a:extLst>
          </p:cNvPr>
          <p:cNvSpPr/>
          <p:nvPr/>
        </p:nvSpPr>
        <p:spPr>
          <a:xfrm>
            <a:off x="6423210" y="50829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Attendance</a:t>
            </a:r>
            <a:endParaRPr lang="en-IN" dirty="0"/>
          </a:p>
        </p:txBody>
      </p:sp>
      <p:sp>
        <p:nvSpPr>
          <p:cNvPr id="23" name="Rectangle 22">
            <a:extLst>
              <a:ext uri="{FF2B5EF4-FFF2-40B4-BE49-F238E27FC236}">
                <a16:creationId xmlns:a16="http://schemas.microsoft.com/office/drawing/2014/main" id="{88A4482F-13BD-95B4-E1B1-6996DCF7370D}"/>
              </a:ext>
            </a:extLst>
          </p:cNvPr>
          <p:cNvSpPr/>
          <p:nvPr/>
        </p:nvSpPr>
        <p:spPr>
          <a:xfrm>
            <a:off x="9020732" y="50829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Payroll</a:t>
            </a:r>
            <a:endParaRPr lang="en-IN" dirty="0"/>
          </a:p>
        </p:txBody>
      </p:sp>
      <p:cxnSp>
        <p:nvCxnSpPr>
          <p:cNvPr id="29" name="Connector: Elbow 28">
            <a:extLst>
              <a:ext uri="{FF2B5EF4-FFF2-40B4-BE49-F238E27FC236}">
                <a16:creationId xmlns:a16="http://schemas.microsoft.com/office/drawing/2014/main" id="{0C848295-61DB-13A9-33F4-61B94D342268}"/>
              </a:ext>
            </a:extLst>
          </p:cNvPr>
          <p:cNvCxnSpPr>
            <a:stCxn id="8" idx="1"/>
            <a:endCxn id="10" idx="0"/>
          </p:cNvCxnSpPr>
          <p:nvPr/>
        </p:nvCxnSpPr>
        <p:spPr>
          <a:xfrm rot="10800000" flipV="1">
            <a:off x="4119280" y="2815176"/>
            <a:ext cx="995091" cy="5476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F4BE4102-9BCC-5A88-90F8-DC8EEAE39559}"/>
              </a:ext>
            </a:extLst>
          </p:cNvPr>
          <p:cNvCxnSpPr>
            <a:stCxn id="8" idx="3"/>
            <a:endCxn id="11" idx="0"/>
          </p:cNvCxnSpPr>
          <p:nvPr/>
        </p:nvCxnSpPr>
        <p:spPr>
          <a:xfrm>
            <a:off x="7086605" y="2815176"/>
            <a:ext cx="986118" cy="54761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EC7545A-14C3-AA54-27B9-FF7DD2A8A490}"/>
              </a:ext>
            </a:extLst>
          </p:cNvPr>
          <p:cNvCxnSpPr>
            <a:stCxn id="7" idx="2"/>
            <a:endCxn id="8" idx="0"/>
          </p:cNvCxnSpPr>
          <p:nvPr/>
        </p:nvCxnSpPr>
        <p:spPr>
          <a:xfrm>
            <a:off x="6096000" y="2223247"/>
            <a:ext cx="4488" cy="372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A5C13AA-4BC8-4EC7-429F-9789598A5C2E}"/>
              </a:ext>
            </a:extLst>
          </p:cNvPr>
          <p:cNvCxnSpPr>
            <a:stCxn id="10" idx="2"/>
            <a:endCxn id="12" idx="0"/>
          </p:cNvCxnSpPr>
          <p:nvPr/>
        </p:nvCxnSpPr>
        <p:spPr>
          <a:xfrm>
            <a:off x="4119279" y="3802059"/>
            <a:ext cx="0" cy="470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06061765-2FAF-927B-962F-7571790E6637}"/>
              </a:ext>
            </a:extLst>
          </p:cNvPr>
          <p:cNvCxnSpPr>
            <a:stCxn id="12" idx="1"/>
            <a:endCxn id="13" idx="0"/>
          </p:cNvCxnSpPr>
          <p:nvPr/>
        </p:nvCxnSpPr>
        <p:spPr>
          <a:xfrm rot="10800000" flipV="1">
            <a:off x="2214285" y="4491826"/>
            <a:ext cx="918877" cy="5911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CF454A72-E712-5680-FA49-4BD3C5B95B98}"/>
              </a:ext>
            </a:extLst>
          </p:cNvPr>
          <p:cNvCxnSpPr>
            <a:stCxn id="12" idx="3"/>
            <a:endCxn id="23" idx="0"/>
          </p:cNvCxnSpPr>
          <p:nvPr/>
        </p:nvCxnSpPr>
        <p:spPr>
          <a:xfrm>
            <a:off x="5105396" y="4491827"/>
            <a:ext cx="4901454" cy="5911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B88C9CC1-787E-FAFB-720F-79A6DB10B639}"/>
              </a:ext>
            </a:extLst>
          </p:cNvPr>
          <p:cNvCxnSpPr>
            <a:stCxn id="12" idx="3"/>
            <a:endCxn id="21" idx="0"/>
          </p:cNvCxnSpPr>
          <p:nvPr/>
        </p:nvCxnSpPr>
        <p:spPr>
          <a:xfrm>
            <a:off x="5105396" y="4491827"/>
            <a:ext cx="2303932" cy="5911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E582760A-C4CC-06D6-7F39-91A7DF508EB2}"/>
              </a:ext>
            </a:extLst>
          </p:cNvPr>
          <p:cNvCxnSpPr>
            <a:stCxn id="12" idx="2"/>
            <a:endCxn id="14" idx="0"/>
          </p:cNvCxnSpPr>
          <p:nvPr/>
        </p:nvCxnSpPr>
        <p:spPr>
          <a:xfrm rot="16200000" flipH="1">
            <a:off x="4279779" y="4550961"/>
            <a:ext cx="371527" cy="69252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EF3B961D-48ED-0325-28FA-15983BBCCD37}"/>
              </a:ext>
            </a:extLst>
          </p:cNvPr>
          <p:cNvCxnSpPr>
            <a:stCxn id="11" idx="0"/>
            <a:endCxn id="7" idx="3"/>
          </p:cNvCxnSpPr>
          <p:nvPr/>
        </p:nvCxnSpPr>
        <p:spPr>
          <a:xfrm rot="16200000" flipV="1">
            <a:off x="6740950" y="2031016"/>
            <a:ext cx="1359177" cy="130437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8455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E6470F-4B1F-9D36-ED8A-C0246E4ECF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368783F-97D9-C4A0-7CDF-AEB8AB6BED67}"/>
              </a:ext>
            </a:extLst>
          </p:cNvPr>
          <p:cNvSpPr>
            <a:spLocks noGrp="1"/>
          </p:cNvSpPr>
          <p:nvPr>
            <p:ph type="title"/>
          </p:nvPr>
        </p:nvSpPr>
        <p:spPr>
          <a:xfrm>
            <a:off x="838200" y="553714"/>
            <a:ext cx="10515600" cy="648074"/>
          </a:xfrm>
        </p:spPr>
        <p:txBody>
          <a:bodyPr anchor="t">
            <a:noAutofit/>
          </a:bodyPr>
          <a:lstStyle/>
          <a:p>
            <a:r>
              <a:rPr lang="en-US" sz="3600" b="1" dirty="0"/>
              <a:t>Custom Hooks &amp; Business Logic Reusability</a:t>
            </a:r>
            <a:endParaRPr lang="en-IN" sz="4000" b="1" dirty="0"/>
          </a:p>
        </p:txBody>
      </p:sp>
      <p:sp>
        <p:nvSpPr>
          <p:cNvPr id="7" name="Rectangle 6">
            <a:extLst>
              <a:ext uri="{FF2B5EF4-FFF2-40B4-BE49-F238E27FC236}">
                <a16:creationId xmlns:a16="http://schemas.microsoft.com/office/drawing/2014/main" id="{5C3E00AB-DF6D-E7C2-0B3D-CAF1188E11D1}"/>
              </a:ext>
            </a:extLst>
          </p:cNvPr>
          <p:cNvSpPr/>
          <p:nvPr/>
        </p:nvSpPr>
        <p:spPr>
          <a:xfrm>
            <a:off x="5423647" y="1783976"/>
            <a:ext cx="1344706"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Login</a:t>
            </a:r>
            <a:endParaRPr lang="en-IN" dirty="0"/>
          </a:p>
        </p:txBody>
      </p:sp>
      <p:sp>
        <p:nvSpPr>
          <p:cNvPr id="8" name="Rectangle 7">
            <a:extLst>
              <a:ext uri="{FF2B5EF4-FFF2-40B4-BE49-F238E27FC236}">
                <a16:creationId xmlns:a16="http://schemas.microsoft.com/office/drawing/2014/main" id="{508814FC-92C8-2165-DE87-5EA347F89E69}"/>
              </a:ext>
            </a:extLst>
          </p:cNvPr>
          <p:cNvSpPr/>
          <p:nvPr/>
        </p:nvSpPr>
        <p:spPr>
          <a:xfrm>
            <a:off x="5114370" y="2595540"/>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Authentication</a:t>
            </a:r>
            <a:endParaRPr lang="en-IN" dirty="0"/>
          </a:p>
        </p:txBody>
      </p:sp>
      <p:sp>
        <p:nvSpPr>
          <p:cNvPr id="10" name="Rectangle 9">
            <a:extLst>
              <a:ext uri="{FF2B5EF4-FFF2-40B4-BE49-F238E27FC236}">
                <a16:creationId xmlns:a16="http://schemas.microsoft.com/office/drawing/2014/main" id="{2866B92C-6454-330E-780E-9CF2BDE9713A}"/>
              </a:ext>
            </a:extLst>
          </p:cNvPr>
          <p:cNvSpPr/>
          <p:nvPr/>
        </p:nvSpPr>
        <p:spPr>
          <a:xfrm>
            <a:off x="3133161" y="33627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Valid</a:t>
            </a:r>
            <a:endParaRPr lang="en-IN" dirty="0"/>
          </a:p>
        </p:txBody>
      </p:sp>
      <p:sp>
        <p:nvSpPr>
          <p:cNvPr id="11" name="Rectangle 10">
            <a:extLst>
              <a:ext uri="{FF2B5EF4-FFF2-40B4-BE49-F238E27FC236}">
                <a16:creationId xmlns:a16="http://schemas.microsoft.com/office/drawing/2014/main" id="{C2114DB0-89E3-EF09-9219-4FF2E23DE827}"/>
              </a:ext>
            </a:extLst>
          </p:cNvPr>
          <p:cNvSpPr/>
          <p:nvPr/>
        </p:nvSpPr>
        <p:spPr>
          <a:xfrm>
            <a:off x="7086605" y="33627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Invalid</a:t>
            </a:r>
            <a:endParaRPr lang="en-IN" dirty="0"/>
          </a:p>
        </p:txBody>
      </p:sp>
      <p:sp>
        <p:nvSpPr>
          <p:cNvPr id="12" name="Rectangle 11">
            <a:extLst>
              <a:ext uri="{FF2B5EF4-FFF2-40B4-BE49-F238E27FC236}">
                <a16:creationId xmlns:a16="http://schemas.microsoft.com/office/drawing/2014/main" id="{2798031D-88B5-D759-421F-4C759C9647CD}"/>
              </a:ext>
            </a:extLst>
          </p:cNvPr>
          <p:cNvSpPr/>
          <p:nvPr/>
        </p:nvSpPr>
        <p:spPr>
          <a:xfrm>
            <a:off x="3133161" y="4272191"/>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Dashboard</a:t>
            </a:r>
            <a:endParaRPr lang="en-IN" dirty="0"/>
          </a:p>
        </p:txBody>
      </p:sp>
      <p:sp>
        <p:nvSpPr>
          <p:cNvPr id="13" name="Rectangle 12">
            <a:extLst>
              <a:ext uri="{FF2B5EF4-FFF2-40B4-BE49-F238E27FC236}">
                <a16:creationId xmlns:a16="http://schemas.microsoft.com/office/drawing/2014/main" id="{F8E68675-813F-92BB-814D-3005430C68C0}"/>
              </a:ext>
            </a:extLst>
          </p:cNvPr>
          <p:cNvSpPr/>
          <p:nvPr/>
        </p:nvSpPr>
        <p:spPr>
          <a:xfrm>
            <a:off x="1228166" y="50829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Employees</a:t>
            </a:r>
            <a:endParaRPr lang="en-IN" dirty="0"/>
          </a:p>
        </p:txBody>
      </p:sp>
      <p:sp>
        <p:nvSpPr>
          <p:cNvPr id="14" name="Rectangle 13">
            <a:extLst>
              <a:ext uri="{FF2B5EF4-FFF2-40B4-BE49-F238E27FC236}">
                <a16:creationId xmlns:a16="http://schemas.microsoft.com/office/drawing/2014/main" id="{87B891F2-11A7-CABB-8322-CA05CCE2CAA9}"/>
              </a:ext>
            </a:extLst>
          </p:cNvPr>
          <p:cNvSpPr/>
          <p:nvPr/>
        </p:nvSpPr>
        <p:spPr>
          <a:xfrm>
            <a:off x="3825688" y="50829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Departments</a:t>
            </a:r>
            <a:endParaRPr lang="en-IN" dirty="0"/>
          </a:p>
        </p:txBody>
      </p:sp>
      <p:sp>
        <p:nvSpPr>
          <p:cNvPr id="21" name="Rectangle 20">
            <a:extLst>
              <a:ext uri="{FF2B5EF4-FFF2-40B4-BE49-F238E27FC236}">
                <a16:creationId xmlns:a16="http://schemas.microsoft.com/office/drawing/2014/main" id="{B6B89CCF-97A1-71BC-B2A1-180F408644D3}"/>
              </a:ext>
            </a:extLst>
          </p:cNvPr>
          <p:cNvSpPr/>
          <p:nvPr/>
        </p:nvSpPr>
        <p:spPr>
          <a:xfrm>
            <a:off x="6423210" y="50829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Attendance</a:t>
            </a:r>
            <a:endParaRPr lang="en-IN" dirty="0"/>
          </a:p>
        </p:txBody>
      </p:sp>
      <p:sp>
        <p:nvSpPr>
          <p:cNvPr id="23" name="Rectangle 22">
            <a:extLst>
              <a:ext uri="{FF2B5EF4-FFF2-40B4-BE49-F238E27FC236}">
                <a16:creationId xmlns:a16="http://schemas.microsoft.com/office/drawing/2014/main" id="{BA74F6B7-42FA-0184-D9E8-604EA0A73AB2}"/>
              </a:ext>
            </a:extLst>
          </p:cNvPr>
          <p:cNvSpPr/>
          <p:nvPr/>
        </p:nvSpPr>
        <p:spPr>
          <a:xfrm>
            <a:off x="9020732" y="50829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Payroll</a:t>
            </a:r>
            <a:endParaRPr lang="en-IN" dirty="0"/>
          </a:p>
        </p:txBody>
      </p:sp>
      <p:cxnSp>
        <p:nvCxnSpPr>
          <p:cNvPr id="29" name="Connector: Elbow 28">
            <a:extLst>
              <a:ext uri="{FF2B5EF4-FFF2-40B4-BE49-F238E27FC236}">
                <a16:creationId xmlns:a16="http://schemas.microsoft.com/office/drawing/2014/main" id="{40801D41-4794-4640-4C7E-88D8666A07EE}"/>
              </a:ext>
            </a:extLst>
          </p:cNvPr>
          <p:cNvCxnSpPr>
            <a:stCxn id="8" idx="1"/>
            <a:endCxn id="10" idx="0"/>
          </p:cNvCxnSpPr>
          <p:nvPr/>
        </p:nvCxnSpPr>
        <p:spPr>
          <a:xfrm rot="10800000" flipV="1">
            <a:off x="4119280" y="2815176"/>
            <a:ext cx="995091" cy="5476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95648467-BEFA-9E96-6ADC-81DD24A21A9B}"/>
              </a:ext>
            </a:extLst>
          </p:cNvPr>
          <p:cNvCxnSpPr>
            <a:stCxn id="8" idx="3"/>
            <a:endCxn id="11" idx="0"/>
          </p:cNvCxnSpPr>
          <p:nvPr/>
        </p:nvCxnSpPr>
        <p:spPr>
          <a:xfrm>
            <a:off x="7086605" y="2815176"/>
            <a:ext cx="986118" cy="54761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8A04E13-B499-D8B3-F0C7-4B33A2CE2A2C}"/>
              </a:ext>
            </a:extLst>
          </p:cNvPr>
          <p:cNvCxnSpPr>
            <a:stCxn id="7" idx="2"/>
            <a:endCxn id="8" idx="0"/>
          </p:cNvCxnSpPr>
          <p:nvPr/>
        </p:nvCxnSpPr>
        <p:spPr>
          <a:xfrm>
            <a:off x="6096000" y="2223247"/>
            <a:ext cx="4488" cy="372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1CB2F14-64CC-89E9-E1DC-F793E3488992}"/>
              </a:ext>
            </a:extLst>
          </p:cNvPr>
          <p:cNvCxnSpPr>
            <a:stCxn id="10" idx="2"/>
            <a:endCxn id="12" idx="0"/>
          </p:cNvCxnSpPr>
          <p:nvPr/>
        </p:nvCxnSpPr>
        <p:spPr>
          <a:xfrm>
            <a:off x="4119279" y="3802059"/>
            <a:ext cx="0" cy="470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68EAF1B9-23BA-7352-D901-2104B76C0D50}"/>
              </a:ext>
            </a:extLst>
          </p:cNvPr>
          <p:cNvCxnSpPr>
            <a:stCxn id="12" idx="1"/>
            <a:endCxn id="13" idx="0"/>
          </p:cNvCxnSpPr>
          <p:nvPr/>
        </p:nvCxnSpPr>
        <p:spPr>
          <a:xfrm rot="10800000" flipV="1">
            <a:off x="2214285" y="4491826"/>
            <a:ext cx="918877" cy="5911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C531B609-2A6B-A260-5E35-982F1C24D122}"/>
              </a:ext>
            </a:extLst>
          </p:cNvPr>
          <p:cNvCxnSpPr>
            <a:stCxn id="12" idx="3"/>
            <a:endCxn id="23" idx="0"/>
          </p:cNvCxnSpPr>
          <p:nvPr/>
        </p:nvCxnSpPr>
        <p:spPr>
          <a:xfrm>
            <a:off x="5105396" y="4491827"/>
            <a:ext cx="4901454" cy="5911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05FE99AB-6CDC-AC96-F789-79A9C3631B94}"/>
              </a:ext>
            </a:extLst>
          </p:cNvPr>
          <p:cNvCxnSpPr>
            <a:stCxn id="12" idx="3"/>
            <a:endCxn id="21" idx="0"/>
          </p:cNvCxnSpPr>
          <p:nvPr/>
        </p:nvCxnSpPr>
        <p:spPr>
          <a:xfrm>
            <a:off x="5105396" y="4491827"/>
            <a:ext cx="2303932" cy="5911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6C933EC9-AC1E-8000-BAE9-3F8635F233B8}"/>
              </a:ext>
            </a:extLst>
          </p:cNvPr>
          <p:cNvCxnSpPr>
            <a:stCxn id="12" idx="2"/>
            <a:endCxn id="14" idx="0"/>
          </p:cNvCxnSpPr>
          <p:nvPr/>
        </p:nvCxnSpPr>
        <p:spPr>
          <a:xfrm rot="16200000" flipH="1">
            <a:off x="4279779" y="4550961"/>
            <a:ext cx="371527" cy="69252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1B908EE5-FCDF-6AA6-D813-E6A885200C26}"/>
              </a:ext>
            </a:extLst>
          </p:cNvPr>
          <p:cNvCxnSpPr>
            <a:stCxn id="11" idx="0"/>
            <a:endCxn id="7" idx="3"/>
          </p:cNvCxnSpPr>
          <p:nvPr/>
        </p:nvCxnSpPr>
        <p:spPr>
          <a:xfrm rot="16200000" flipV="1">
            <a:off x="6740950" y="2031016"/>
            <a:ext cx="1359177" cy="130437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573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4DDC5E-FBDA-D1D8-CE2F-A3415E55D3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6BC996-3BA8-0C2F-5F38-0260C9C54B0F}"/>
              </a:ext>
            </a:extLst>
          </p:cNvPr>
          <p:cNvSpPr>
            <a:spLocks noGrp="1"/>
          </p:cNvSpPr>
          <p:nvPr>
            <p:ph type="title"/>
          </p:nvPr>
        </p:nvSpPr>
        <p:spPr>
          <a:xfrm>
            <a:off x="838200" y="553714"/>
            <a:ext cx="10515600" cy="648074"/>
          </a:xfrm>
        </p:spPr>
        <p:txBody>
          <a:bodyPr anchor="t">
            <a:noAutofit/>
          </a:bodyPr>
          <a:lstStyle/>
          <a:p>
            <a:r>
              <a:rPr lang="en-US" sz="3600" b="1" dirty="0"/>
              <a:t>Custom Hooks &amp; Business Logic Reusability</a:t>
            </a:r>
            <a:endParaRPr lang="en-IN" sz="4000" b="1" dirty="0"/>
          </a:p>
        </p:txBody>
      </p:sp>
      <p:sp>
        <p:nvSpPr>
          <p:cNvPr id="7" name="Rectangle 6">
            <a:extLst>
              <a:ext uri="{FF2B5EF4-FFF2-40B4-BE49-F238E27FC236}">
                <a16:creationId xmlns:a16="http://schemas.microsoft.com/office/drawing/2014/main" id="{FF0A8E6C-014C-8EAC-1818-D61F01CABE0A}"/>
              </a:ext>
            </a:extLst>
          </p:cNvPr>
          <p:cNvSpPr/>
          <p:nvPr/>
        </p:nvSpPr>
        <p:spPr>
          <a:xfrm>
            <a:off x="5423647" y="1783976"/>
            <a:ext cx="1344706"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Login</a:t>
            </a:r>
            <a:endParaRPr lang="en-IN" dirty="0"/>
          </a:p>
        </p:txBody>
      </p:sp>
      <p:sp>
        <p:nvSpPr>
          <p:cNvPr id="8" name="Rectangle 7">
            <a:extLst>
              <a:ext uri="{FF2B5EF4-FFF2-40B4-BE49-F238E27FC236}">
                <a16:creationId xmlns:a16="http://schemas.microsoft.com/office/drawing/2014/main" id="{89ABEB9C-291B-08F4-5116-F8F007D0DDE8}"/>
              </a:ext>
            </a:extLst>
          </p:cNvPr>
          <p:cNvSpPr/>
          <p:nvPr/>
        </p:nvSpPr>
        <p:spPr>
          <a:xfrm>
            <a:off x="5114370" y="2595540"/>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Authentication</a:t>
            </a:r>
            <a:endParaRPr lang="en-IN" dirty="0"/>
          </a:p>
        </p:txBody>
      </p:sp>
      <p:sp>
        <p:nvSpPr>
          <p:cNvPr id="10" name="Rectangle 9">
            <a:extLst>
              <a:ext uri="{FF2B5EF4-FFF2-40B4-BE49-F238E27FC236}">
                <a16:creationId xmlns:a16="http://schemas.microsoft.com/office/drawing/2014/main" id="{49D65D94-CBFA-B989-D479-7810DE3F262A}"/>
              </a:ext>
            </a:extLst>
          </p:cNvPr>
          <p:cNvSpPr/>
          <p:nvPr/>
        </p:nvSpPr>
        <p:spPr>
          <a:xfrm>
            <a:off x="3133161" y="33627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Valid</a:t>
            </a:r>
            <a:endParaRPr lang="en-IN" dirty="0"/>
          </a:p>
        </p:txBody>
      </p:sp>
      <p:sp>
        <p:nvSpPr>
          <p:cNvPr id="11" name="Rectangle 10">
            <a:extLst>
              <a:ext uri="{FF2B5EF4-FFF2-40B4-BE49-F238E27FC236}">
                <a16:creationId xmlns:a16="http://schemas.microsoft.com/office/drawing/2014/main" id="{684A8290-BC79-7F3C-A531-37214A950BA2}"/>
              </a:ext>
            </a:extLst>
          </p:cNvPr>
          <p:cNvSpPr/>
          <p:nvPr/>
        </p:nvSpPr>
        <p:spPr>
          <a:xfrm>
            <a:off x="7086605" y="33627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Invalid</a:t>
            </a:r>
            <a:endParaRPr lang="en-IN" dirty="0"/>
          </a:p>
        </p:txBody>
      </p:sp>
      <p:sp>
        <p:nvSpPr>
          <p:cNvPr id="12" name="Rectangle 11">
            <a:extLst>
              <a:ext uri="{FF2B5EF4-FFF2-40B4-BE49-F238E27FC236}">
                <a16:creationId xmlns:a16="http://schemas.microsoft.com/office/drawing/2014/main" id="{460748A4-8CB3-7D9B-0E42-6FE998224F3F}"/>
              </a:ext>
            </a:extLst>
          </p:cNvPr>
          <p:cNvSpPr/>
          <p:nvPr/>
        </p:nvSpPr>
        <p:spPr>
          <a:xfrm>
            <a:off x="3133161" y="4272191"/>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Dashboard</a:t>
            </a:r>
            <a:endParaRPr lang="en-IN" dirty="0"/>
          </a:p>
        </p:txBody>
      </p:sp>
      <p:sp>
        <p:nvSpPr>
          <p:cNvPr id="13" name="Rectangle 12">
            <a:extLst>
              <a:ext uri="{FF2B5EF4-FFF2-40B4-BE49-F238E27FC236}">
                <a16:creationId xmlns:a16="http://schemas.microsoft.com/office/drawing/2014/main" id="{BC4E2FBD-7224-2129-4D45-F7B5F2679078}"/>
              </a:ext>
            </a:extLst>
          </p:cNvPr>
          <p:cNvSpPr/>
          <p:nvPr/>
        </p:nvSpPr>
        <p:spPr>
          <a:xfrm>
            <a:off x="1228166" y="50829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Employees</a:t>
            </a:r>
            <a:endParaRPr lang="en-IN" dirty="0"/>
          </a:p>
        </p:txBody>
      </p:sp>
      <p:sp>
        <p:nvSpPr>
          <p:cNvPr id="14" name="Rectangle 13">
            <a:extLst>
              <a:ext uri="{FF2B5EF4-FFF2-40B4-BE49-F238E27FC236}">
                <a16:creationId xmlns:a16="http://schemas.microsoft.com/office/drawing/2014/main" id="{F9428973-5BF8-DB66-D987-200CD28B4133}"/>
              </a:ext>
            </a:extLst>
          </p:cNvPr>
          <p:cNvSpPr/>
          <p:nvPr/>
        </p:nvSpPr>
        <p:spPr>
          <a:xfrm>
            <a:off x="3825688" y="50829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Departments</a:t>
            </a:r>
            <a:endParaRPr lang="en-IN" dirty="0"/>
          </a:p>
        </p:txBody>
      </p:sp>
      <p:sp>
        <p:nvSpPr>
          <p:cNvPr id="21" name="Rectangle 20">
            <a:extLst>
              <a:ext uri="{FF2B5EF4-FFF2-40B4-BE49-F238E27FC236}">
                <a16:creationId xmlns:a16="http://schemas.microsoft.com/office/drawing/2014/main" id="{DD3BA874-5684-FEA2-627C-30CA28396DBC}"/>
              </a:ext>
            </a:extLst>
          </p:cNvPr>
          <p:cNvSpPr/>
          <p:nvPr/>
        </p:nvSpPr>
        <p:spPr>
          <a:xfrm>
            <a:off x="6423210" y="5082989"/>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Attendance</a:t>
            </a:r>
            <a:endParaRPr lang="en-IN" dirty="0"/>
          </a:p>
        </p:txBody>
      </p:sp>
      <p:sp>
        <p:nvSpPr>
          <p:cNvPr id="23" name="Rectangle 22">
            <a:extLst>
              <a:ext uri="{FF2B5EF4-FFF2-40B4-BE49-F238E27FC236}">
                <a16:creationId xmlns:a16="http://schemas.microsoft.com/office/drawing/2014/main" id="{E411AED8-FD8D-D832-77E0-CF4BDF93AB68}"/>
              </a:ext>
            </a:extLst>
          </p:cNvPr>
          <p:cNvSpPr/>
          <p:nvPr/>
        </p:nvSpPr>
        <p:spPr>
          <a:xfrm>
            <a:off x="9020732" y="5082988"/>
            <a:ext cx="1972235" cy="4392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Payroll</a:t>
            </a:r>
            <a:endParaRPr lang="en-IN" dirty="0"/>
          </a:p>
        </p:txBody>
      </p:sp>
      <p:cxnSp>
        <p:nvCxnSpPr>
          <p:cNvPr id="29" name="Connector: Elbow 28">
            <a:extLst>
              <a:ext uri="{FF2B5EF4-FFF2-40B4-BE49-F238E27FC236}">
                <a16:creationId xmlns:a16="http://schemas.microsoft.com/office/drawing/2014/main" id="{57517E81-3750-C87A-44AA-AE2110001292}"/>
              </a:ext>
            </a:extLst>
          </p:cNvPr>
          <p:cNvCxnSpPr>
            <a:stCxn id="8" idx="1"/>
            <a:endCxn id="10" idx="0"/>
          </p:cNvCxnSpPr>
          <p:nvPr/>
        </p:nvCxnSpPr>
        <p:spPr>
          <a:xfrm rot="10800000" flipV="1">
            <a:off x="4119280" y="2815176"/>
            <a:ext cx="995091" cy="54761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44C104B7-1A43-9693-BEDA-BFDACEBA6085}"/>
              </a:ext>
            </a:extLst>
          </p:cNvPr>
          <p:cNvCxnSpPr>
            <a:stCxn id="8" idx="3"/>
            <a:endCxn id="11" idx="0"/>
          </p:cNvCxnSpPr>
          <p:nvPr/>
        </p:nvCxnSpPr>
        <p:spPr>
          <a:xfrm>
            <a:off x="7086605" y="2815176"/>
            <a:ext cx="986118" cy="54761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18C07BA-3773-F727-931F-F4FE0EB089E5}"/>
              </a:ext>
            </a:extLst>
          </p:cNvPr>
          <p:cNvCxnSpPr>
            <a:stCxn id="7" idx="2"/>
            <a:endCxn id="8" idx="0"/>
          </p:cNvCxnSpPr>
          <p:nvPr/>
        </p:nvCxnSpPr>
        <p:spPr>
          <a:xfrm>
            <a:off x="6096000" y="2223247"/>
            <a:ext cx="4488" cy="372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AE4B037-28A5-27F2-45CB-E42E9123B635}"/>
              </a:ext>
            </a:extLst>
          </p:cNvPr>
          <p:cNvCxnSpPr>
            <a:stCxn id="10" idx="2"/>
            <a:endCxn id="12" idx="0"/>
          </p:cNvCxnSpPr>
          <p:nvPr/>
        </p:nvCxnSpPr>
        <p:spPr>
          <a:xfrm>
            <a:off x="4119279" y="3802059"/>
            <a:ext cx="0" cy="470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76776B21-0BD4-F372-3069-1D537AD8F606}"/>
              </a:ext>
            </a:extLst>
          </p:cNvPr>
          <p:cNvCxnSpPr>
            <a:stCxn id="12" idx="1"/>
            <a:endCxn id="13" idx="0"/>
          </p:cNvCxnSpPr>
          <p:nvPr/>
        </p:nvCxnSpPr>
        <p:spPr>
          <a:xfrm rot="10800000" flipV="1">
            <a:off x="2214285" y="4491826"/>
            <a:ext cx="918877" cy="5911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2AF991AB-F47A-9E74-8830-52678393E1EB}"/>
              </a:ext>
            </a:extLst>
          </p:cNvPr>
          <p:cNvCxnSpPr>
            <a:stCxn id="12" idx="3"/>
            <a:endCxn id="23" idx="0"/>
          </p:cNvCxnSpPr>
          <p:nvPr/>
        </p:nvCxnSpPr>
        <p:spPr>
          <a:xfrm>
            <a:off x="5105396" y="4491827"/>
            <a:ext cx="4901454" cy="5911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AE9939AF-0F6F-45BD-EB89-88DFA69BD436}"/>
              </a:ext>
            </a:extLst>
          </p:cNvPr>
          <p:cNvCxnSpPr>
            <a:stCxn id="12" idx="3"/>
            <a:endCxn id="21" idx="0"/>
          </p:cNvCxnSpPr>
          <p:nvPr/>
        </p:nvCxnSpPr>
        <p:spPr>
          <a:xfrm>
            <a:off x="5105396" y="4491827"/>
            <a:ext cx="2303932" cy="5911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55A357F3-ADB9-7F01-8A94-21258208522F}"/>
              </a:ext>
            </a:extLst>
          </p:cNvPr>
          <p:cNvCxnSpPr>
            <a:stCxn id="12" idx="2"/>
            <a:endCxn id="14" idx="0"/>
          </p:cNvCxnSpPr>
          <p:nvPr/>
        </p:nvCxnSpPr>
        <p:spPr>
          <a:xfrm rot="16200000" flipH="1">
            <a:off x="4279779" y="4550961"/>
            <a:ext cx="371527" cy="69252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B9A2B21D-6FA1-B0B9-B905-03F47254CC59}"/>
              </a:ext>
            </a:extLst>
          </p:cNvPr>
          <p:cNvCxnSpPr>
            <a:stCxn id="11" idx="0"/>
            <a:endCxn id="7" idx="3"/>
          </p:cNvCxnSpPr>
          <p:nvPr/>
        </p:nvCxnSpPr>
        <p:spPr>
          <a:xfrm rot="16200000" flipV="1">
            <a:off x="6740950" y="2031016"/>
            <a:ext cx="1359177" cy="130437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69692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1047</TotalTime>
  <Words>7544</Words>
  <Application>Microsoft Office PowerPoint</Application>
  <PresentationFormat>Widescreen</PresentationFormat>
  <Paragraphs>2155</Paragraphs>
  <Slides>20</Slides>
  <Notes>19</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 Narrow</vt:lpstr>
      <vt:lpstr>Arial</vt:lpstr>
      <vt:lpstr>Calibri</vt:lpstr>
      <vt:lpstr>Calibri Light</vt:lpstr>
      <vt:lpstr>Office Theme</vt:lpstr>
      <vt:lpstr>Employee Management System (EMS)</vt:lpstr>
      <vt:lpstr>Project Overview</vt:lpstr>
      <vt:lpstr>Objective achievement</vt:lpstr>
      <vt:lpstr>Technology Stack</vt:lpstr>
      <vt:lpstr>Application Architecture</vt:lpstr>
      <vt:lpstr>Routing &amp; Navigation Architecture</vt:lpstr>
      <vt:lpstr>Reusable Components</vt:lpstr>
      <vt:lpstr>Custom Hooks</vt:lpstr>
      <vt:lpstr>Authentication</vt:lpstr>
      <vt:lpstr>API Integration</vt:lpstr>
      <vt:lpstr>Dashboard Module</vt:lpstr>
      <vt:lpstr>Employee Module</vt:lpstr>
      <vt:lpstr>Department Module</vt:lpstr>
      <vt:lpstr>Attendance Module</vt:lpstr>
      <vt:lpstr>Payroll Module</vt:lpstr>
      <vt:lpstr>Conclusion</vt:lpstr>
      <vt:lpstr>Custom Hooks &amp; Business Logic Reusability</vt:lpstr>
      <vt:lpstr>Custom Hooks &amp; Business Logic Reusability</vt:lpstr>
      <vt:lpstr>Custom Hooks &amp; Business Logic Reusability</vt:lpstr>
      <vt:lpstr>Custom Hooks &amp; Business Logic Reusability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Aamod Hardikar</dc:creator>
  <cp:lastModifiedBy>Aamod Hardikar</cp:lastModifiedBy>
  <cp:revision>1</cp:revision>
  <dcterms:created xsi:type="dcterms:W3CDTF">2026-07-21T12:55:21Z</dcterms:created>
  <dcterms:modified xsi:type="dcterms:W3CDTF">2026-07-22T06:22:45Z</dcterms:modified>
</cp:coreProperties>
</file>